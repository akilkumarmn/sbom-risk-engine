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0" r:id="rId1"/>
    <p:sldMasterId id="2147483688" r:id="rId2"/>
    <p:sldMasterId id="2147483676" r:id="rId3"/>
  </p:sldMasterIdLst>
  <p:notesMasterIdLst>
    <p:notesMasterId r:id="rId15"/>
  </p:notesMasterIdLst>
  <p:sldIdLst>
    <p:sldId id="289" r:id="rId4"/>
    <p:sldId id="387" r:id="rId5"/>
    <p:sldId id="404" r:id="rId6"/>
    <p:sldId id="388" r:id="rId7"/>
    <p:sldId id="364" r:id="rId8"/>
    <p:sldId id="390" r:id="rId9"/>
    <p:sldId id="389" r:id="rId10"/>
    <p:sldId id="406" r:id="rId25"/>
    <p:sldId id="407" r:id="rId26"/>
    <p:sldId id="408" r:id="rId27"/>
    <p:sldId id="409" r:id="rId28"/>
    <p:sldId id="410" r:id="rId29"/>
    <p:sldId id="411" r:id="rId30"/>
    <p:sldId id="365" r:id="rId12"/>
    <p:sldId id="412" r:id="rId31"/>
    <p:sldId id="367" r:id="rId13"/>
    <p:sldId id="259" r:id="rId14"/>
  </p:sldIdLst>
  <p:sldSz cx="12192000" cy="6858000"/>
  <p:notesSz cx="6858000" cy="9144000"/>
  <p:embeddedFontLst>
    <p:embeddedFont>
      <p:font typeface="Montserrat Bold" panose="020B0604020202020204" charset="0"/>
      <p:bold r:id="rId16"/>
    </p:embeddedFont>
    <p:embeddedFont>
      <p:font typeface="Montserrat Light" panose="00000400000000000000" pitchFamily="2" charset="0"/>
      <p:regular r:id="rId17"/>
      <p:italic r:id="rId18"/>
    </p:embeddedFont>
    <p:embeddedFont>
      <p:font typeface="Roboto Slab" pitchFamily="2" charset="0"/>
      <p:regular r:id="rId19"/>
      <p:bold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60"/>
  </p:normalViewPr>
  <p:slideViewPr>
    <p:cSldViewPr snapToGrid="0">
      <p:cViewPr varScale="1">
        <p:scale>
          <a:sx n="111" d="100"/>
          <a:sy n="111" d="100"/>
        </p:scale>
        <p:origin x="558" y="96"/>
      </p:cViewPr>
      <p:guideLst/>
    </p:cSldViewPr>
  </p:slideViewPr>
  <p:notesTextViewPr>
    <p:cViewPr>
      <p:scale>
        <a:sx n="1" d="1"/>
        <a:sy n="1" d="1"/>
      </p:scale>
      <p:origin x="0" y="0"/>
    </p:cViewPr>
  </p:notesTextViewPr>
  <p:sorterViewPr>
    <p:cViewPr>
      <p:scale>
        <a:sx n="100" d="100"/>
        <a:sy n="100" d="100"/>
      </p:scale>
      <p:origin x="0" y="-1032"/>
    </p:cViewPr>
  </p:sorter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2" Type="http://schemas.openxmlformats.org/officeDocument/2006/relationships/slide" Target="slides/slide14.xml"/><Relationship Id="rId13" Type="http://schemas.openxmlformats.org/officeDocument/2006/relationships/slide" Target="slides/slide16.xml"/><Relationship Id="rId14" Type="http://schemas.openxmlformats.org/officeDocument/2006/relationships/slide" Target="slides/slide17.xml"/><Relationship Id="rId15" Type="http://schemas.openxmlformats.org/officeDocument/2006/relationships/notesMaster" Target="notesMasters/notesMaster1.xml"/><Relationship Id="rId16" Type="http://schemas.openxmlformats.org/officeDocument/2006/relationships/font" Target="fonts/font1.fntdata"/><Relationship Id="rId17" Type="http://schemas.openxmlformats.org/officeDocument/2006/relationships/font" Target="fonts/font2.fntdata"/><Relationship Id="rId18" Type="http://schemas.openxmlformats.org/officeDocument/2006/relationships/font" Target="fonts/font3.fntdata"/><Relationship Id="rId19" Type="http://schemas.openxmlformats.org/officeDocument/2006/relationships/font" Target="fonts/font4.fntdata"/><Relationship Id="rId20" Type="http://schemas.openxmlformats.org/officeDocument/2006/relationships/font" Target="fonts/font5.fntdata"/><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25" Type="http://schemas.openxmlformats.org/officeDocument/2006/relationships/slide" Target="slides/slide8.xml"/><Relationship Id="rId26" Type="http://schemas.openxmlformats.org/officeDocument/2006/relationships/slide" Target="slides/slide9.xml"/><Relationship Id="rId27" Type="http://schemas.openxmlformats.org/officeDocument/2006/relationships/slide" Target="slides/slide10.xml"/><Relationship Id="rId28" Type="http://schemas.openxmlformats.org/officeDocument/2006/relationships/slide" Target="slides/slide11.xml"/><Relationship Id="rId29" Type="http://schemas.openxmlformats.org/officeDocument/2006/relationships/slide" Target="slides/slide12.xml"/><Relationship Id="rId30" Type="http://schemas.openxmlformats.org/officeDocument/2006/relationships/slide" Target="slides/slide13.xml"/><Relationship Id="rId31" Type="http://schemas.openxmlformats.org/officeDocument/2006/relationships/slide" Target="slides/slide1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200" b="1"/>
              <a:t>Top-10 features (mean |SHAP|)</a:t>
            </a:r>
          </a:p>
        </c:rich>
      </c:tx>
      <c:layout/>
      <c:overlay val="0"/>
    </c:title>
    <c:autoTitleDeleted val="0"/>
    <c:plotArea>
      <c:barChart>
        <c:barDir val="bar"/>
        <c:grouping val="clustered"/>
        <c:ser>
          <c:idx val="0"/>
          <c:order val="0"/>
          <c:tx>
            <c:strRef>
              <c:f>Sheet1!$B$1</c:f>
              <c:strCache>
                <c:ptCount val="1"/>
                <c:pt idx="0">
                  <c:v>importance</c:v>
                </c:pt>
              </c:strCache>
            </c:strRef>
          </c:tx>
          <c:spPr>
            <a:solidFill>
              <a:srgbClr val="1B998B"/>
            </a:solidFill>
          </c:spPr>
          <c:cat>
            <c:strRef>
              <c:f>Sheet1!$A$2:$A$11</c:f>
              <c:strCache>
                <c:ptCount val="10"/>
                <c:pt idx="0">
                  <c:v>No user interaction</c:v>
                </c:pt>
                <c:pt idx="1">
                  <c:v>CWE-79</c:v>
                </c:pt>
                <c:pt idx="2">
                  <c:v>Other CWE</c:v>
                </c:pt>
                <c:pt idx="3">
                  <c:v>Description length</c:v>
                </c:pt>
                <c:pt idx="4">
                  <c:v>Number of references</c:v>
                </c:pt>
                <c:pt idx="5">
                  <c:v>Vendor's historical KEV rate</c:v>
                </c:pt>
                <c:pt idx="6">
                  <c:v>GitHub reference</c:v>
                </c:pt>
                <c:pt idx="7">
                  <c:v>Vendor advisories</c:v>
                </c:pt>
                <c:pt idx="8">
                  <c:v>CVSS base score</c:v>
                </c:pt>
                <c:pt idx="9">
                  <c:v>Product's historical KEV rate</c:v>
                </c:pt>
              </c:strCache>
            </c:strRef>
          </c:cat>
          <c:val>
            <c:numRef>
              <c:f>Sheet1!$B$2:$B$11</c:f>
              <c:numCache>
                <c:formatCode>General</c:formatCode>
                <c:ptCount val="10"/>
                <c:pt idx="0">
                  <c:v>0.1965</c:v>
                </c:pt>
                <c:pt idx="1">
                  <c:v>0.2251</c:v>
                </c:pt>
                <c:pt idx="2">
                  <c:v>0.2401</c:v>
                </c:pt>
                <c:pt idx="3">
                  <c:v>0.2818</c:v>
                </c:pt>
                <c:pt idx="4">
                  <c:v>0.3381</c:v>
                </c:pt>
                <c:pt idx="5">
                  <c:v>0.3677</c:v>
                </c:pt>
                <c:pt idx="6">
                  <c:v>0.3782</c:v>
                </c:pt>
                <c:pt idx="7">
                  <c:v>0.4087</c:v>
                </c:pt>
                <c:pt idx="8">
                  <c:v>0.5644</c:v>
                </c:pt>
                <c:pt idx="9">
                  <c:v>0.6863</c:v>
                </c:pt>
              </c:numCache>
            </c:numRef>
          </c:val>
        </c:ser>
        <c:gapWidth val="60"/>
        <c:axId val="-2068027336"/>
        <c:axId val="-2113994440"/>
      </c:barChart>
      <c:catAx>
        <c:axId val="-2068027336"/>
        <c:scaling>
          <c:orientation val="minMax"/>
        </c:scaling>
        <c:delete val="0"/>
        <c:axPos val="l"/>
        <c:majorTickMark val="out"/>
        <c:minorTickMark val="none"/>
        <c:tickLblPos val="nextTo"/>
        <c:txPr>
          <a:bodyPr/>
          <a:lstStyle/>
          <a:p>
            <a:pPr>
              <a:defRPr sz="900"/>
            </a:pPr>
          </a:p>
        </c:txPr>
        <c:crossAx val="-2113994440"/>
        <c:crosses val="autoZero"/>
        <c:auto val="1"/>
        <c:lblAlgn val="ctr"/>
        <c:lblOffset val="100"/>
        <c:noMultiLvlLbl val="0"/>
      </c:catAx>
      <c:valAx>
        <c:axId val="-2113994440"/>
        <c:scaling/>
        <c:delete val="0"/>
        <c:axPos val="b"/>
        <c:majorTickMark val="out"/>
        <c:minorTickMark val="none"/>
        <c:tickLblPos val="nextTo"/>
        <c:txPr>
          <a:bodyPr/>
          <a:lstStyle/>
          <a:p>
            <a:pPr>
              <a:defRPr sz="900"/>
            </a:pPr>
          </a:p>
        </c:txPr>
        <c:crossAx val="-2068027336"/>
        <c:crosses val="autoZero"/>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chart>
    <c:title>
      <c:tx>
        <c:rich>
          <a:bodyPr/>
          <a:lstStyle/>
          <a:p>
            <a:r>
              <a:rPr sz="1100" b="1"/>
              <a:t>Coverage curve, frozen 2024-01-01: kev-app</a:t>
            </a:r>
          </a:p>
        </c:rich>
      </c:tx>
      <c:layout/>
      <c:overlay val="0"/>
    </c:title>
    <c:plotArea>
      <c:scatterChart>
        <c:scatterStyle val="lineMarker"/>
        <c:varyColors val="0"/>
        <c:ser>
          <c:idx val="0"/>
          <c:order val="0"/>
          <c:tx>
            <c:strRef>
              <c:f>Sheet1!$B$1</c:f>
              <c:strCache>
                <c:ptCount val="1"/>
                <c:pt idx="0">
                  <c:v>CVSS-only</c:v>
                </c:pt>
              </c:strCache>
            </c:strRef>
          </c:tx>
          <c:spPr>
            <a:ln w="19050">
              <a:solidFill>
                <a:srgbClr val="D63B40"/>
              </a:solidFill>
            </a:ln>
          </c:spPr>
          <c:marker>
            <c:symbol val="none"/>
          </c:marker>
          <c:xVal>
            <c:numRef>
              <c:f>Sheet1!$A$2:$A$27</c:f>
              <c:numCache>
                <c:formatCode>General</c:formatCode>
                <c:ptCount val="26"/>
                <c:pt idx="0">
                  <c:v>0.0</c:v>
                </c:pt>
                <c:pt idx="1">
                  <c:v>0.06</c:v>
                </c:pt>
                <c:pt idx="2">
                  <c:v>0.0667</c:v>
                </c:pt>
                <c:pt idx="3">
                  <c:v>0.0933</c:v>
                </c:pt>
                <c:pt idx="4">
                  <c:v>0.16</c:v>
                </c:pt>
                <c:pt idx="5">
                  <c:v>0.1667</c:v>
                </c:pt>
                <c:pt idx="6">
                  <c:v>0.1733</c:v>
                </c:pt>
                <c:pt idx="7">
                  <c:v>0.2067</c:v>
                </c:pt>
                <c:pt idx="8">
                  <c:v>0.2267</c:v>
                </c:pt>
                <c:pt idx="9">
                  <c:v>0.2333</c:v>
                </c:pt>
                <c:pt idx="10">
                  <c:v>0.3067</c:v>
                </c:pt>
                <c:pt idx="11">
                  <c:v>0.3133</c:v>
                </c:pt>
                <c:pt idx="12">
                  <c:v>0.3267</c:v>
                </c:pt>
                <c:pt idx="13">
                  <c:v>0.3333</c:v>
                </c:pt>
                <c:pt idx="14">
                  <c:v>0.34</c:v>
                </c:pt>
                <c:pt idx="15">
                  <c:v>0.46</c:v>
                </c:pt>
                <c:pt idx="16">
                  <c:v>0.4867</c:v>
                </c:pt>
                <c:pt idx="17">
                  <c:v>0.4933</c:v>
                </c:pt>
                <c:pt idx="18">
                  <c:v>0.5</c:v>
                </c:pt>
                <c:pt idx="19">
                  <c:v>0.7067</c:v>
                </c:pt>
                <c:pt idx="20">
                  <c:v>0.7667</c:v>
                </c:pt>
                <c:pt idx="21">
                  <c:v>0.7867</c:v>
                </c:pt>
                <c:pt idx="22">
                  <c:v>0.7933</c:v>
                </c:pt>
                <c:pt idx="23">
                  <c:v>0.8</c:v>
                </c:pt>
                <c:pt idx="24">
                  <c:v>0.9933</c:v>
                </c:pt>
                <c:pt idx="25">
                  <c:v>1.0</c:v>
                </c:pt>
              </c:numCache>
            </c:numRef>
          </c:xVal>
          <c:yVal>
            <c:numRef>
              <c:f>Sheet1!$B$2:$B$27</c:f>
              <c:numCache>
                <c:formatCode>General</c:formatCode>
                <c:ptCount val="26"/>
                <c:pt idx="0">
                  <c:v>0.0</c:v>
                </c:pt>
                <c:pt idx="1">
                  <c:v>0.5</c:v>
                </c:pt>
                <c:pt idx="2">
                  <c:v>0.5</c:v>
                </c:pt>
                <c:pt idx="3">
                  <c:v>0.5</c:v>
                </c:pt>
                <c:pt idx="4">
                  <c:v>0.5</c:v>
                </c:pt>
                <c:pt idx="5">
                  <c:v>0.5</c:v>
                </c:pt>
                <c:pt idx="6">
                  <c:v>0.5</c:v>
                </c:pt>
                <c:pt idx="7">
                  <c:v>0.5</c:v>
                </c:pt>
                <c:pt idx="8">
                  <c:v>0.5</c:v>
                </c:pt>
                <c:pt idx="9">
                  <c:v>0.5</c:v>
                </c:pt>
                <c:pt idx="10">
                  <c:v>0.75</c:v>
                </c:pt>
                <c:pt idx="11">
                  <c:v>0.75</c:v>
                </c:pt>
                <c:pt idx="12">
                  <c:v>0.75</c:v>
                </c:pt>
                <c:pt idx="13">
                  <c:v>0.75</c:v>
                </c:pt>
                <c:pt idx="14">
                  <c:v>0.75</c:v>
                </c:pt>
                <c:pt idx="15">
                  <c:v>0.75</c:v>
                </c:pt>
                <c:pt idx="16">
                  <c:v>1.0</c:v>
                </c:pt>
                <c:pt idx="17">
                  <c:v>1.0</c:v>
                </c:pt>
                <c:pt idx="18">
                  <c:v>1.0</c:v>
                </c:pt>
                <c:pt idx="19">
                  <c:v>1.0</c:v>
                </c:pt>
                <c:pt idx="20">
                  <c:v>1.0</c:v>
                </c:pt>
                <c:pt idx="21">
                  <c:v>1.0</c:v>
                </c:pt>
                <c:pt idx="22">
                  <c:v>1.0</c:v>
                </c:pt>
                <c:pt idx="23">
                  <c:v>1.0</c:v>
                </c:pt>
                <c:pt idx="24">
                  <c:v>1.0</c:v>
                </c:pt>
                <c:pt idx="25">
                  <c:v>1.0</c:v>
                </c:pt>
              </c:numCache>
            </c:numRef>
          </c:yVal>
          <c:smooth val="0"/>
        </c:ser>
        <c:ser>
          <c:idx val="1"/>
          <c:order val="1"/>
          <c:tx>
            <c:strRef>
              <c:f>Sheet1!$B$29</c:f>
              <c:strCache>
                <c:ptCount val="1"/>
                <c:pt idx="0">
                  <c:v>Formula (no ML)</c:v>
                </c:pt>
              </c:strCache>
            </c:strRef>
          </c:tx>
          <c:spPr>
            <a:ln w="19050">
              <a:solidFill>
                <a:srgbClr val="E07B24"/>
              </a:solidFill>
            </a:ln>
          </c:spPr>
          <c:marker>
            <c:symbol val="none"/>
          </c:marker>
          <c:xVal>
            <c:numRef>
              <c:f>Sheet1!$A$30:$A$107</c:f>
              <c:numCache>
                <c:formatCode>General</c:formatCode>
                <c:ptCount val="78"/>
                <c:pt idx="0">
                  <c:v>0.0</c:v>
                </c:pt>
                <c:pt idx="1">
                  <c:v>0.0067</c:v>
                </c:pt>
                <c:pt idx="2">
                  <c:v>0.0133</c:v>
                </c:pt>
                <c:pt idx="3">
                  <c:v>0.02</c:v>
                </c:pt>
                <c:pt idx="4">
                  <c:v>0.0267</c:v>
                </c:pt>
                <c:pt idx="5">
                  <c:v>0.0333</c:v>
                </c:pt>
                <c:pt idx="6">
                  <c:v>0.04</c:v>
                </c:pt>
                <c:pt idx="7">
                  <c:v>0.0467</c:v>
                </c:pt>
                <c:pt idx="8">
                  <c:v>0.0533</c:v>
                </c:pt>
                <c:pt idx="9">
                  <c:v>0.06</c:v>
                </c:pt>
                <c:pt idx="10">
                  <c:v>0.0733</c:v>
                </c:pt>
                <c:pt idx="11">
                  <c:v>0.08</c:v>
                </c:pt>
                <c:pt idx="12">
                  <c:v>0.0867</c:v>
                </c:pt>
                <c:pt idx="13">
                  <c:v>0.0933</c:v>
                </c:pt>
                <c:pt idx="14">
                  <c:v>0.1</c:v>
                </c:pt>
                <c:pt idx="15">
                  <c:v>0.1067</c:v>
                </c:pt>
                <c:pt idx="16">
                  <c:v>0.1133</c:v>
                </c:pt>
                <c:pt idx="17">
                  <c:v>0.12</c:v>
                </c:pt>
                <c:pt idx="18">
                  <c:v>0.1333</c:v>
                </c:pt>
                <c:pt idx="19">
                  <c:v>0.14</c:v>
                </c:pt>
                <c:pt idx="20">
                  <c:v>0.1467</c:v>
                </c:pt>
                <c:pt idx="21">
                  <c:v>0.1533</c:v>
                </c:pt>
                <c:pt idx="22">
                  <c:v>0.1667</c:v>
                </c:pt>
                <c:pt idx="23">
                  <c:v>0.1733</c:v>
                </c:pt>
                <c:pt idx="24">
                  <c:v>0.18</c:v>
                </c:pt>
                <c:pt idx="25">
                  <c:v>0.1933</c:v>
                </c:pt>
                <c:pt idx="26">
                  <c:v>0.2</c:v>
                </c:pt>
                <c:pt idx="27">
                  <c:v>0.2067</c:v>
                </c:pt>
                <c:pt idx="28">
                  <c:v>0.2133</c:v>
                </c:pt>
                <c:pt idx="29">
                  <c:v>0.2267</c:v>
                </c:pt>
                <c:pt idx="30">
                  <c:v>0.2333</c:v>
                </c:pt>
                <c:pt idx="31">
                  <c:v>0.24</c:v>
                </c:pt>
                <c:pt idx="32">
                  <c:v>0.2467</c:v>
                </c:pt>
                <c:pt idx="33">
                  <c:v>0.2667</c:v>
                </c:pt>
                <c:pt idx="34">
                  <c:v>0.28</c:v>
                </c:pt>
                <c:pt idx="35">
                  <c:v>0.3</c:v>
                </c:pt>
                <c:pt idx="36">
                  <c:v>0.3067</c:v>
                </c:pt>
                <c:pt idx="37">
                  <c:v>0.3133</c:v>
                </c:pt>
                <c:pt idx="38">
                  <c:v>0.32</c:v>
                </c:pt>
                <c:pt idx="39">
                  <c:v>0.3333</c:v>
                </c:pt>
                <c:pt idx="40">
                  <c:v>0.34</c:v>
                </c:pt>
                <c:pt idx="41">
                  <c:v>0.3467</c:v>
                </c:pt>
                <c:pt idx="42">
                  <c:v>0.3533</c:v>
                </c:pt>
                <c:pt idx="43">
                  <c:v>0.36</c:v>
                </c:pt>
                <c:pt idx="44">
                  <c:v>0.38</c:v>
                </c:pt>
                <c:pt idx="45">
                  <c:v>0.4</c:v>
                </c:pt>
                <c:pt idx="46">
                  <c:v>0.4133</c:v>
                </c:pt>
                <c:pt idx="47">
                  <c:v>0.4333</c:v>
                </c:pt>
                <c:pt idx="48">
                  <c:v>0.4667</c:v>
                </c:pt>
                <c:pt idx="49">
                  <c:v>0.48</c:v>
                </c:pt>
                <c:pt idx="50">
                  <c:v>0.4933</c:v>
                </c:pt>
                <c:pt idx="51">
                  <c:v>0.5133</c:v>
                </c:pt>
                <c:pt idx="52">
                  <c:v>0.54</c:v>
                </c:pt>
                <c:pt idx="53">
                  <c:v>0.6467</c:v>
                </c:pt>
                <c:pt idx="54">
                  <c:v>0.6533</c:v>
                </c:pt>
                <c:pt idx="55">
                  <c:v>0.66</c:v>
                </c:pt>
                <c:pt idx="56">
                  <c:v>0.6667</c:v>
                </c:pt>
                <c:pt idx="57">
                  <c:v>0.6733</c:v>
                </c:pt>
                <c:pt idx="58">
                  <c:v>0.68</c:v>
                </c:pt>
                <c:pt idx="59">
                  <c:v>0.6867</c:v>
                </c:pt>
                <c:pt idx="60">
                  <c:v>0.6933</c:v>
                </c:pt>
                <c:pt idx="61">
                  <c:v>0.7133</c:v>
                </c:pt>
                <c:pt idx="62">
                  <c:v>0.7267</c:v>
                </c:pt>
                <c:pt idx="63">
                  <c:v>0.7333</c:v>
                </c:pt>
                <c:pt idx="64">
                  <c:v>0.74</c:v>
                </c:pt>
                <c:pt idx="65">
                  <c:v>0.7533</c:v>
                </c:pt>
                <c:pt idx="66">
                  <c:v>0.76</c:v>
                </c:pt>
                <c:pt idx="67">
                  <c:v>0.78</c:v>
                </c:pt>
                <c:pt idx="68">
                  <c:v>0.8</c:v>
                </c:pt>
                <c:pt idx="69">
                  <c:v>0.8933</c:v>
                </c:pt>
                <c:pt idx="70">
                  <c:v>0.9267</c:v>
                </c:pt>
                <c:pt idx="71">
                  <c:v>0.9333</c:v>
                </c:pt>
                <c:pt idx="72">
                  <c:v>0.94</c:v>
                </c:pt>
                <c:pt idx="73">
                  <c:v>0.9533</c:v>
                </c:pt>
                <c:pt idx="74">
                  <c:v>0.96</c:v>
                </c:pt>
                <c:pt idx="75">
                  <c:v>0.9667</c:v>
                </c:pt>
                <c:pt idx="76">
                  <c:v>0.9933</c:v>
                </c:pt>
                <c:pt idx="77">
                  <c:v>1.0</c:v>
                </c:pt>
              </c:numCache>
            </c:numRef>
          </c:xVal>
          <c:yVal>
            <c:numRef>
              <c:f>Sheet1!$B$30:$B$107</c:f>
              <c:numCache>
                <c:formatCode>General</c:formatCode>
                <c:ptCount val="78"/>
                <c:pt idx="0">
                  <c:v>0.0</c:v>
                </c:pt>
                <c:pt idx="1">
                  <c:v>0.0</c:v>
                </c:pt>
                <c:pt idx="2">
                  <c:v>0.25</c:v>
                </c:pt>
                <c:pt idx="3">
                  <c:v>0.5</c:v>
                </c:pt>
                <c:pt idx="4">
                  <c:v>0.75</c:v>
                </c:pt>
                <c:pt idx="5">
                  <c:v>0.75</c:v>
                </c:pt>
                <c:pt idx="6">
                  <c:v>0.75</c:v>
                </c:pt>
                <c:pt idx="7">
                  <c:v>0.75</c:v>
                </c:pt>
                <c:pt idx="8">
                  <c:v>1.0</c:v>
                </c:pt>
                <c:pt idx="9">
                  <c:v>1.0</c:v>
                </c:pt>
                <c:pt idx="10">
                  <c:v>1.0</c:v>
                </c:pt>
                <c:pt idx="11">
                  <c:v>1.0</c:v>
                </c:pt>
                <c:pt idx="12">
                  <c:v>1.0</c:v>
                </c:pt>
                <c:pt idx="13">
                  <c:v>1.0</c:v>
                </c:pt>
                <c:pt idx="14">
                  <c:v>1.0</c:v>
                </c:pt>
                <c:pt idx="15">
                  <c:v>1.0</c:v>
                </c:pt>
                <c:pt idx="16">
                  <c:v>1.0</c:v>
                </c:pt>
                <c:pt idx="17">
                  <c:v>1.0</c:v>
                </c:pt>
                <c:pt idx="18">
                  <c:v>1.0</c:v>
                </c:pt>
                <c:pt idx="19">
                  <c:v>1.0</c:v>
                </c:pt>
                <c:pt idx="20">
                  <c:v>1.0</c:v>
                </c:pt>
                <c:pt idx="21">
                  <c:v>1.0</c:v>
                </c:pt>
                <c:pt idx="22">
                  <c:v>1.0</c:v>
                </c:pt>
                <c:pt idx="23">
                  <c:v>1.0</c:v>
                </c:pt>
                <c:pt idx="24">
                  <c:v>1.0</c:v>
                </c:pt>
                <c:pt idx="25">
                  <c:v>1.0</c:v>
                </c:pt>
                <c:pt idx="26">
                  <c:v>1.0</c:v>
                </c:pt>
                <c:pt idx="27">
                  <c:v>1.0</c:v>
                </c:pt>
                <c:pt idx="28">
                  <c:v>1.0</c:v>
                </c:pt>
                <c:pt idx="29">
                  <c:v>1.0</c:v>
                </c:pt>
                <c:pt idx="30">
                  <c:v>1.0</c:v>
                </c:pt>
                <c:pt idx="31">
                  <c:v>1.0</c:v>
                </c:pt>
                <c:pt idx="32">
                  <c:v>1.0</c:v>
                </c:pt>
                <c:pt idx="33">
                  <c:v>1.0</c:v>
                </c:pt>
                <c:pt idx="34">
                  <c:v>1.0</c:v>
                </c:pt>
                <c:pt idx="35">
                  <c:v>1.0</c:v>
                </c:pt>
                <c:pt idx="36">
                  <c:v>1.0</c:v>
                </c:pt>
                <c:pt idx="37">
                  <c:v>1.0</c:v>
                </c:pt>
                <c:pt idx="38">
                  <c:v>1.0</c:v>
                </c:pt>
                <c:pt idx="39">
                  <c:v>1.0</c:v>
                </c:pt>
                <c:pt idx="40">
                  <c:v>1.0</c:v>
                </c:pt>
                <c:pt idx="41">
                  <c:v>1.0</c:v>
                </c:pt>
                <c:pt idx="42">
                  <c:v>1.0</c:v>
                </c:pt>
                <c:pt idx="43">
                  <c:v>1.0</c:v>
                </c:pt>
                <c:pt idx="44">
                  <c:v>1.0</c:v>
                </c:pt>
                <c:pt idx="45">
                  <c:v>1.0</c:v>
                </c:pt>
                <c:pt idx="46">
                  <c:v>1.0</c:v>
                </c:pt>
                <c:pt idx="47">
                  <c:v>1.0</c:v>
                </c:pt>
                <c:pt idx="48">
                  <c:v>1.0</c:v>
                </c:pt>
                <c:pt idx="49">
                  <c:v>1.0</c:v>
                </c:pt>
                <c:pt idx="50">
                  <c:v>1.0</c:v>
                </c:pt>
                <c:pt idx="51">
                  <c:v>1.0</c:v>
                </c:pt>
                <c:pt idx="52">
                  <c:v>1.0</c:v>
                </c:pt>
                <c:pt idx="53">
                  <c:v>1.0</c:v>
                </c:pt>
                <c:pt idx="54">
                  <c:v>1.0</c:v>
                </c:pt>
                <c:pt idx="55">
                  <c:v>1.0</c:v>
                </c:pt>
                <c:pt idx="56">
                  <c:v>1.0</c:v>
                </c:pt>
                <c:pt idx="57">
                  <c:v>1.0</c:v>
                </c:pt>
                <c:pt idx="58">
                  <c:v>1.0</c:v>
                </c:pt>
                <c:pt idx="59">
                  <c:v>1.0</c:v>
                </c:pt>
                <c:pt idx="60">
                  <c:v>1.0</c:v>
                </c:pt>
                <c:pt idx="61">
                  <c:v>1.0</c:v>
                </c:pt>
                <c:pt idx="62">
                  <c:v>1.0</c:v>
                </c:pt>
                <c:pt idx="63">
                  <c:v>1.0</c:v>
                </c:pt>
                <c:pt idx="64">
                  <c:v>1.0</c:v>
                </c:pt>
                <c:pt idx="65">
                  <c:v>1.0</c:v>
                </c:pt>
                <c:pt idx="66">
                  <c:v>1.0</c:v>
                </c:pt>
                <c:pt idx="67">
                  <c:v>1.0</c:v>
                </c:pt>
                <c:pt idx="68">
                  <c:v>1.0</c:v>
                </c:pt>
                <c:pt idx="69">
                  <c:v>1.0</c:v>
                </c:pt>
                <c:pt idx="70">
                  <c:v>1.0</c:v>
                </c:pt>
                <c:pt idx="71">
                  <c:v>1.0</c:v>
                </c:pt>
                <c:pt idx="72">
                  <c:v>1.0</c:v>
                </c:pt>
                <c:pt idx="73">
                  <c:v>1.0</c:v>
                </c:pt>
                <c:pt idx="74">
                  <c:v>1.0</c:v>
                </c:pt>
                <c:pt idx="75">
                  <c:v>1.0</c:v>
                </c:pt>
                <c:pt idx="76">
                  <c:v>1.0</c:v>
                </c:pt>
                <c:pt idx="77">
                  <c:v>1.0</c:v>
                </c:pt>
              </c:numCache>
            </c:numRef>
          </c:yVal>
          <c:smooth val="0"/>
        </c:ser>
        <c:ser>
          <c:idx val="2"/>
          <c:order val="2"/>
          <c:tx>
            <c:strRef>
              <c:f>Sheet1!$B$109</c:f>
              <c:strCache>
                <c:ptCount val="1"/>
                <c:pt idx="0">
                  <c:v>Formula + ML</c:v>
                </c:pt>
              </c:strCache>
            </c:strRef>
          </c:tx>
          <c:spPr>
            <a:ln w="34925">
              <a:solidFill>
                <a:srgbClr val="1B998B"/>
              </a:solidFill>
            </a:ln>
          </c:spPr>
          <c:marker>
            <c:symbol val="none"/>
          </c:marker>
          <c:xVal>
            <c:numRef>
              <c:f>Sheet1!$A$110:$A$259</c:f>
              <c:numCache>
                <c:formatCode>General</c:formatCode>
                <c:ptCount val="150"/>
                <c:pt idx="0">
                  <c:v>0.0</c:v>
                </c:pt>
                <c:pt idx="1">
                  <c:v>0.0067</c:v>
                </c:pt>
                <c:pt idx="2">
                  <c:v>0.0133</c:v>
                </c:pt>
                <c:pt idx="3">
                  <c:v>0.02</c:v>
                </c:pt>
                <c:pt idx="4">
                  <c:v>0.0267</c:v>
                </c:pt>
                <c:pt idx="5">
                  <c:v>0.0333</c:v>
                </c:pt>
                <c:pt idx="6">
                  <c:v>0.04</c:v>
                </c:pt>
                <c:pt idx="7">
                  <c:v>0.0467</c:v>
                </c:pt>
                <c:pt idx="8">
                  <c:v>0.0533</c:v>
                </c:pt>
                <c:pt idx="9">
                  <c:v>0.06</c:v>
                </c:pt>
                <c:pt idx="10">
                  <c:v>0.0667</c:v>
                </c:pt>
                <c:pt idx="11">
                  <c:v>0.0733</c:v>
                </c:pt>
                <c:pt idx="12">
                  <c:v>0.08</c:v>
                </c:pt>
                <c:pt idx="13">
                  <c:v>0.0867</c:v>
                </c:pt>
                <c:pt idx="14">
                  <c:v>0.0933</c:v>
                </c:pt>
                <c:pt idx="15">
                  <c:v>0.1</c:v>
                </c:pt>
                <c:pt idx="16">
                  <c:v>0.1067</c:v>
                </c:pt>
                <c:pt idx="17">
                  <c:v>0.1133</c:v>
                </c:pt>
                <c:pt idx="18">
                  <c:v>0.12</c:v>
                </c:pt>
                <c:pt idx="19">
                  <c:v>0.1267</c:v>
                </c:pt>
                <c:pt idx="20">
                  <c:v>0.1333</c:v>
                </c:pt>
                <c:pt idx="21">
                  <c:v>0.14</c:v>
                </c:pt>
                <c:pt idx="22">
                  <c:v>0.1467</c:v>
                </c:pt>
                <c:pt idx="23">
                  <c:v>0.1533</c:v>
                </c:pt>
                <c:pt idx="24">
                  <c:v>0.16</c:v>
                </c:pt>
                <c:pt idx="25">
                  <c:v>0.1667</c:v>
                </c:pt>
                <c:pt idx="26">
                  <c:v>0.1733</c:v>
                </c:pt>
                <c:pt idx="27">
                  <c:v>0.18</c:v>
                </c:pt>
                <c:pt idx="28">
                  <c:v>0.1867</c:v>
                </c:pt>
                <c:pt idx="29">
                  <c:v>0.1933</c:v>
                </c:pt>
                <c:pt idx="30">
                  <c:v>0.2</c:v>
                </c:pt>
                <c:pt idx="31">
                  <c:v>0.2067</c:v>
                </c:pt>
                <c:pt idx="32">
                  <c:v>0.2133</c:v>
                </c:pt>
                <c:pt idx="33">
                  <c:v>0.22</c:v>
                </c:pt>
                <c:pt idx="34">
                  <c:v>0.2267</c:v>
                </c:pt>
                <c:pt idx="35">
                  <c:v>0.2333</c:v>
                </c:pt>
                <c:pt idx="36">
                  <c:v>0.24</c:v>
                </c:pt>
                <c:pt idx="37">
                  <c:v>0.2467</c:v>
                </c:pt>
                <c:pt idx="38">
                  <c:v>0.2533</c:v>
                </c:pt>
                <c:pt idx="39">
                  <c:v>0.26</c:v>
                </c:pt>
                <c:pt idx="40">
                  <c:v>0.2667</c:v>
                </c:pt>
                <c:pt idx="41">
                  <c:v>0.2733</c:v>
                </c:pt>
                <c:pt idx="42">
                  <c:v>0.28</c:v>
                </c:pt>
                <c:pt idx="43">
                  <c:v>0.2867</c:v>
                </c:pt>
                <c:pt idx="44">
                  <c:v>0.2933</c:v>
                </c:pt>
                <c:pt idx="45">
                  <c:v>0.3</c:v>
                </c:pt>
                <c:pt idx="46">
                  <c:v>0.3067</c:v>
                </c:pt>
                <c:pt idx="47">
                  <c:v>0.3133</c:v>
                </c:pt>
                <c:pt idx="48">
                  <c:v>0.32</c:v>
                </c:pt>
                <c:pt idx="49">
                  <c:v>0.3267</c:v>
                </c:pt>
                <c:pt idx="50">
                  <c:v>0.3333</c:v>
                </c:pt>
                <c:pt idx="51">
                  <c:v>0.34</c:v>
                </c:pt>
                <c:pt idx="52">
                  <c:v>0.3467</c:v>
                </c:pt>
                <c:pt idx="53">
                  <c:v>0.3533</c:v>
                </c:pt>
                <c:pt idx="54">
                  <c:v>0.36</c:v>
                </c:pt>
                <c:pt idx="55">
                  <c:v>0.3667</c:v>
                </c:pt>
                <c:pt idx="56">
                  <c:v>0.3733</c:v>
                </c:pt>
                <c:pt idx="57">
                  <c:v>0.38</c:v>
                </c:pt>
                <c:pt idx="58">
                  <c:v>0.3867</c:v>
                </c:pt>
                <c:pt idx="59">
                  <c:v>0.3933</c:v>
                </c:pt>
                <c:pt idx="60">
                  <c:v>0.4</c:v>
                </c:pt>
                <c:pt idx="61">
                  <c:v>0.4067</c:v>
                </c:pt>
                <c:pt idx="62">
                  <c:v>0.4133</c:v>
                </c:pt>
                <c:pt idx="63">
                  <c:v>0.42</c:v>
                </c:pt>
                <c:pt idx="64">
                  <c:v>0.4267</c:v>
                </c:pt>
                <c:pt idx="65">
                  <c:v>0.4333</c:v>
                </c:pt>
                <c:pt idx="66">
                  <c:v>0.44</c:v>
                </c:pt>
                <c:pt idx="67">
                  <c:v>0.4467</c:v>
                </c:pt>
                <c:pt idx="68">
                  <c:v>0.4533</c:v>
                </c:pt>
                <c:pt idx="69">
                  <c:v>0.46</c:v>
                </c:pt>
                <c:pt idx="70">
                  <c:v>0.4667</c:v>
                </c:pt>
                <c:pt idx="71">
                  <c:v>0.4733</c:v>
                </c:pt>
                <c:pt idx="72">
                  <c:v>0.48</c:v>
                </c:pt>
                <c:pt idx="73">
                  <c:v>0.4867</c:v>
                </c:pt>
                <c:pt idx="74">
                  <c:v>0.4933</c:v>
                </c:pt>
                <c:pt idx="75">
                  <c:v>0.5</c:v>
                </c:pt>
                <c:pt idx="76">
                  <c:v>0.5067</c:v>
                </c:pt>
                <c:pt idx="77">
                  <c:v>0.5133</c:v>
                </c:pt>
                <c:pt idx="78">
                  <c:v>0.52</c:v>
                </c:pt>
                <c:pt idx="79">
                  <c:v>0.5267</c:v>
                </c:pt>
                <c:pt idx="80">
                  <c:v>0.5333</c:v>
                </c:pt>
                <c:pt idx="81">
                  <c:v>0.54</c:v>
                </c:pt>
                <c:pt idx="82">
                  <c:v>0.5467</c:v>
                </c:pt>
                <c:pt idx="83">
                  <c:v>0.5533</c:v>
                </c:pt>
                <c:pt idx="84">
                  <c:v>0.56</c:v>
                </c:pt>
                <c:pt idx="85">
                  <c:v>0.5667</c:v>
                </c:pt>
                <c:pt idx="86">
                  <c:v>0.5733</c:v>
                </c:pt>
                <c:pt idx="87">
                  <c:v>0.58</c:v>
                </c:pt>
                <c:pt idx="88">
                  <c:v>0.5867</c:v>
                </c:pt>
                <c:pt idx="89">
                  <c:v>0.5933</c:v>
                </c:pt>
                <c:pt idx="90">
                  <c:v>0.6</c:v>
                </c:pt>
                <c:pt idx="91">
                  <c:v>0.6067</c:v>
                </c:pt>
                <c:pt idx="92">
                  <c:v>0.6133</c:v>
                </c:pt>
                <c:pt idx="93">
                  <c:v>0.62</c:v>
                </c:pt>
                <c:pt idx="94">
                  <c:v>0.6267</c:v>
                </c:pt>
                <c:pt idx="95">
                  <c:v>0.6333</c:v>
                </c:pt>
                <c:pt idx="96">
                  <c:v>0.64</c:v>
                </c:pt>
                <c:pt idx="97">
                  <c:v>0.6467</c:v>
                </c:pt>
                <c:pt idx="98">
                  <c:v>0.6533</c:v>
                </c:pt>
                <c:pt idx="99">
                  <c:v>0.66</c:v>
                </c:pt>
                <c:pt idx="100">
                  <c:v>0.6667</c:v>
                </c:pt>
                <c:pt idx="101">
                  <c:v>0.6733</c:v>
                </c:pt>
                <c:pt idx="102">
                  <c:v>0.68</c:v>
                </c:pt>
                <c:pt idx="103">
                  <c:v>0.6867</c:v>
                </c:pt>
                <c:pt idx="104">
                  <c:v>0.6933</c:v>
                </c:pt>
                <c:pt idx="105">
                  <c:v>0.7</c:v>
                </c:pt>
                <c:pt idx="106">
                  <c:v>0.7067</c:v>
                </c:pt>
                <c:pt idx="107">
                  <c:v>0.7133</c:v>
                </c:pt>
                <c:pt idx="108">
                  <c:v>0.72</c:v>
                </c:pt>
                <c:pt idx="109">
                  <c:v>0.7267</c:v>
                </c:pt>
                <c:pt idx="110">
                  <c:v>0.7333</c:v>
                </c:pt>
                <c:pt idx="111">
                  <c:v>0.74</c:v>
                </c:pt>
                <c:pt idx="112">
                  <c:v>0.7467</c:v>
                </c:pt>
                <c:pt idx="113">
                  <c:v>0.7533</c:v>
                </c:pt>
                <c:pt idx="114">
                  <c:v>0.76</c:v>
                </c:pt>
                <c:pt idx="115">
                  <c:v>0.7667</c:v>
                </c:pt>
                <c:pt idx="116">
                  <c:v>0.7733</c:v>
                </c:pt>
                <c:pt idx="117">
                  <c:v>0.78</c:v>
                </c:pt>
                <c:pt idx="118">
                  <c:v>0.7867</c:v>
                </c:pt>
                <c:pt idx="119">
                  <c:v>0.7933</c:v>
                </c:pt>
                <c:pt idx="120">
                  <c:v>0.8</c:v>
                </c:pt>
                <c:pt idx="121">
                  <c:v>0.8067</c:v>
                </c:pt>
                <c:pt idx="122">
                  <c:v>0.8133</c:v>
                </c:pt>
                <c:pt idx="123">
                  <c:v>0.82</c:v>
                </c:pt>
                <c:pt idx="124">
                  <c:v>0.8267</c:v>
                </c:pt>
                <c:pt idx="125">
                  <c:v>0.84</c:v>
                </c:pt>
                <c:pt idx="126">
                  <c:v>0.8467</c:v>
                </c:pt>
                <c:pt idx="127">
                  <c:v>0.8533</c:v>
                </c:pt>
                <c:pt idx="128">
                  <c:v>0.86</c:v>
                </c:pt>
                <c:pt idx="129">
                  <c:v>0.8667</c:v>
                </c:pt>
                <c:pt idx="130">
                  <c:v>0.8733</c:v>
                </c:pt>
                <c:pt idx="131">
                  <c:v>0.88</c:v>
                </c:pt>
                <c:pt idx="132">
                  <c:v>0.8867</c:v>
                </c:pt>
                <c:pt idx="133">
                  <c:v>0.8933</c:v>
                </c:pt>
                <c:pt idx="134">
                  <c:v>0.9</c:v>
                </c:pt>
                <c:pt idx="135">
                  <c:v>0.9067</c:v>
                </c:pt>
                <c:pt idx="136">
                  <c:v>0.9133</c:v>
                </c:pt>
                <c:pt idx="137">
                  <c:v>0.92</c:v>
                </c:pt>
                <c:pt idx="138">
                  <c:v>0.9267</c:v>
                </c:pt>
                <c:pt idx="139">
                  <c:v>0.9333</c:v>
                </c:pt>
                <c:pt idx="140">
                  <c:v>0.94</c:v>
                </c:pt>
                <c:pt idx="141">
                  <c:v>0.9467</c:v>
                </c:pt>
                <c:pt idx="142">
                  <c:v>0.9533</c:v>
                </c:pt>
                <c:pt idx="143">
                  <c:v>0.96</c:v>
                </c:pt>
                <c:pt idx="144">
                  <c:v>0.9667</c:v>
                </c:pt>
                <c:pt idx="145">
                  <c:v>0.9733</c:v>
                </c:pt>
                <c:pt idx="146">
                  <c:v>0.98</c:v>
                </c:pt>
                <c:pt idx="147">
                  <c:v>0.9867</c:v>
                </c:pt>
                <c:pt idx="148">
                  <c:v>0.9933</c:v>
                </c:pt>
                <c:pt idx="149">
                  <c:v>1.0</c:v>
                </c:pt>
              </c:numCache>
            </c:numRef>
          </c:xVal>
          <c:yVal>
            <c:numRef>
              <c:f>Sheet1!$B$110:$B$259</c:f>
              <c:numCache>
                <c:formatCode>General</c:formatCode>
                <c:ptCount val="150"/>
                <c:pt idx="0">
                  <c:v>0.0</c:v>
                </c:pt>
                <c:pt idx="1">
                  <c:v>0.0</c:v>
                </c:pt>
                <c:pt idx="2">
                  <c:v>0.25</c:v>
                </c:pt>
                <c:pt idx="3">
                  <c:v>0.5</c:v>
                </c:pt>
                <c:pt idx="4">
                  <c:v>0.5</c:v>
                </c:pt>
                <c:pt idx="5">
                  <c:v>0.75</c:v>
                </c:pt>
                <c:pt idx="6">
                  <c:v>0.75</c:v>
                </c:pt>
                <c:pt idx="7">
                  <c:v>0.75</c:v>
                </c:pt>
                <c:pt idx="8">
                  <c:v>0.75</c:v>
                </c:pt>
                <c:pt idx="9">
                  <c:v>0.75</c:v>
                </c:pt>
                <c:pt idx="10">
                  <c:v>0.75</c:v>
                </c:pt>
                <c:pt idx="11">
                  <c:v>0.75</c:v>
                </c:pt>
                <c:pt idx="12">
                  <c:v>0.75</c:v>
                </c:pt>
                <c:pt idx="13">
                  <c:v>0.75</c:v>
                </c:pt>
                <c:pt idx="14">
                  <c:v>0.75</c:v>
                </c:pt>
                <c:pt idx="15">
                  <c:v>1.0</c:v>
                </c:pt>
                <c:pt idx="16">
                  <c:v>1.0</c:v>
                </c:pt>
                <c:pt idx="17">
                  <c:v>1.0</c:v>
                </c:pt>
                <c:pt idx="18">
                  <c:v>1.0</c:v>
                </c:pt>
                <c:pt idx="19">
                  <c:v>1.0</c:v>
                </c:pt>
                <c:pt idx="20">
                  <c:v>1.0</c:v>
                </c:pt>
                <c:pt idx="21">
                  <c:v>1.0</c:v>
                </c:pt>
                <c:pt idx="22">
                  <c:v>1.0</c:v>
                </c:pt>
                <c:pt idx="23">
                  <c:v>1.0</c:v>
                </c:pt>
                <c:pt idx="24">
                  <c:v>1.0</c:v>
                </c:pt>
                <c:pt idx="25">
                  <c:v>1.0</c:v>
                </c:pt>
                <c:pt idx="26">
                  <c:v>1.0</c:v>
                </c:pt>
                <c:pt idx="27">
                  <c:v>1.0</c:v>
                </c:pt>
                <c:pt idx="28">
                  <c:v>1.0</c:v>
                </c:pt>
                <c:pt idx="29">
                  <c:v>1.0</c:v>
                </c:pt>
                <c:pt idx="30">
                  <c:v>1.0</c:v>
                </c:pt>
                <c:pt idx="31">
                  <c:v>1.0</c:v>
                </c:pt>
                <c:pt idx="32">
                  <c:v>1.0</c:v>
                </c:pt>
                <c:pt idx="33">
                  <c:v>1.0</c:v>
                </c:pt>
                <c:pt idx="34">
                  <c:v>1.0</c:v>
                </c:pt>
                <c:pt idx="35">
                  <c:v>1.0</c:v>
                </c:pt>
                <c:pt idx="36">
                  <c:v>1.0</c:v>
                </c:pt>
                <c:pt idx="37">
                  <c:v>1.0</c:v>
                </c:pt>
                <c:pt idx="38">
                  <c:v>1.0</c:v>
                </c:pt>
                <c:pt idx="39">
                  <c:v>1.0</c:v>
                </c:pt>
                <c:pt idx="40">
                  <c:v>1.0</c:v>
                </c:pt>
                <c:pt idx="41">
                  <c:v>1.0</c:v>
                </c:pt>
                <c:pt idx="42">
                  <c:v>1.0</c:v>
                </c:pt>
                <c:pt idx="43">
                  <c:v>1.0</c:v>
                </c:pt>
                <c:pt idx="44">
                  <c:v>1.0</c:v>
                </c:pt>
                <c:pt idx="45">
                  <c:v>1.0</c:v>
                </c:pt>
                <c:pt idx="46">
                  <c:v>1.0</c:v>
                </c:pt>
                <c:pt idx="47">
                  <c:v>1.0</c:v>
                </c:pt>
                <c:pt idx="48">
                  <c:v>1.0</c:v>
                </c:pt>
                <c:pt idx="49">
                  <c:v>1.0</c:v>
                </c:pt>
                <c:pt idx="50">
                  <c:v>1.0</c:v>
                </c:pt>
                <c:pt idx="51">
                  <c:v>1.0</c:v>
                </c:pt>
                <c:pt idx="52">
                  <c:v>1.0</c:v>
                </c:pt>
                <c:pt idx="53">
                  <c:v>1.0</c:v>
                </c:pt>
                <c:pt idx="54">
                  <c:v>1.0</c:v>
                </c:pt>
                <c:pt idx="55">
                  <c:v>1.0</c:v>
                </c:pt>
                <c:pt idx="56">
                  <c:v>1.0</c:v>
                </c:pt>
                <c:pt idx="57">
                  <c:v>1.0</c:v>
                </c:pt>
                <c:pt idx="58">
                  <c:v>1.0</c:v>
                </c:pt>
                <c:pt idx="59">
                  <c:v>1.0</c:v>
                </c:pt>
                <c:pt idx="60">
                  <c:v>1.0</c:v>
                </c:pt>
                <c:pt idx="61">
                  <c:v>1.0</c:v>
                </c:pt>
                <c:pt idx="62">
                  <c:v>1.0</c:v>
                </c:pt>
                <c:pt idx="63">
                  <c:v>1.0</c:v>
                </c:pt>
                <c:pt idx="64">
                  <c:v>1.0</c:v>
                </c:pt>
                <c:pt idx="65">
                  <c:v>1.0</c:v>
                </c:pt>
                <c:pt idx="66">
                  <c:v>1.0</c:v>
                </c:pt>
                <c:pt idx="67">
                  <c:v>1.0</c:v>
                </c:pt>
                <c:pt idx="68">
                  <c:v>1.0</c:v>
                </c:pt>
                <c:pt idx="69">
                  <c:v>1.0</c:v>
                </c:pt>
                <c:pt idx="70">
                  <c:v>1.0</c:v>
                </c:pt>
                <c:pt idx="71">
                  <c:v>1.0</c:v>
                </c:pt>
                <c:pt idx="72">
                  <c:v>1.0</c:v>
                </c:pt>
                <c:pt idx="73">
                  <c:v>1.0</c:v>
                </c:pt>
                <c:pt idx="74">
                  <c:v>1.0</c:v>
                </c:pt>
                <c:pt idx="75">
                  <c:v>1.0</c:v>
                </c:pt>
                <c:pt idx="76">
                  <c:v>1.0</c:v>
                </c:pt>
                <c:pt idx="77">
                  <c:v>1.0</c:v>
                </c:pt>
                <c:pt idx="78">
                  <c:v>1.0</c:v>
                </c:pt>
                <c:pt idx="79">
                  <c:v>1.0</c:v>
                </c:pt>
                <c:pt idx="80">
                  <c:v>1.0</c:v>
                </c:pt>
                <c:pt idx="81">
                  <c:v>1.0</c:v>
                </c:pt>
                <c:pt idx="82">
                  <c:v>1.0</c:v>
                </c:pt>
                <c:pt idx="83">
                  <c:v>1.0</c:v>
                </c:pt>
                <c:pt idx="84">
                  <c:v>1.0</c:v>
                </c:pt>
                <c:pt idx="85">
                  <c:v>1.0</c:v>
                </c:pt>
                <c:pt idx="86">
                  <c:v>1.0</c:v>
                </c:pt>
                <c:pt idx="87">
                  <c:v>1.0</c:v>
                </c:pt>
                <c:pt idx="88">
                  <c:v>1.0</c:v>
                </c:pt>
                <c:pt idx="89">
                  <c:v>1.0</c:v>
                </c:pt>
                <c:pt idx="90">
                  <c:v>1.0</c:v>
                </c:pt>
                <c:pt idx="91">
                  <c:v>1.0</c:v>
                </c:pt>
                <c:pt idx="92">
                  <c:v>1.0</c:v>
                </c:pt>
                <c:pt idx="93">
                  <c:v>1.0</c:v>
                </c:pt>
                <c:pt idx="94">
                  <c:v>1.0</c:v>
                </c:pt>
                <c:pt idx="95">
                  <c:v>1.0</c:v>
                </c:pt>
                <c:pt idx="96">
                  <c:v>1.0</c:v>
                </c:pt>
                <c:pt idx="97">
                  <c:v>1.0</c:v>
                </c:pt>
                <c:pt idx="98">
                  <c:v>1.0</c:v>
                </c:pt>
                <c:pt idx="99">
                  <c:v>1.0</c:v>
                </c:pt>
                <c:pt idx="100">
                  <c:v>1.0</c:v>
                </c:pt>
                <c:pt idx="101">
                  <c:v>1.0</c:v>
                </c:pt>
                <c:pt idx="102">
                  <c:v>1.0</c:v>
                </c:pt>
                <c:pt idx="103">
                  <c:v>1.0</c:v>
                </c:pt>
                <c:pt idx="104">
                  <c:v>1.0</c:v>
                </c:pt>
                <c:pt idx="105">
                  <c:v>1.0</c:v>
                </c:pt>
                <c:pt idx="106">
                  <c:v>1.0</c:v>
                </c:pt>
                <c:pt idx="107">
                  <c:v>1.0</c:v>
                </c:pt>
                <c:pt idx="108">
                  <c:v>1.0</c:v>
                </c:pt>
                <c:pt idx="109">
                  <c:v>1.0</c:v>
                </c:pt>
                <c:pt idx="110">
                  <c:v>1.0</c:v>
                </c:pt>
                <c:pt idx="111">
                  <c:v>1.0</c:v>
                </c:pt>
                <c:pt idx="112">
                  <c:v>1.0</c:v>
                </c:pt>
                <c:pt idx="113">
                  <c:v>1.0</c:v>
                </c:pt>
                <c:pt idx="114">
                  <c:v>1.0</c:v>
                </c:pt>
                <c:pt idx="115">
                  <c:v>1.0</c:v>
                </c:pt>
                <c:pt idx="116">
                  <c:v>1.0</c:v>
                </c:pt>
                <c:pt idx="117">
                  <c:v>1.0</c:v>
                </c:pt>
                <c:pt idx="118">
                  <c:v>1.0</c:v>
                </c:pt>
                <c:pt idx="119">
                  <c:v>1.0</c:v>
                </c:pt>
                <c:pt idx="120">
                  <c:v>1.0</c:v>
                </c:pt>
                <c:pt idx="121">
                  <c:v>1.0</c:v>
                </c:pt>
                <c:pt idx="122">
                  <c:v>1.0</c:v>
                </c:pt>
                <c:pt idx="123">
                  <c:v>1.0</c:v>
                </c:pt>
                <c:pt idx="124">
                  <c:v>1.0</c:v>
                </c:pt>
                <c:pt idx="125">
                  <c:v>1.0</c:v>
                </c:pt>
                <c:pt idx="126">
                  <c:v>1.0</c:v>
                </c:pt>
                <c:pt idx="127">
                  <c:v>1.0</c:v>
                </c:pt>
                <c:pt idx="128">
                  <c:v>1.0</c:v>
                </c:pt>
                <c:pt idx="129">
                  <c:v>1.0</c:v>
                </c:pt>
                <c:pt idx="130">
                  <c:v>1.0</c:v>
                </c:pt>
                <c:pt idx="131">
                  <c:v>1.0</c:v>
                </c:pt>
                <c:pt idx="132">
                  <c:v>1.0</c:v>
                </c:pt>
                <c:pt idx="133">
                  <c:v>1.0</c:v>
                </c:pt>
                <c:pt idx="134">
                  <c:v>1.0</c:v>
                </c:pt>
                <c:pt idx="135">
                  <c:v>1.0</c:v>
                </c:pt>
                <c:pt idx="136">
                  <c:v>1.0</c:v>
                </c:pt>
                <c:pt idx="137">
                  <c:v>1.0</c:v>
                </c:pt>
                <c:pt idx="138">
                  <c:v>1.0</c:v>
                </c:pt>
                <c:pt idx="139">
                  <c:v>1.0</c:v>
                </c:pt>
                <c:pt idx="140">
                  <c:v>1.0</c:v>
                </c:pt>
                <c:pt idx="141">
                  <c:v>1.0</c:v>
                </c:pt>
                <c:pt idx="142">
                  <c:v>1.0</c:v>
                </c:pt>
                <c:pt idx="143">
                  <c:v>1.0</c:v>
                </c:pt>
                <c:pt idx="144">
                  <c:v>1.0</c:v>
                </c:pt>
                <c:pt idx="145">
                  <c:v>1.0</c:v>
                </c:pt>
                <c:pt idx="146">
                  <c:v>1.0</c:v>
                </c:pt>
                <c:pt idx="147">
                  <c:v>1.0</c:v>
                </c:pt>
                <c:pt idx="148">
                  <c:v>1.0</c:v>
                </c:pt>
                <c:pt idx="149">
                  <c:v>1.0</c:v>
                </c:pt>
              </c:numCache>
            </c:numRef>
          </c:yVal>
          <c:smooth val="0"/>
        </c:ser>
        <c:ser>
          <c:idx val="3"/>
          <c:order val="3"/>
          <c:tx>
            <c:strRef>
              <c:f>Sheet1!$B$261</c:f>
              <c:strCache>
                <c:ptCount val="1"/>
                <c:pt idx="0">
                  <c:v>EPSS-only</c:v>
                </c:pt>
              </c:strCache>
            </c:strRef>
          </c:tx>
          <c:spPr>
            <a:ln w="19050">
              <a:solidFill>
                <a:srgbClr val="6A5ACD"/>
              </a:solidFill>
            </a:ln>
          </c:spPr>
          <c:marker>
            <c:symbol val="none"/>
          </c:marker>
          <c:xVal>
            <c:numRef>
              <c:f>Sheet1!$A$262:$A$343</c:f>
              <c:numCache>
                <c:formatCode>General</c:formatCode>
                <c:ptCount val="82"/>
                <c:pt idx="0">
                  <c:v>0.0</c:v>
                </c:pt>
                <c:pt idx="1">
                  <c:v>0.0067</c:v>
                </c:pt>
                <c:pt idx="2">
                  <c:v>0.0133</c:v>
                </c:pt>
                <c:pt idx="3">
                  <c:v>0.02</c:v>
                </c:pt>
                <c:pt idx="4">
                  <c:v>0.0267</c:v>
                </c:pt>
                <c:pt idx="5">
                  <c:v>0.0333</c:v>
                </c:pt>
                <c:pt idx="6">
                  <c:v>0.04</c:v>
                </c:pt>
                <c:pt idx="7">
                  <c:v>0.0467</c:v>
                </c:pt>
                <c:pt idx="8">
                  <c:v>0.0533</c:v>
                </c:pt>
                <c:pt idx="9">
                  <c:v>0.06</c:v>
                </c:pt>
                <c:pt idx="10">
                  <c:v>0.0667</c:v>
                </c:pt>
                <c:pt idx="11">
                  <c:v>0.0733</c:v>
                </c:pt>
                <c:pt idx="12">
                  <c:v>0.08</c:v>
                </c:pt>
                <c:pt idx="13">
                  <c:v>0.0867</c:v>
                </c:pt>
                <c:pt idx="14">
                  <c:v>0.0933</c:v>
                </c:pt>
                <c:pt idx="15">
                  <c:v>0.1</c:v>
                </c:pt>
                <c:pt idx="16">
                  <c:v>0.1067</c:v>
                </c:pt>
                <c:pt idx="17">
                  <c:v>0.1133</c:v>
                </c:pt>
                <c:pt idx="18">
                  <c:v>0.12</c:v>
                </c:pt>
                <c:pt idx="19">
                  <c:v>0.1333</c:v>
                </c:pt>
                <c:pt idx="20">
                  <c:v>0.14</c:v>
                </c:pt>
                <c:pt idx="21">
                  <c:v>0.1467</c:v>
                </c:pt>
                <c:pt idx="22">
                  <c:v>0.1533</c:v>
                </c:pt>
                <c:pt idx="23">
                  <c:v>0.16</c:v>
                </c:pt>
                <c:pt idx="24">
                  <c:v>0.1667</c:v>
                </c:pt>
                <c:pt idx="25">
                  <c:v>0.1733</c:v>
                </c:pt>
                <c:pt idx="26">
                  <c:v>0.1867</c:v>
                </c:pt>
                <c:pt idx="27">
                  <c:v>0.2</c:v>
                </c:pt>
                <c:pt idx="28">
                  <c:v>0.2067</c:v>
                </c:pt>
                <c:pt idx="29">
                  <c:v>0.2133</c:v>
                </c:pt>
                <c:pt idx="30">
                  <c:v>0.22</c:v>
                </c:pt>
                <c:pt idx="31">
                  <c:v>0.2267</c:v>
                </c:pt>
                <c:pt idx="32">
                  <c:v>0.24</c:v>
                </c:pt>
                <c:pt idx="33">
                  <c:v>0.2467</c:v>
                </c:pt>
                <c:pt idx="34">
                  <c:v>0.2533</c:v>
                </c:pt>
                <c:pt idx="35">
                  <c:v>0.26</c:v>
                </c:pt>
                <c:pt idx="36">
                  <c:v>0.2733</c:v>
                </c:pt>
                <c:pt idx="37">
                  <c:v>0.2867</c:v>
                </c:pt>
                <c:pt idx="38">
                  <c:v>0.2933</c:v>
                </c:pt>
                <c:pt idx="39">
                  <c:v>0.3</c:v>
                </c:pt>
                <c:pt idx="40">
                  <c:v>0.3133</c:v>
                </c:pt>
                <c:pt idx="41">
                  <c:v>0.32</c:v>
                </c:pt>
                <c:pt idx="42">
                  <c:v>0.3267</c:v>
                </c:pt>
                <c:pt idx="43">
                  <c:v>0.34</c:v>
                </c:pt>
                <c:pt idx="44">
                  <c:v>0.3467</c:v>
                </c:pt>
                <c:pt idx="45">
                  <c:v>0.3533</c:v>
                </c:pt>
                <c:pt idx="46">
                  <c:v>0.36</c:v>
                </c:pt>
                <c:pt idx="47">
                  <c:v>0.3733</c:v>
                </c:pt>
                <c:pt idx="48">
                  <c:v>0.38</c:v>
                </c:pt>
                <c:pt idx="49">
                  <c:v>0.3867</c:v>
                </c:pt>
                <c:pt idx="50">
                  <c:v>0.3933</c:v>
                </c:pt>
                <c:pt idx="51">
                  <c:v>0.4067</c:v>
                </c:pt>
                <c:pt idx="52">
                  <c:v>0.4133</c:v>
                </c:pt>
                <c:pt idx="53">
                  <c:v>0.42</c:v>
                </c:pt>
                <c:pt idx="54">
                  <c:v>0.4267</c:v>
                </c:pt>
                <c:pt idx="55">
                  <c:v>0.44</c:v>
                </c:pt>
                <c:pt idx="56">
                  <c:v>0.46</c:v>
                </c:pt>
                <c:pt idx="57">
                  <c:v>0.48</c:v>
                </c:pt>
                <c:pt idx="58">
                  <c:v>0.4933</c:v>
                </c:pt>
                <c:pt idx="59">
                  <c:v>0.5067</c:v>
                </c:pt>
                <c:pt idx="60">
                  <c:v>0.5133</c:v>
                </c:pt>
                <c:pt idx="61">
                  <c:v>0.5333</c:v>
                </c:pt>
                <c:pt idx="62">
                  <c:v>0.54</c:v>
                </c:pt>
                <c:pt idx="63">
                  <c:v>0.5467</c:v>
                </c:pt>
                <c:pt idx="64">
                  <c:v>0.56</c:v>
                </c:pt>
                <c:pt idx="65">
                  <c:v>0.5667</c:v>
                </c:pt>
                <c:pt idx="66">
                  <c:v>0.5733</c:v>
                </c:pt>
                <c:pt idx="67">
                  <c:v>0.58</c:v>
                </c:pt>
                <c:pt idx="68">
                  <c:v>0.5867</c:v>
                </c:pt>
                <c:pt idx="69">
                  <c:v>0.6</c:v>
                </c:pt>
                <c:pt idx="70">
                  <c:v>0.62</c:v>
                </c:pt>
                <c:pt idx="71">
                  <c:v>0.6733</c:v>
                </c:pt>
                <c:pt idx="72">
                  <c:v>0.68</c:v>
                </c:pt>
                <c:pt idx="73">
                  <c:v>0.6867</c:v>
                </c:pt>
                <c:pt idx="74">
                  <c:v>0.8933</c:v>
                </c:pt>
                <c:pt idx="75">
                  <c:v>0.9</c:v>
                </c:pt>
                <c:pt idx="76">
                  <c:v>0.92</c:v>
                </c:pt>
                <c:pt idx="77">
                  <c:v>0.94</c:v>
                </c:pt>
                <c:pt idx="78">
                  <c:v>0.9467</c:v>
                </c:pt>
                <c:pt idx="79">
                  <c:v>0.9867</c:v>
                </c:pt>
                <c:pt idx="80">
                  <c:v>0.9933</c:v>
                </c:pt>
                <c:pt idx="81">
                  <c:v>1.0</c:v>
                </c:pt>
              </c:numCache>
            </c:numRef>
          </c:xVal>
          <c:yVal>
            <c:numRef>
              <c:f>Sheet1!$B$262:$B$343</c:f>
              <c:numCache>
                <c:formatCode>General</c:formatCode>
                <c:ptCount val="82"/>
                <c:pt idx="0">
                  <c:v>0.0</c:v>
                </c:pt>
                <c:pt idx="1">
                  <c:v>0.25</c:v>
                </c:pt>
                <c:pt idx="2">
                  <c:v>0.5</c:v>
                </c:pt>
                <c:pt idx="3">
                  <c:v>0.5</c:v>
                </c:pt>
                <c:pt idx="4">
                  <c:v>0.75</c:v>
                </c:pt>
                <c:pt idx="5">
                  <c:v>0.75</c:v>
                </c:pt>
                <c:pt idx="6">
                  <c:v>0.75</c:v>
                </c:pt>
                <c:pt idx="7">
                  <c:v>0.75</c:v>
                </c:pt>
                <c:pt idx="8">
                  <c:v>0.75</c:v>
                </c:pt>
                <c:pt idx="9">
                  <c:v>0.75</c:v>
                </c:pt>
                <c:pt idx="10">
                  <c:v>0.75</c:v>
                </c:pt>
                <c:pt idx="11">
                  <c:v>0.75</c:v>
                </c:pt>
                <c:pt idx="12">
                  <c:v>0.75</c:v>
                </c:pt>
                <c:pt idx="13">
                  <c:v>1.0</c:v>
                </c:pt>
                <c:pt idx="14">
                  <c:v>1.0</c:v>
                </c:pt>
                <c:pt idx="15">
                  <c:v>1.0</c:v>
                </c:pt>
                <c:pt idx="16">
                  <c:v>1.0</c:v>
                </c:pt>
                <c:pt idx="17">
                  <c:v>1.0</c:v>
                </c:pt>
                <c:pt idx="18">
                  <c:v>1.0</c:v>
                </c:pt>
                <c:pt idx="19">
                  <c:v>1.0</c:v>
                </c:pt>
                <c:pt idx="20">
                  <c:v>1.0</c:v>
                </c:pt>
                <c:pt idx="21">
                  <c:v>1.0</c:v>
                </c:pt>
                <c:pt idx="22">
                  <c:v>1.0</c:v>
                </c:pt>
                <c:pt idx="23">
                  <c:v>1.0</c:v>
                </c:pt>
                <c:pt idx="24">
                  <c:v>1.0</c:v>
                </c:pt>
                <c:pt idx="25">
                  <c:v>1.0</c:v>
                </c:pt>
                <c:pt idx="26">
                  <c:v>1.0</c:v>
                </c:pt>
                <c:pt idx="27">
                  <c:v>1.0</c:v>
                </c:pt>
                <c:pt idx="28">
                  <c:v>1.0</c:v>
                </c:pt>
                <c:pt idx="29">
                  <c:v>1.0</c:v>
                </c:pt>
                <c:pt idx="30">
                  <c:v>1.0</c:v>
                </c:pt>
                <c:pt idx="31">
                  <c:v>1.0</c:v>
                </c:pt>
                <c:pt idx="32">
                  <c:v>1.0</c:v>
                </c:pt>
                <c:pt idx="33">
                  <c:v>1.0</c:v>
                </c:pt>
                <c:pt idx="34">
                  <c:v>1.0</c:v>
                </c:pt>
                <c:pt idx="35">
                  <c:v>1.0</c:v>
                </c:pt>
                <c:pt idx="36">
                  <c:v>1.0</c:v>
                </c:pt>
                <c:pt idx="37">
                  <c:v>1.0</c:v>
                </c:pt>
                <c:pt idx="38">
                  <c:v>1.0</c:v>
                </c:pt>
                <c:pt idx="39">
                  <c:v>1.0</c:v>
                </c:pt>
                <c:pt idx="40">
                  <c:v>1.0</c:v>
                </c:pt>
                <c:pt idx="41">
                  <c:v>1.0</c:v>
                </c:pt>
                <c:pt idx="42">
                  <c:v>1.0</c:v>
                </c:pt>
                <c:pt idx="43">
                  <c:v>1.0</c:v>
                </c:pt>
                <c:pt idx="44">
                  <c:v>1.0</c:v>
                </c:pt>
                <c:pt idx="45">
                  <c:v>1.0</c:v>
                </c:pt>
                <c:pt idx="46">
                  <c:v>1.0</c:v>
                </c:pt>
                <c:pt idx="47">
                  <c:v>1.0</c:v>
                </c:pt>
                <c:pt idx="48">
                  <c:v>1.0</c:v>
                </c:pt>
                <c:pt idx="49">
                  <c:v>1.0</c:v>
                </c:pt>
                <c:pt idx="50">
                  <c:v>1.0</c:v>
                </c:pt>
                <c:pt idx="51">
                  <c:v>1.0</c:v>
                </c:pt>
                <c:pt idx="52">
                  <c:v>1.0</c:v>
                </c:pt>
                <c:pt idx="53">
                  <c:v>1.0</c:v>
                </c:pt>
                <c:pt idx="54">
                  <c:v>1.0</c:v>
                </c:pt>
                <c:pt idx="55">
                  <c:v>1.0</c:v>
                </c:pt>
                <c:pt idx="56">
                  <c:v>1.0</c:v>
                </c:pt>
                <c:pt idx="57">
                  <c:v>1.0</c:v>
                </c:pt>
                <c:pt idx="58">
                  <c:v>1.0</c:v>
                </c:pt>
                <c:pt idx="59">
                  <c:v>1.0</c:v>
                </c:pt>
                <c:pt idx="60">
                  <c:v>1.0</c:v>
                </c:pt>
                <c:pt idx="61">
                  <c:v>1.0</c:v>
                </c:pt>
                <c:pt idx="62">
                  <c:v>1.0</c:v>
                </c:pt>
                <c:pt idx="63">
                  <c:v>1.0</c:v>
                </c:pt>
                <c:pt idx="64">
                  <c:v>1.0</c:v>
                </c:pt>
                <c:pt idx="65">
                  <c:v>1.0</c:v>
                </c:pt>
                <c:pt idx="66">
                  <c:v>1.0</c:v>
                </c:pt>
                <c:pt idx="67">
                  <c:v>1.0</c:v>
                </c:pt>
                <c:pt idx="68">
                  <c:v>1.0</c:v>
                </c:pt>
                <c:pt idx="69">
                  <c:v>1.0</c:v>
                </c:pt>
                <c:pt idx="70">
                  <c:v>1.0</c:v>
                </c:pt>
                <c:pt idx="71">
                  <c:v>1.0</c:v>
                </c:pt>
                <c:pt idx="72">
                  <c:v>1.0</c:v>
                </c:pt>
                <c:pt idx="73">
                  <c:v>1.0</c:v>
                </c:pt>
                <c:pt idx="74">
                  <c:v>1.0</c:v>
                </c:pt>
                <c:pt idx="75">
                  <c:v>1.0</c:v>
                </c:pt>
                <c:pt idx="76">
                  <c:v>1.0</c:v>
                </c:pt>
                <c:pt idx="77">
                  <c:v>1.0</c:v>
                </c:pt>
                <c:pt idx="78">
                  <c:v>1.0</c:v>
                </c:pt>
                <c:pt idx="79">
                  <c:v>1.0</c:v>
                </c:pt>
                <c:pt idx="80">
                  <c:v>1.0</c:v>
                </c:pt>
                <c:pt idx="81">
                  <c:v>1.0</c:v>
                </c:pt>
              </c:numCache>
            </c:numRef>
          </c:yVal>
          <c:smooth val="0"/>
        </c:ser>
        <c:axId val="-2128940872"/>
        <c:axId val="-2129643912"/>
      </c:scatterChart>
      <c:valAx>
        <c:axId val="-2128940872"/>
        <c:scaling>
          <c:orientation val="minMax"/>
          <c:max val="1.0"/>
          <c:min val="0.0"/>
        </c:scaling>
        <c:delete val="0"/>
        <c:axPos val="b"/>
        <c:title>
          <c:tx>
            <c:rich>
              <a:bodyPr/>
              <a:lstStyle/>
              <a:p>
                <a:r>
                  <a:rPr sz="900"/>
                  <a:t>findings patched (ranked order)</a:t>
                </a:r>
              </a:p>
            </c:rich>
          </c:tx>
          <c:layout/>
          <c:overlay val="0"/>
        </c:title>
        <c:numFmt formatCode="0%" sourceLinked="0"/>
        <c:majorTickMark val="out"/>
        <c:minorTickMark val="none"/>
        <c:tickLblPos val="nextTo"/>
        <c:txPr>
          <a:bodyPr/>
          <a:lstStyle/>
          <a:p>
            <a:pPr>
              <a:defRPr sz="900"/>
            </a:pPr>
          </a:p>
        </c:txPr>
        <c:crossAx val="-2129643912"/>
        <c:crosses val="autoZero"/>
        <c:crossBetween val="midCat"/>
      </c:valAx>
      <c:valAx>
        <c:axId val="-2129643912"/>
        <c:scaling>
          <c:orientation val="minMax"/>
          <c:max val="1.0"/>
          <c:min val="0.0"/>
        </c:scaling>
        <c:delete val="0"/>
        <c:axPos val="l"/>
        <c:title>
          <c:tx>
            <c:rich>
              <a:bodyPr/>
              <a:lstStyle/>
              <a:p>
                <a:r>
                  <a:rPr sz="900"/>
                  <a:t>later-exploited covered</a:t>
                </a:r>
              </a:p>
            </c:rich>
          </c:tx>
          <c:layout/>
          <c:overlay val="0"/>
        </c:title>
        <c:numFmt formatCode="0%" sourceLinked="0"/>
        <c:majorTickMark val="out"/>
        <c:minorTickMark val="none"/>
        <c:tickLblPos val="nextTo"/>
        <c:txPr>
          <a:bodyPr/>
          <a:lstStyle/>
          <a:p>
            <a:pPr>
              <a:defRPr sz="900"/>
            </a:pPr>
          </a:p>
        </c:txPr>
        <c:crossAx val="-2128940872"/>
        <c:crosses val="autoZero"/>
        <c:crossBetween val="midCat"/>
      </c:valAx>
    </c:plotArea>
    <c:legend>
      <c:legendPos val="b"/>
      <c:layout/>
      <c:overlay val="0"/>
      <c:txPr>
        <a:bodyPr/>
        <a:lstStyle/>
        <a:p>
          <a:pPr>
            <a:defRPr sz="900"/>
          </a:pPr>
        </a:p>
      </c:txPr>
    </c:legend>
    <c:plotVisOnly val="1"/>
    <c:dispBlanksAs val="gap"/>
    <c:showDLblsOverMax val="0"/>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2C33EF3-0F9B-4425-BB72-0BEB5267ED23}" type="datetimeFigureOut">
              <a:rPr lang="en-US" smtClean="0"/>
              <a:t>7/14/2026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FCEAAA-9FE9-4C0D-9328-5899C37F98E8}" type="slidenum">
              <a:rPr lang="en-US" smtClean="0"/>
              <a:t>‹#›</a:t>
            </a:fld>
            <a:endParaRPr lang="en-US"/>
          </a:p>
        </p:txBody>
      </p:sp>
    </p:spTree>
    <p:extLst>
      <p:ext uri="{BB962C8B-B14F-4D97-AF65-F5344CB8AC3E}">
        <p14:creationId xmlns:p14="http://schemas.microsoft.com/office/powerpoint/2010/main" val="37467057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7.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jpg"/><Relationship Id="rId3" Type="http://schemas.openxmlformats.org/officeDocument/2006/relationships/image" Target="../media/image9.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jpg"/><Relationship Id="rId3" Type="http://schemas.openxmlformats.org/officeDocument/2006/relationships/image" Target="../media/image9.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7.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4" name="Group 3"/>
          <p:cNvGrpSpPr/>
          <p:nvPr userDrawn="1"/>
        </p:nvGrpSpPr>
        <p:grpSpPr>
          <a:xfrm>
            <a:off x="285437" y="265677"/>
            <a:ext cx="11621126" cy="6326646"/>
            <a:chOff x="254476" y="265679"/>
            <a:chExt cx="11621126" cy="6326646"/>
          </a:xfrm>
        </p:grpSpPr>
        <p:sp>
          <p:nvSpPr>
            <p:cNvPr id="8" name="Flowchart: Manual Input 5"/>
            <p:cNvSpPr/>
            <p:nvPr userDrawn="1"/>
          </p:nvSpPr>
          <p:spPr>
            <a:xfrm rot="16200000" flipV="1">
              <a:off x="799317" y="-279162"/>
              <a:ext cx="6326646" cy="7416327"/>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 fmla="*/ 0 w 10000"/>
                <a:gd name="connsiteY0" fmla="*/ 3494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3494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0" y="3494"/>
                  </a:moveTo>
                  <a:lnTo>
                    <a:pt x="10000" y="0"/>
                  </a:lnTo>
                  <a:lnTo>
                    <a:pt x="10000" y="10000"/>
                  </a:lnTo>
                  <a:lnTo>
                    <a:pt x="0" y="10000"/>
                  </a:lnTo>
                  <a:lnTo>
                    <a:pt x="0" y="3494"/>
                  </a:lnTo>
                  <a:close/>
                </a:path>
              </a:pathLst>
            </a:cu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Roboto Slab"/>
                <a:ea typeface="+mn-ea"/>
                <a:cs typeface="+mn-cs"/>
              </a:endParaRPr>
            </a:p>
          </p:txBody>
        </p:sp>
        <p:sp>
          <p:nvSpPr>
            <p:cNvPr id="12" name="Flowchart: Manual Input 5"/>
            <p:cNvSpPr/>
            <p:nvPr userDrawn="1"/>
          </p:nvSpPr>
          <p:spPr>
            <a:xfrm rot="16200000" flipH="1">
              <a:off x="5594106" y="302528"/>
              <a:ext cx="5550769" cy="7012223"/>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 fmla="*/ 0 w 10000"/>
                <a:gd name="connsiteY0" fmla="*/ 3494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3494 h 10000"/>
                <a:gd name="connsiteX0" fmla="*/ 15 w 10015"/>
                <a:gd name="connsiteY0" fmla="*/ 3494 h 10469"/>
                <a:gd name="connsiteX1" fmla="*/ 10015 w 10015"/>
                <a:gd name="connsiteY1" fmla="*/ 0 h 10469"/>
                <a:gd name="connsiteX2" fmla="*/ 10015 w 10015"/>
                <a:gd name="connsiteY2" fmla="*/ 10000 h 10469"/>
                <a:gd name="connsiteX3" fmla="*/ 0 w 10015"/>
                <a:gd name="connsiteY3" fmla="*/ 10469 h 10469"/>
                <a:gd name="connsiteX4" fmla="*/ 15 w 10015"/>
                <a:gd name="connsiteY4" fmla="*/ 3494 h 10469"/>
                <a:gd name="connsiteX0" fmla="*/ 15 w 10015"/>
                <a:gd name="connsiteY0" fmla="*/ 3494 h 10494"/>
                <a:gd name="connsiteX1" fmla="*/ 10015 w 10015"/>
                <a:gd name="connsiteY1" fmla="*/ 0 h 10494"/>
                <a:gd name="connsiteX2" fmla="*/ 9984 w 10015"/>
                <a:gd name="connsiteY2" fmla="*/ 10494 h 10494"/>
                <a:gd name="connsiteX3" fmla="*/ 0 w 10015"/>
                <a:gd name="connsiteY3" fmla="*/ 10469 h 10494"/>
                <a:gd name="connsiteX4" fmla="*/ 15 w 10015"/>
                <a:gd name="connsiteY4" fmla="*/ 3494 h 104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5" h="10494">
                  <a:moveTo>
                    <a:pt x="15" y="3494"/>
                  </a:moveTo>
                  <a:lnTo>
                    <a:pt x="10015" y="0"/>
                  </a:lnTo>
                  <a:cubicBezTo>
                    <a:pt x="10005" y="3498"/>
                    <a:pt x="9994" y="6996"/>
                    <a:pt x="9984" y="10494"/>
                  </a:cubicBezTo>
                  <a:lnTo>
                    <a:pt x="0" y="10469"/>
                  </a:lnTo>
                  <a:lnTo>
                    <a:pt x="15" y="3494"/>
                  </a:lnTo>
                  <a:close/>
                </a:path>
              </a:pathLst>
            </a:custGeom>
            <a:solidFill>
              <a:schemeClr val="tx1">
                <a:lumMod val="65000"/>
                <a:lumOff val="35000"/>
              </a:schemeClr>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Roboto Slab"/>
                <a:ea typeface="+mn-ea"/>
                <a:cs typeface="+mn-cs"/>
              </a:endParaRPr>
            </a:p>
          </p:txBody>
        </p:sp>
      </p:grpSp>
      <p:sp>
        <p:nvSpPr>
          <p:cNvPr id="2" name="Title 1"/>
          <p:cNvSpPr>
            <a:spLocks noGrp="1"/>
          </p:cNvSpPr>
          <p:nvPr>
            <p:ph type="ctrTitle"/>
          </p:nvPr>
        </p:nvSpPr>
        <p:spPr>
          <a:xfrm>
            <a:off x="228600" y="1984375"/>
            <a:ext cx="59055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228600" y="4564063"/>
            <a:ext cx="59055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14" name="Picture 13"/>
          <p:cNvPicPr>
            <a:picLocks noChangeAspect="1"/>
          </p:cNvPicPr>
          <p:nvPr userDrawn="1"/>
        </p:nvPicPr>
        <p:blipFill rotWithShape="1">
          <a:blip r:embed="rId2" cstate="print">
            <a:extLst>
              <a:ext uri="{28A0092B-C50C-407E-A947-70E740481C1C}">
                <a14:useLocalDpi xmlns:a14="http://schemas.microsoft.com/office/drawing/2010/main" val="0"/>
              </a:ext>
            </a:extLst>
          </a:blip>
          <a:srcRect l="13983" b="37125"/>
          <a:stretch/>
        </p:blipFill>
        <p:spPr>
          <a:xfrm>
            <a:off x="254475" y="3208830"/>
            <a:ext cx="6915786" cy="3375194"/>
          </a:xfrm>
          <a:prstGeom prst="rect">
            <a:avLst/>
          </a:prstGeom>
        </p:spPr>
      </p:pic>
      <p:pic>
        <p:nvPicPr>
          <p:cNvPr id="9" name="Picture 8"/>
          <p:cNvPicPr>
            <a:picLocks noChangeAspect="1"/>
          </p:cNvPicPr>
          <p:nvPr userDrawn="1"/>
        </p:nvPicPr>
        <p:blipFill rotWithShape="1">
          <a:blip r:embed="rId3" cstate="print">
            <a:extLst>
              <a:ext uri="{28A0092B-C50C-407E-A947-70E740481C1C}">
                <a14:useLocalDpi xmlns:a14="http://schemas.microsoft.com/office/drawing/2010/main" val="0"/>
              </a:ext>
            </a:extLst>
          </a:blip>
          <a:srcRect b="28888"/>
          <a:stretch/>
        </p:blipFill>
        <p:spPr>
          <a:xfrm>
            <a:off x="420808" y="423775"/>
            <a:ext cx="2760542" cy="789564"/>
          </a:xfrm>
          <a:prstGeom prst="rect">
            <a:avLst/>
          </a:prstGeom>
        </p:spPr>
      </p:pic>
    </p:spTree>
    <p:extLst>
      <p:ext uri="{BB962C8B-B14F-4D97-AF65-F5344CB8AC3E}">
        <p14:creationId xmlns:p14="http://schemas.microsoft.com/office/powerpoint/2010/main" val="41004411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Rectangle 6"/>
          <p:cNvSpPr/>
          <p:nvPr userDrawn="1"/>
        </p:nvSpPr>
        <p:spPr>
          <a:xfrm>
            <a:off x="254476" y="262784"/>
            <a:ext cx="11683049" cy="6120002"/>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chemeClr val="tx1"/>
              </a:solidFill>
              <a:effectLst/>
              <a:uLnTx/>
              <a:uFillTx/>
              <a:latin typeface="Roboto Slab"/>
              <a:ea typeface="+mn-ea"/>
              <a:cs typeface="+mn-cs"/>
            </a:endParaRPr>
          </a:p>
        </p:txBody>
      </p:sp>
      <p:pic>
        <p:nvPicPr>
          <p:cNvPr id="8" name="Picture 7"/>
          <p:cNvPicPr>
            <a:picLocks noChangeAspect="1"/>
          </p:cNvPicPr>
          <p:nvPr userDrawn="1"/>
        </p:nvPicPr>
        <p:blipFill rotWithShape="1">
          <a:blip r:embed="rId2" cstate="print">
            <a:extLst>
              <a:ext uri="{28A0092B-C50C-407E-A947-70E740481C1C}">
                <a14:useLocalDpi xmlns:a14="http://schemas.microsoft.com/office/drawing/2010/main" val="0"/>
              </a:ext>
            </a:extLst>
          </a:blip>
          <a:srcRect b="29472"/>
          <a:stretch/>
        </p:blipFill>
        <p:spPr>
          <a:xfrm>
            <a:off x="400639" y="379813"/>
            <a:ext cx="2444161" cy="693336"/>
          </a:xfrm>
          <a:prstGeom prst="rect">
            <a:avLst/>
          </a:prstGeom>
        </p:spPr>
      </p:pic>
      <p:cxnSp>
        <p:nvCxnSpPr>
          <p:cNvPr id="11" name="Straight Connector 10"/>
          <p:cNvCxnSpPr/>
          <p:nvPr userDrawn="1"/>
        </p:nvCxnSpPr>
        <p:spPr>
          <a:xfrm>
            <a:off x="3090333" y="1049867"/>
            <a:ext cx="867833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itle 1"/>
          <p:cNvSpPr>
            <a:spLocks noGrp="1"/>
          </p:cNvSpPr>
          <p:nvPr>
            <p:ph type="title"/>
          </p:nvPr>
        </p:nvSpPr>
        <p:spPr>
          <a:xfrm>
            <a:off x="3386667" y="379812"/>
            <a:ext cx="8382000" cy="670055"/>
          </a:xfrm>
        </p:spPr>
        <p:txBody>
          <a:bodyPr>
            <a:normAutofit/>
          </a:bodyPr>
          <a:lstStyle>
            <a:lvl1pPr algn="r">
              <a:defRPr sz="3600"/>
            </a:lvl1pPr>
          </a:lstStyle>
          <a:p>
            <a:r>
              <a:rPr lang="en-US" dirty="0"/>
              <a:t>Click to edit Master title style</a:t>
            </a:r>
          </a:p>
        </p:txBody>
      </p:sp>
      <p:sp>
        <p:nvSpPr>
          <p:cNvPr id="5" name="Date Placeholder 4">
            <a:extLst>
              <a:ext uri="{FF2B5EF4-FFF2-40B4-BE49-F238E27FC236}">
                <a16:creationId xmlns:a16="http://schemas.microsoft.com/office/drawing/2014/main" id="{CE7D1A7F-7373-3869-7B19-D11B972020F9}"/>
              </a:ext>
            </a:extLst>
          </p:cNvPr>
          <p:cNvSpPr>
            <a:spLocks noGrp="1"/>
          </p:cNvSpPr>
          <p:nvPr>
            <p:ph type="dt" sz="half" idx="10"/>
          </p:nvPr>
        </p:nvSpPr>
        <p:spPr>
          <a:xfrm>
            <a:off x="254475" y="6382786"/>
            <a:ext cx="2743200" cy="365125"/>
          </a:xfrm>
        </p:spPr>
        <p:txBody>
          <a:bodyPr/>
          <a:lstStyle>
            <a:lvl1pPr>
              <a:defRPr>
                <a:solidFill>
                  <a:schemeClr val="tx1"/>
                </a:solidFill>
              </a:defRPr>
            </a:lvl1pPr>
          </a:lstStyle>
          <a:p>
            <a:pPr>
              <a:defRPr/>
            </a:pPr>
            <a:fld id="{49954A08-F531-4BFB-B155-FB6526D1B190}" type="datetime3">
              <a:rPr lang="en-US" smtClean="0"/>
              <a:t>14 July 2026</a:t>
            </a:fld>
            <a:endParaRPr lang="en-US"/>
          </a:p>
        </p:txBody>
      </p:sp>
      <p:sp>
        <p:nvSpPr>
          <p:cNvPr id="10" name="Slide Number Placeholder 9">
            <a:extLst>
              <a:ext uri="{FF2B5EF4-FFF2-40B4-BE49-F238E27FC236}">
                <a16:creationId xmlns:a16="http://schemas.microsoft.com/office/drawing/2014/main" id="{C78AE685-7A90-7A5D-4D8F-1CB8728E0A51}"/>
              </a:ext>
            </a:extLst>
          </p:cNvPr>
          <p:cNvSpPr>
            <a:spLocks noGrp="1"/>
          </p:cNvSpPr>
          <p:nvPr>
            <p:ph type="sldNum" sz="quarter" idx="12"/>
          </p:nvPr>
        </p:nvSpPr>
        <p:spPr>
          <a:xfrm>
            <a:off x="9194324" y="6382786"/>
            <a:ext cx="2743200" cy="365125"/>
          </a:xfrm>
        </p:spPr>
        <p:txBody>
          <a:bodyPr/>
          <a:lstStyle>
            <a:lvl1pPr>
              <a:defRPr>
                <a:solidFill>
                  <a:schemeClr val="tx1"/>
                </a:solidFill>
              </a:defRPr>
            </a:lvl1pPr>
          </a:lstStyle>
          <a:p>
            <a:pPr>
              <a:defRPr/>
            </a:pPr>
            <a:endParaRPr lang="en-US" dirty="0"/>
          </a:p>
        </p:txBody>
      </p:sp>
      <p:sp>
        <p:nvSpPr>
          <p:cNvPr id="2" name="Footer Placeholder 4">
            <a:extLst>
              <a:ext uri="{FF2B5EF4-FFF2-40B4-BE49-F238E27FC236}">
                <a16:creationId xmlns:a16="http://schemas.microsoft.com/office/drawing/2014/main" id="{84B887BD-4322-C2D5-FA8B-30CE46F751AE}"/>
              </a:ext>
            </a:extLst>
          </p:cNvPr>
          <p:cNvSpPr>
            <a:spLocks noGrp="1"/>
          </p:cNvSpPr>
          <p:nvPr>
            <p:ph type="ftr" sz="quarter" idx="3"/>
          </p:nvPr>
        </p:nvSpPr>
        <p:spPr>
          <a:xfrm>
            <a:off x="3174023" y="6382785"/>
            <a:ext cx="5811715" cy="365125"/>
          </a:xfrm>
          <a:prstGeom prst="rect">
            <a:avLst/>
          </a:prstGeom>
        </p:spPr>
        <p:txBody>
          <a:bodyPr vert="horz" lIns="91440" tIns="45720" rIns="91440" bIns="45720" rtlCol="0" anchor="ctr"/>
          <a:lstStyle>
            <a:lvl1pPr algn="ctr">
              <a:defRPr sz="1200">
                <a:solidFill>
                  <a:schemeClr val="tx1"/>
                </a:solidFill>
              </a:defRPr>
            </a:lvl1pPr>
          </a:lstStyle>
          <a:p>
            <a:pPr>
              <a:defRPr/>
            </a:pPr>
            <a:r>
              <a:rPr lang="en-US"/>
              <a:t>REVA Academy for Corporate Excellence – RACE | race.reva.edu.in</a:t>
            </a:r>
            <a:endParaRPr lang="en-US" dirty="0"/>
          </a:p>
        </p:txBody>
      </p:sp>
    </p:spTree>
    <p:extLst>
      <p:ext uri="{BB962C8B-B14F-4D97-AF65-F5344CB8AC3E}">
        <p14:creationId xmlns:p14="http://schemas.microsoft.com/office/powerpoint/2010/main" val="6419854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7" name="Rectangle 6"/>
          <p:cNvSpPr/>
          <p:nvPr userDrawn="1"/>
        </p:nvSpPr>
        <p:spPr>
          <a:xfrm>
            <a:off x="254476" y="262784"/>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Roboto Slab"/>
              <a:ea typeface="+mn-ea"/>
              <a:cs typeface="+mn-cs"/>
            </a:endParaRPr>
          </a:p>
        </p:txBody>
      </p:sp>
      <p:sp>
        <p:nvSpPr>
          <p:cNvPr id="2" name="Rectangle 1"/>
          <p:cNvSpPr/>
          <p:nvPr userDrawn="1"/>
        </p:nvSpPr>
        <p:spPr>
          <a:xfrm>
            <a:off x="254475" y="262783"/>
            <a:ext cx="3597858" cy="6332433"/>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Roboto Slab"/>
              <a:ea typeface="+mn-ea"/>
              <a:cs typeface="+mn-cs"/>
            </a:endParaRPr>
          </a:p>
        </p:txBody>
      </p:sp>
    </p:spTree>
    <p:extLst>
      <p:ext uri="{BB962C8B-B14F-4D97-AF65-F5344CB8AC3E}">
        <p14:creationId xmlns:p14="http://schemas.microsoft.com/office/powerpoint/2010/main" val="32528660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7" name="Rectangle 6"/>
          <p:cNvSpPr/>
          <p:nvPr userDrawn="1"/>
        </p:nvSpPr>
        <p:spPr>
          <a:xfrm>
            <a:off x="254476" y="262784"/>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Roboto Slab"/>
              <a:ea typeface="+mn-ea"/>
              <a:cs typeface="+mn-cs"/>
            </a:endParaRPr>
          </a:p>
        </p:txBody>
      </p:sp>
      <p:sp>
        <p:nvSpPr>
          <p:cNvPr id="2" name="Rectangle 1"/>
          <p:cNvSpPr/>
          <p:nvPr userDrawn="1"/>
        </p:nvSpPr>
        <p:spPr>
          <a:xfrm>
            <a:off x="254475" y="262783"/>
            <a:ext cx="2686688" cy="6332433"/>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Roboto Slab"/>
              <a:ea typeface="+mn-ea"/>
              <a:cs typeface="+mn-cs"/>
            </a:endParaRPr>
          </a:p>
        </p:txBody>
      </p:sp>
      <p:pic>
        <p:nvPicPr>
          <p:cNvPr id="4" name="Picture 3"/>
          <p:cNvPicPr>
            <a:picLocks noChangeAspect="1"/>
          </p:cNvPicPr>
          <p:nvPr userDrawn="1"/>
        </p:nvPicPr>
        <p:blipFill rotWithShape="1">
          <a:blip r:embed="rId2">
            <a:extLst>
              <a:ext uri="{28A0092B-C50C-407E-A947-70E740481C1C}">
                <a14:useLocalDpi xmlns:a14="http://schemas.microsoft.com/office/drawing/2010/main" val="0"/>
              </a:ext>
            </a:extLst>
          </a:blip>
          <a:srcRect l="49803"/>
          <a:stretch/>
        </p:blipFill>
        <p:spPr>
          <a:xfrm>
            <a:off x="245097" y="1534163"/>
            <a:ext cx="2393627" cy="4768501"/>
          </a:xfrm>
          <a:prstGeom prst="rect">
            <a:avLst/>
          </a:prstGeom>
        </p:spPr>
      </p:pic>
    </p:spTree>
    <p:extLst>
      <p:ext uri="{BB962C8B-B14F-4D97-AF65-F5344CB8AC3E}">
        <p14:creationId xmlns:p14="http://schemas.microsoft.com/office/powerpoint/2010/main" val="37213933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3CE08DDE-145F-4074-80B9-92A82F6FAE3F}" type="datetime3">
              <a:rPr kumimoji="0" lang="en-US" sz="1200" b="0" i="0" u="none" strike="noStrike" kern="1200" cap="none" spc="0" normalizeH="0" baseline="0" noProof="0" smtClean="0">
                <a:ln>
                  <a:noFill/>
                </a:ln>
                <a:solidFill>
                  <a:prstClr val="black">
                    <a:tint val="75000"/>
                  </a:prstClr>
                </a:solidFill>
                <a:effectLst/>
                <a:uLnTx/>
                <a:uFillTx/>
                <a:latin typeface="Roboto Slab"/>
                <a:ea typeface="+mn-ea"/>
                <a:cs typeface="+mn-cs"/>
              </a:rPr>
              <a:t>14 July 2026</a:t>
            </a:fld>
            <a:endParaRPr kumimoji="0" lang="en-US" sz="1200" b="0" i="0" u="none" strike="noStrike" kern="1200" cap="none" spc="0" normalizeH="0" baseline="0" noProof="0">
              <a:ln>
                <a:noFill/>
              </a:ln>
              <a:solidFill>
                <a:prstClr val="black">
                  <a:tint val="75000"/>
                </a:prstClr>
              </a:solidFill>
              <a:effectLst/>
              <a:uLnTx/>
              <a:uFillTx/>
              <a:latin typeface="Roboto Slab"/>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a:ln>
                  <a:noFill/>
                </a:ln>
                <a:solidFill>
                  <a:prstClr val="black">
                    <a:tint val="75000"/>
                  </a:prstClr>
                </a:solidFill>
                <a:effectLst/>
                <a:uLnTx/>
                <a:uFillTx/>
                <a:latin typeface="Roboto Slab"/>
                <a:ea typeface="+mn-ea"/>
                <a:cs typeface="+mn-cs"/>
              </a:rPr>
              <a:t>REVA Academy for Corporate Excellence – RACE | race.reva.edu.in</a:t>
            </a:r>
            <a:endParaRPr kumimoji="0" lang="en-US" sz="1200" b="0" i="0" u="none" strike="noStrike" kern="1200" cap="none" spc="0" normalizeH="0" baseline="0" noProof="0">
              <a:ln>
                <a:noFill/>
              </a:ln>
              <a:solidFill>
                <a:prstClr val="black">
                  <a:tint val="75000"/>
                </a:prstClr>
              </a:solidFill>
              <a:effectLst/>
              <a:uLnTx/>
              <a:uFillTx/>
              <a:latin typeface="Roboto Slab"/>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0B49BB6-5787-495D-AC20-623BD900045B}" type="slidenum">
              <a:rPr kumimoji="0" lang="en-US" sz="1200" b="0" i="0" u="none" strike="noStrike" kern="1200" cap="none" spc="0" normalizeH="0" baseline="0" noProof="0" smtClean="0">
                <a:ln>
                  <a:noFill/>
                </a:ln>
                <a:solidFill>
                  <a:prstClr val="black">
                    <a:tint val="75000"/>
                  </a:prstClr>
                </a:solidFill>
                <a:effectLst/>
                <a:uLnTx/>
                <a:uFillTx/>
                <a:latin typeface="Roboto Slab"/>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Roboto Slab"/>
              <a:ea typeface="+mn-ea"/>
              <a:cs typeface="+mn-cs"/>
            </a:endParaRPr>
          </a:p>
        </p:txBody>
      </p:sp>
    </p:spTree>
    <p:extLst>
      <p:ext uri="{BB962C8B-B14F-4D97-AF65-F5344CB8AC3E}">
        <p14:creationId xmlns:p14="http://schemas.microsoft.com/office/powerpoint/2010/main" val="37497356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0324537-D8D1-48D3-974C-5042DA3C845D}" type="datetime3">
              <a:rPr kumimoji="0" lang="en-US" sz="1200" b="0" i="0" u="none" strike="noStrike" kern="1200" cap="none" spc="0" normalizeH="0" baseline="0" noProof="0" smtClean="0">
                <a:ln>
                  <a:noFill/>
                </a:ln>
                <a:solidFill>
                  <a:prstClr val="black">
                    <a:tint val="75000"/>
                  </a:prstClr>
                </a:solidFill>
                <a:effectLst/>
                <a:uLnTx/>
                <a:uFillTx/>
                <a:latin typeface="Roboto Slab"/>
                <a:ea typeface="+mn-ea"/>
                <a:cs typeface="+mn-cs"/>
              </a:rPr>
              <a:t>14 July 2026</a:t>
            </a:fld>
            <a:endParaRPr kumimoji="0" lang="en-US" sz="1200" b="0" i="0" u="none" strike="noStrike" kern="1200" cap="none" spc="0" normalizeH="0" baseline="0" noProof="0">
              <a:ln>
                <a:noFill/>
              </a:ln>
              <a:solidFill>
                <a:prstClr val="black">
                  <a:tint val="75000"/>
                </a:prstClr>
              </a:solidFill>
              <a:effectLst/>
              <a:uLnTx/>
              <a:uFillTx/>
              <a:latin typeface="Roboto Slab"/>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a:ln>
                  <a:noFill/>
                </a:ln>
                <a:solidFill>
                  <a:prstClr val="black">
                    <a:tint val="75000"/>
                  </a:prstClr>
                </a:solidFill>
                <a:effectLst/>
                <a:uLnTx/>
                <a:uFillTx/>
                <a:latin typeface="Roboto Slab"/>
                <a:ea typeface="+mn-ea"/>
                <a:cs typeface="+mn-cs"/>
              </a:rPr>
              <a:t>REVA Academy for Corporate Excellence – RACE | race.reva.edu.in</a:t>
            </a:r>
            <a:endParaRPr kumimoji="0" lang="en-US" sz="1200" b="0" i="0" u="none" strike="noStrike" kern="1200" cap="none" spc="0" normalizeH="0" baseline="0" noProof="0">
              <a:ln>
                <a:noFill/>
              </a:ln>
              <a:solidFill>
                <a:prstClr val="black">
                  <a:tint val="75000"/>
                </a:prstClr>
              </a:solidFill>
              <a:effectLst/>
              <a:uLnTx/>
              <a:uFillTx/>
              <a:latin typeface="Roboto Slab"/>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0B49BB6-5787-495D-AC20-623BD900045B}" type="slidenum">
              <a:rPr kumimoji="0" lang="en-US" sz="1200" b="0" i="0" u="none" strike="noStrike" kern="1200" cap="none" spc="0" normalizeH="0" baseline="0" noProof="0" smtClean="0">
                <a:ln>
                  <a:noFill/>
                </a:ln>
                <a:solidFill>
                  <a:prstClr val="black">
                    <a:tint val="75000"/>
                  </a:prstClr>
                </a:solidFill>
                <a:effectLst/>
                <a:uLnTx/>
                <a:uFillTx/>
                <a:latin typeface="Roboto Slab"/>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Roboto Slab"/>
              <a:ea typeface="+mn-ea"/>
              <a:cs typeface="+mn-cs"/>
            </a:endParaRPr>
          </a:p>
        </p:txBody>
      </p:sp>
    </p:spTree>
    <p:extLst>
      <p:ext uri="{BB962C8B-B14F-4D97-AF65-F5344CB8AC3E}">
        <p14:creationId xmlns:p14="http://schemas.microsoft.com/office/powerpoint/2010/main" val="16235123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668FF8-54C7-4DF9-8A67-F38E35811078}" type="datetime3">
              <a:rPr kumimoji="0" lang="en-US" sz="1200" b="0" i="0" u="none" strike="noStrike" kern="1200" cap="none" spc="0" normalizeH="0" baseline="0" noProof="0" smtClean="0">
                <a:ln>
                  <a:noFill/>
                </a:ln>
                <a:solidFill>
                  <a:prstClr val="black">
                    <a:tint val="75000"/>
                  </a:prstClr>
                </a:solidFill>
                <a:effectLst/>
                <a:uLnTx/>
                <a:uFillTx/>
                <a:latin typeface="Roboto Slab"/>
                <a:ea typeface="+mn-ea"/>
                <a:cs typeface="+mn-cs"/>
              </a:rPr>
              <a:t>14 July 2026</a:t>
            </a:fld>
            <a:endParaRPr kumimoji="0" lang="en-US" sz="1200" b="0" i="0" u="none" strike="noStrike" kern="1200" cap="none" spc="0" normalizeH="0" baseline="0" noProof="0">
              <a:ln>
                <a:noFill/>
              </a:ln>
              <a:solidFill>
                <a:prstClr val="black">
                  <a:tint val="75000"/>
                </a:prstClr>
              </a:solidFill>
              <a:effectLst/>
              <a:uLnTx/>
              <a:uFillTx/>
              <a:latin typeface="Roboto Slab"/>
              <a:ea typeface="+mn-ea"/>
              <a:cs typeface="+mn-cs"/>
            </a:endParaRPr>
          </a:p>
        </p:txBody>
      </p:sp>
      <p:sp>
        <p:nvSpPr>
          <p:cNvPr id="8" name="Footer Placeholder 7"/>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a:ln>
                  <a:noFill/>
                </a:ln>
                <a:solidFill>
                  <a:prstClr val="black">
                    <a:tint val="75000"/>
                  </a:prstClr>
                </a:solidFill>
                <a:effectLst/>
                <a:uLnTx/>
                <a:uFillTx/>
                <a:latin typeface="Roboto Slab"/>
                <a:ea typeface="+mn-ea"/>
                <a:cs typeface="+mn-cs"/>
              </a:rPr>
              <a:t>REVA Academy for Corporate Excellence – RACE | race.reva.edu.in</a:t>
            </a:r>
            <a:endParaRPr kumimoji="0" lang="en-US" sz="1200" b="0" i="0" u="none" strike="noStrike" kern="1200" cap="none" spc="0" normalizeH="0" baseline="0" noProof="0">
              <a:ln>
                <a:noFill/>
              </a:ln>
              <a:solidFill>
                <a:prstClr val="black">
                  <a:tint val="75000"/>
                </a:prstClr>
              </a:solidFill>
              <a:effectLst/>
              <a:uLnTx/>
              <a:uFillTx/>
              <a:latin typeface="Roboto Slab"/>
              <a:ea typeface="+mn-ea"/>
              <a:cs typeface="+mn-cs"/>
            </a:endParaRPr>
          </a:p>
        </p:txBody>
      </p:sp>
      <p:sp>
        <p:nvSpPr>
          <p:cNvPr id="9" name="Slide Number Placeholder 8"/>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0B49BB6-5787-495D-AC20-623BD900045B}" type="slidenum">
              <a:rPr kumimoji="0" lang="en-US" sz="1200" b="0" i="0" u="none" strike="noStrike" kern="1200" cap="none" spc="0" normalizeH="0" baseline="0" noProof="0" smtClean="0">
                <a:ln>
                  <a:noFill/>
                </a:ln>
                <a:solidFill>
                  <a:prstClr val="black">
                    <a:tint val="75000"/>
                  </a:prstClr>
                </a:solidFill>
                <a:effectLst/>
                <a:uLnTx/>
                <a:uFillTx/>
                <a:latin typeface="Roboto Slab"/>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Roboto Slab"/>
              <a:ea typeface="+mn-ea"/>
              <a:cs typeface="+mn-cs"/>
            </a:endParaRPr>
          </a:p>
        </p:txBody>
      </p:sp>
    </p:spTree>
    <p:extLst>
      <p:ext uri="{BB962C8B-B14F-4D97-AF65-F5344CB8AC3E}">
        <p14:creationId xmlns:p14="http://schemas.microsoft.com/office/powerpoint/2010/main" val="36994460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AC775388-B0D9-4736-A094-62A2D51967A2}" type="datetime3">
              <a:rPr kumimoji="0" lang="en-US" sz="1200" b="0" i="0" u="none" strike="noStrike" kern="1200" cap="none" spc="0" normalizeH="0" baseline="0" noProof="0" smtClean="0">
                <a:ln>
                  <a:noFill/>
                </a:ln>
                <a:solidFill>
                  <a:prstClr val="black">
                    <a:tint val="75000"/>
                  </a:prstClr>
                </a:solidFill>
                <a:effectLst/>
                <a:uLnTx/>
                <a:uFillTx/>
                <a:latin typeface="Roboto Slab"/>
                <a:ea typeface="+mn-ea"/>
                <a:cs typeface="+mn-cs"/>
              </a:rPr>
              <a:t>14 July 2026</a:t>
            </a:fld>
            <a:endParaRPr kumimoji="0" lang="en-US" sz="1200" b="0" i="0" u="none" strike="noStrike" kern="1200" cap="none" spc="0" normalizeH="0" baseline="0" noProof="0">
              <a:ln>
                <a:noFill/>
              </a:ln>
              <a:solidFill>
                <a:prstClr val="black">
                  <a:tint val="75000"/>
                </a:prstClr>
              </a:solidFill>
              <a:effectLst/>
              <a:uLnTx/>
              <a:uFillTx/>
              <a:latin typeface="Roboto Slab"/>
              <a:ea typeface="+mn-ea"/>
              <a:cs typeface="+mn-cs"/>
            </a:endParaRPr>
          </a:p>
        </p:txBody>
      </p:sp>
      <p:sp>
        <p:nvSpPr>
          <p:cNvPr id="4" name="Footer Placehold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a:ln>
                  <a:noFill/>
                </a:ln>
                <a:solidFill>
                  <a:prstClr val="black">
                    <a:tint val="75000"/>
                  </a:prstClr>
                </a:solidFill>
                <a:effectLst/>
                <a:uLnTx/>
                <a:uFillTx/>
                <a:latin typeface="Roboto Slab"/>
                <a:ea typeface="+mn-ea"/>
                <a:cs typeface="+mn-cs"/>
              </a:rPr>
              <a:t>REVA Academy for Corporate Excellence – RACE | race.reva.edu.in</a:t>
            </a:r>
            <a:endParaRPr kumimoji="0" lang="en-US" sz="1200" b="0" i="0" u="none" strike="noStrike" kern="1200" cap="none" spc="0" normalizeH="0" baseline="0" noProof="0">
              <a:ln>
                <a:noFill/>
              </a:ln>
              <a:solidFill>
                <a:prstClr val="black">
                  <a:tint val="75000"/>
                </a:prstClr>
              </a:solidFill>
              <a:effectLst/>
              <a:uLnTx/>
              <a:uFillTx/>
              <a:latin typeface="Roboto Slab"/>
              <a:ea typeface="+mn-ea"/>
              <a:cs typeface="+mn-cs"/>
            </a:endParaRPr>
          </a:p>
        </p:txBody>
      </p:sp>
      <p:sp>
        <p:nvSpPr>
          <p:cNvPr id="5" name="Slide Number Placehold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0B49BB6-5787-495D-AC20-623BD900045B}" type="slidenum">
              <a:rPr kumimoji="0" lang="en-US" sz="1200" b="0" i="0" u="none" strike="noStrike" kern="1200" cap="none" spc="0" normalizeH="0" baseline="0" noProof="0" smtClean="0">
                <a:ln>
                  <a:noFill/>
                </a:ln>
                <a:solidFill>
                  <a:prstClr val="black">
                    <a:tint val="75000"/>
                  </a:prstClr>
                </a:solidFill>
                <a:effectLst/>
                <a:uLnTx/>
                <a:uFillTx/>
                <a:latin typeface="Roboto Slab"/>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Roboto Slab"/>
              <a:ea typeface="+mn-ea"/>
              <a:cs typeface="+mn-cs"/>
            </a:endParaRPr>
          </a:p>
        </p:txBody>
      </p:sp>
    </p:spTree>
    <p:extLst>
      <p:ext uri="{BB962C8B-B14F-4D97-AF65-F5344CB8AC3E}">
        <p14:creationId xmlns:p14="http://schemas.microsoft.com/office/powerpoint/2010/main" val="32058115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593D490C-FF0D-4F46-8C01-08A44D82182A}" type="datetime3">
              <a:rPr kumimoji="0" lang="en-US" sz="1200" b="0" i="0" u="none" strike="noStrike" kern="1200" cap="none" spc="0" normalizeH="0" baseline="0" noProof="0" smtClean="0">
                <a:ln>
                  <a:noFill/>
                </a:ln>
                <a:solidFill>
                  <a:prstClr val="black">
                    <a:tint val="75000"/>
                  </a:prstClr>
                </a:solidFill>
                <a:effectLst/>
                <a:uLnTx/>
                <a:uFillTx/>
                <a:latin typeface="Roboto Slab"/>
                <a:ea typeface="+mn-ea"/>
                <a:cs typeface="+mn-cs"/>
              </a:rPr>
              <a:t>14 July 2026</a:t>
            </a:fld>
            <a:endParaRPr kumimoji="0" lang="en-US" sz="1200" b="0" i="0" u="none" strike="noStrike" kern="1200" cap="none" spc="0" normalizeH="0" baseline="0" noProof="0">
              <a:ln>
                <a:noFill/>
              </a:ln>
              <a:solidFill>
                <a:prstClr val="black">
                  <a:tint val="75000"/>
                </a:prstClr>
              </a:solidFill>
              <a:effectLst/>
              <a:uLnTx/>
              <a:uFillTx/>
              <a:latin typeface="Roboto Slab"/>
              <a:ea typeface="+mn-ea"/>
              <a:cs typeface="+mn-cs"/>
            </a:endParaRPr>
          </a:p>
        </p:txBody>
      </p:sp>
      <p:sp>
        <p:nvSpPr>
          <p:cNvPr id="3" name="Footer Placeholder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a:ln>
                  <a:noFill/>
                </a:ln>
                <a:solidFill>
                  <a:prstClr val="black">
                    <a:tint val="75000"/>
                  </a:prstClr>
                </a:solidFill>
                <a:effectLst/>
                <a:uLnTx/>
                <a:uFillTx/>
                <a:latin typeface="Roboto Slab"/>
                <a:ea typeface="+mn-ea"/>
                <a:cs typeface="+mn-cs"/>
              </a:rPr>
              <a:t>REVA Academy for Corporate Excellence – RACE | race.reva.edu.in</a:t>
            </a:r>
            <a:endParaRPr kumimoji="0" lang="en-US" sz="1200" b="0" i="0" u="none" strike="noStrike" kern="1200" cap="none" spc="0" normalizeH="0" baseline="0" noProof="0">
              <a:ln>
                <a:noFill/>
              </a:ln>
              <a:solidFill>
                <a:prstClr val="black">
                  <a:tint val="75000"/>
                </a:prstClr>
              </a:solidFill>
              <a:effectLst/>
              <a:uLnTx/>
              <a:uFillTx/>
              <a:latin typeface="Roboto Slab"/>
              <a:ea typeface="+mn-ea"/>
              <a:cs typeface="+mn-cs"/>
            </a:endParaRP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0B49BB6-5787-495D-AC20-623BD900045B}" type="slidenum">
              <a:rPr kumimoji="0" lang="en-US" sz="1200" b="0" i="0" u="none" strike="noStrike" kern="1200" cap="none" spc="0" normalizeH="0" baseline="0" noProof="0" smtClean="0">
                <a:ln>
                  <a:noFill/>
                </a:ln>
                <a:solidFill>
                  <a:prstClr val="black">
                    <a:tint val="75000"/>
                  </a:prstClr>
                </a:solidFill>
                <a:effectLst/>
                <a:uLnTx/>
                <a:uFillTx/>
                <a:latin typeface="Roboto Slab"/>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Roboto Slab"/>
              <a:ea typeface="+mn-ea"/>
              <a:cs typeface="+mn-cs"/>
            </a:endParaRPr>
          </a:p>
        </p:txBody>
      </p:sp>
    </p:spTree>
    <p:extLst>
      <p:ext uri="{BB962C8B-B14F-4D97-AF65-F5344CB8AC3E}">
        <p14:creationId xmlns:p14="http://schemas.microsoft.com/office/powerpoint/2010/main" val="13599691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8181D73-72B9-4F40-AAB3-13A26D710039}" type="datetime3">
              <a:rPr kumimoji="0" lang="en-US" sz="1200" b="0" i="0" u="none" strike="noStrike" kern="1200" cap="none" spc="0" normalizeH="0" baseline="0" noProof="0" smtClean="0">
                <a:ln>
                  <a:noFill/>
                </a:ln>
                <a:solidFill>
                  <a:prstClr val="black">
                    <a:tint val="75000"/>
                  </a:prstClr>
                </a:solidFill>
                <a:effectLst/>
                <a:uLnTx/>
                <a:uFillTx/>
                <a:latin typeface="Roboto Slab"/>
                <a:ea typeface="+mn-ea"/>
                <a:cs typeface="+mn-cs"/>
              </a:rPr>
              <a:t>14 July 2026</a:t>
            </a:fld>
            <a:endParaRPr kumimoji="0" lang="en-US" sz="1200" b="0" i="0" u="none" strike="noStrike" kern="1200" cap="none" spc="0" normalizeH="0" baseline="0" noProof="0">
              <a:ln>
                <a:noFill/>
              </a:ln>
              <a:solidFill>
                <a:prstClr val="black">
                  <a:tint val="75000"/>
                </a:prstClr>
              </a:solidFill>
              <a:effectLst/>
              <a:uLnTx/>
              <a:uFillTx/>
              <a:latin typeface="Roboto Slab"/>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a:ln>
                  <a:noFill/>
                </a:ln>
                <a:solidFill>
                  <a:prstClr val="black">
                    <a:tint val="75000"/>
                  </a:prstClr>
                </a:solidFill>
                <a:effectLst/>
                <a:uLnTx/>
                <a:uFillTx/>
                <a:latin typeface="Roboto Slab"/>
                <a:ea typeface="+mn-ea"/>
                <a:cs typeface="+mn-cs"/>
              </a:rPr>
              <a:t>REVA Academy for Corporate Excellence – RACE | race.reva.edu.in</a:t>
            </a:r>
            <a:endParaRPr kumimoji="0" lang="en-US" sz="1200" b="0" i="0" u="none" strike="noStrike" kern="1200" cap="none" spc="0" normalizeH="0" baseline="0" noProof="0">
              <a:ln>
                <a:noFill/>
              </a:ln>
              <a:solidFill>
                <a:prstClr val="black">
                  <a:tint val="75000"/>
                </a:prstClr>
              </a:solidFill>
              <a:effectLst/>
              <a:uLnTx/>
              <a:uFillTx/>
              <a:latin typeface="Roboto Slab"/>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0B49BB6-5787-495D-AC20-623BD900045B}" type="slidenum">
              <a:rPr kumimoji="0" lang="en-US" sz="1200" b="0" i="0" u="none" strike="noStrike" kern="1200" cap="none" spc="0" normalizeH="0" baseline="0" noProof="0" smtClean="0">
                <a:ln>
                  <a:noFill/>
                </a:ln>
                <a:solidFill>
                  <a:prstClr val="black">
                    <a:tint val="75000"/>
                  </a:prstClr>
                </a:solidFill>
                <a:effectLst/>
                <a:uLnTx/>
                <a:uFillTx/>
                <a:latin typeface="Roboto Slab"/>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Roboto Slab"/>
              <a:ea typeface="+mn-ea"/>
              <a:cs typeface="+mn-cs"/>
            </a:endParaRPr>
          </a:p>
        </p:txBody>
      </p:sp>
    </p:spTree>
    <p:extLst>
      <p:ext uri="{BB962C8B-B14F-4D97-AF65-F5344CB8AC3E}">
        <p14:creationId xmlns:p14="http://schemas.microsoft.com/office/powerpoint/2010/main" val="1894959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559EB386-C260-4244-9F22-71C5BEEAC684}" type="datetime3">
              <a:rPr kumimoji="0" lang="en-US" sz="1200" b="0" i="0" u="none" strike="noStrike" kern="1200" cap="none" spc="0" normalizeH="0" baseline="0" noProof="0" smtClean="0">
                <a:ln>
                  <a:noFill/>
                </a:ln>
                <a:solidFill>
                  <a:prstClr val="black">
                    <a:tint val="75000"/>
                  </a:prstClr>
                </a:solidFill>
                <a:effectLst/>
                <a:uLnTx/>
                <a:uFillTx/>
                <a:latin typeface="Roboto Slab"/>
                <a:ea typeface="+mn-ea"/>
                <a:cs typeface="+mn-cs"/>
              </a:rPr>
              <a:t>14 July 2026</a:t>
            </a:fld>
            <a:endParaRPr kumimoji="0" lang="en-US" sz="1200" b="0" i="0" u="none" strike="noStrike" kern="1200" cap="none" spc="0" normalizeH="0" baseline="0" noProof="0">
              <a:ln>
                <a:noFill/>
              </a:ln>
              <a:solidFill>
                <a:prstClr val="black">
                  <a:tint val="75000"/>
                </a:prstClr>
              </a:solidFill>
              <a:effectLst/>
              <a:uLnTx/>
              <a:uFillTx/>
              <a:latin typeface="Roboto Slab"/>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a:ln>
                  <a:noFill/>
                </a:ln>
                <a:solidFill>
                  <a:prstClr val="black">
                    <a:tint val="75000"/>
                  </a:prstClr>
                </a:solidFill>
                <a:effectLst/>
                <a:uLnTx/>
                <a:uFillTx/>
                <a:latin typeface="Roboto Slab"/>
                <a:ea typeface="+mn-ea"/>
                <a:cs typeface="+mn-cs"/>
              </a:rPr>
              <a:t>REVA Academy for Corporate Excellence – RACE | race.reva.edu.in</a:t>
            </a:r>
            <a:endParaRPr kumimoji="0" lang="en-US" sz="1200" b="0" i="0" u="none" strike="noStrike" kern="1200" cap="none" spc="0" normalizeH="0" baseline="0" noProof="0">
              <a:ln>
                <a:noFill/>
              </a:ln>
              <a:solidFill>
                <a:prstClr val="black">
                  <a:tint val="75000"/>
                </a:prstClr>
              </a:solidFill>
              <a:effectLst/>
              <a:uLnTx/>
              <a:uFillTx/>
              <a:latin typeface="Roboto Slab"/>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0B49BB6-5787-495D-AC20-623BD900045B}" type="slidenum">
              <a:rPr kumimoji="0" lang="en-US" sz="1200" b="0" i="0" u="none" strike="noStrike" kern="1200" cap="none" spc="0" normalizeH="0" baseline="0" noProof="0" smtClean="0">
                <a:ln>
                  <a:noFill/>
                </a:ln>
                <a:solidFill>
                  <a:prstClr val="black">
                    <a:tint val="75000"/>
                  </a:prstClr>
                </a:solidFill>
                <a:effectLst/>
                <a:uLnTx/>
                <a:uFillTx/>
                <a:latin typeface="Roboto Slab"/>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Roboto Slab"/>
              <a:ea typeface="+mn-ea"/>
              <a:cs typeface="+mn-cs"/>
            </a:endParaRPr>
          </a:p>
        </p:txBody>
      </p:sp>
    </p:spTree>
    <p:extLst>
      <p:ext uri="{BB962C8B-B14F-4D97-AF65-F5344CB8AC3E}">
        <p14:creationId xmlns:p14="http://schemas.microsoft.com/office/powerpoint/2010/main" val="12590181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3F87C7D-74E9-46ED-A87F-311C55ECC35B}" type="datetime3">
              <a:rPr kumimoji="0" lang="en-US" sz="1200" b="0" i="0" u="none" strike="noStrike" kern="1200" cap="none" spc="0" normalizeH="0" baseline="0" noProof="0" smtClean="0">
                <a:ln>
                  <a:noFill/>
                </a:ln>
                <a:solidFill>
                  <a:prstClr val="black">
                    <a:tint val="75000"/>
                  </a:prstClr>
                </a:solidFill>
                <a:effectLst/>
                <a:uLnTx/>
                <a:uFillTx/>
                <a:latin typeface="Roboto Slab"/>
                <a:ea typeface="+mn-ea"/>
                <a:cs typeface="+mn-cs"/>
              </a:rPr>
              <a:t>14 July 2026</a:t>
            </a:fld>
            <a:endParaRPr kumimoji="0" lang="en-US" sz="1200" b="0" i="0" u="none" strike="noStrike" kern="1200" cap="none" spc="0" normalizeH="0" baseline="0" noProof="0">
              <a:ln>
                <a:noFill/>
              </a:ln>
              <a:solidFill>
                <a:prstClr val="black">
                  <a:tint val="75000"/>
                </a:prstClr>
              </a:solidFill>
              <a:effectLst/>
              <a:uLnTx/>
              <a:uFillTx/>
              <a:latin typeface="Roboto Slab"/>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a:ln>
                  <a:noFill/>
                </a:ln>
                <a:solidFill>
                  <a:prstClr val="black">
                    <a:tint val="75000"/>
                  </a:prstClr>
                </a:solidFill>
                <a:effectLst/>
                <a:uLnTx/>
                <a:uFillTx/>
                <a:latin typeface="Roboto Slab"/>
                <a:ea typeface="+mn-ea"/>
                <a:cs typeface="+mn-cs"/>
              </a:rPr>
              <a:t>REVA Academy for Corporate Excellence – RACE | race.reva.edu.in</a:t>
            </a:r>
            <a:endParaRPr kumimoji="0" lang="en-US" sz="1200" b="0" i="0" u="none" strike="noStrike" kern="1200" cap="none" spc="0" normalizeH="0" baseline="0" noProof="0">
              <a:ln>
                <a:noFill/>
              </a:ln>
              <a:solidFill>
                <a:prstClr val="black">
                  <a:tint val="75000"/>
                </a:prstClr>
              </a:solidFill>
              <a:effectLst/>
              <a:uLnTx/>
              <a:uFillTx/>
              <a:latin typeface="Roboto Slab"/>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0B49BB6-5787-495D-AC20-623BD900045B}" type="slidenum">
              <a:rPr kumimoji="0" lang="en-US" sz="1200" b="0" i="0" u="none" strike="noStrike" kern="1200" cap="none" spc="0" normalizeH="0" baseline="0" noProof="0" smtClean="0">
                <a:ln>
                  <a:noFill/>
                </a:ln>
                <a:solidFill>
                  <a:prstClr val="black">
                    <a:tint val="75000"/>
                  </a:prstClr>
                </a:solidFill>
                <a:effectLst/>
                <a:uLnTx/>
                <a:uFillTx/>
                <a:latin typeface="Roboto Slab"/>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Roboto Slab"/>
              <a:ea typeface="+mn-ea"/>
              <a:cs typeface="+mn-cs"/>
            </a:endParaRPr>
          </a:p>
        </p:txBody>
      </p:sp>
    </p:spTree>
    <p:extLst>
      <p:ext uri="{BB962C8B-B14F-4D97-AF65-F5344CB8AC3E}">
        <p14:creationId xmlns:p14="http://schemas.microsoft.com/office/powerpoint/2010/main" val="142054621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3F6AC6E1-8710-4FFE-A2E3-E9AEBE0B5C21}" type="datetime3">
              <a:rPr kumimoji="0" lang="en-US" sz="1200" b="0" i="0" u="none" strike="noStrike" kern="1200" cap="none" spc="0" normalizeH="0" baseline="0" noProof="0" smtClean="0">
                <a:ln>
                  <a:noFill/>
                </a:ln>
                <a:solidFill>
                  <a:prstClr val="black">
                    <a:tint val="75000"/>
                  </a:prstClr>
                </a:solidFill>
                <a:effectLst/>
                <a:uLnTx/>
                <a:uFillTx/>
                <a:latin typeface="Roboto Slab"/>
                <a:ea typeface="+mn-ea"/>
                <a:cs typeface="+mn-cs"/>
              </a:rPr>
              <a:t>14 July 2026</a:t>
            </a:fld>
            <a:endParaRPr kumimoji="0" lang="en-US" sz="1200" b="0" i="0" u="none" strike="noStrike" kern="1200" cap="none" spc="0" normalizeH="0" baseline="0" noProof="0">
              <a:ln>
                <a:noFill/>
              </a:ln>
              <a:solidFill>
                <a:prstClr val="black">
                  <a:tint val="75000"/>
                </a:prstClr>
              </a:solidFill>
              <a:effectLst/>
              <a:uLnTx/>
              <a:uFillTx/>
              <a:latin typeface="Roboto Slab"/>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a:ln>
                  <a:noFill/>
                </a:ln>
                <a:solidFill>
                  <a:prstClr val="black">
                    <a:tint val="75000"/>
                  </a:prstClr>
                </a:solidFill>
                <a:effectLst/>
                <a:uLnTx/>
                <a:uFillTx/>
                <a:latin typeface="Roboto Slab"/>
                <a:ea typeface="+mn-ea"/>
                <a:cs typeface="+mn-cs"/>
              </a:rPr>
              <a:t>REVA Academy for Corporate Excellence – RACE | race.reva.edu.in</a:t>
            </a:r>
            <a:endParaRPr kumimoji="0" lang="en-US" sz="1200" b="0" i="0" u="none" strike="noStrike" kern="1200" cap="none" spc="0" normalizeH="0" baseline="0" noProof="0">
              <a:ln>
                <a:noFill/>
              </a:ln>
              <a:solidFill>
                <a:prstClr val="black">
                  <a:tint val="75000"/>
                </a:prstClr>
              </a:solidFill>
              <a:effectLst/>
              <a:uLnTx/>
              <a:uFillTx/>
              <a:latin typeface="Roboto Slab"/>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0B49BB6-5787-495D-AC20-623BD900045B}" type="slidenum">
              <a:rPr kumimoji="0" lang="en-US" sz="1200" b="0" i="0" u="none" strike="noStrike" kern="1200" cap="none" spc="0" normalizeH="0" baseline="0" noProof="0" smtClean="0">
                <a:ln>
                  <a:noFill/>
                </a:ln>
                <a:solidFill>
                  <a:prstClr val="black">
                    <a:tint val="75000"/>
                  </a:prstClr>
                </a:solidFill>
                <a:effectLst/>
                <a:uLnTx/>
                <a:uFillTx/>
                <a:latin typeface="Roboto Slab"/>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Roboto Slab"/>
              <a:ea typeface="+mn-ea"/>
              <a:cs typeface="+mn-cs"/>
            </a:endParaRPr>
          </a:p>
        </p:txBody>
      </p:sp>
    </p:spTree>
    <p:extLst>
      <p:ext uri="{BB962C8B-B14F-4D97-AF65-F5344CB8AC3E}">
        <p14:creationId xmlns:p14="http://schemas.microsoft.com/office/powerpoint/2010/main" val="267005954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cSld name="3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Arial" panose="020B0604020202020204" pitchFamily="34" charset="0"/>
                <a:cs typeface="Arial" panose="020B0604020202020204" pitchFamily="34" charset="0"/>
              </a:defRPr>
            </a:lvl1pPr>
          </a:lstStyle>
          <a:p>
            <a:r>
              <a:rPr lang="en-US"/>
              <a:t>Click to edit Master title style</a:t>
            </a:r>
          </a:p>
        </p:txBody>
      </p:sp>
      <p:sp>
        <p:nvSpPr>
          <p:cNvPr id="3" name="Content Placeholder 2"/>
          <p:cNvSpPr>
            <a:spLocks noGrp="1"/>
          </p:cNvSpPr>
          <p:nvPr>
            <p:ph idx="1"/>
          </p:nvPr>
        </p:nvSpPr>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91941E83-6A45-4B5F-90DA-DAF1AA28FCE9}" type="datetime3">
              <a:rPr kumimoji="0" lang="en-US" sz="1200" b="0" i="0" u="none" strike="noStrike" kern="1200" cap="none" spc="0" normalizeH="0" baseline="0" noProof="0" smtClean="0">
                <a:ln>
                  <a:noFill/>
                </a:ln>
                <a:solidFill>
                  <a:prstClr val="black">
                    <a:tint val="75000"/>
                  </a:prstClr>
                </a:solidFill>
                <a:effectLst/>
                <a:uLnTx/>
                <a:uFillTx/>
                <a:latin typeface="Arial" panose="020B0604020202020204" pitchFamily="34" charset="0"/>
                <a:ea typeface="+mn-ea"/>
                <a:cs typeface="Arial" panose="020B0604020202020204" pitchFamily="34" charset="0"/>
              </a:rPr>
              <a:t>14 July 2026</a:t>
            </a:fld>
            <a:endParaRPr kumimoji="0" lang="en-US" sz="1200" b="0" i="0" u="none" strike="noStrike" kern="1200" cap="none" spc="0" normalizeH="0" baseline="0" noProof="0">
              <a:ln>
                <a:noFill/>
              </a:ln>
              <a:solidFill>
                <a:prstClr val="black">
                  <a:tint val="75000"/>
                </a:prstClr>
              </a:solidFill>
              <a:effectLst/>
              <a:uLnTx/>
              <a:uFillTx/>
              <a:latin typeface="Arial" panose="020B0604020202020204" pitchFamily="34" charset="0"/>
              <a:ea typeface="+mn-ea"/>
              <a:cs typeface="Arial" panose="020B0604020202020204" pitchFamily="34" charset="0"/>
            </a:endParaRPr>
          </a:p>
        </p:txBody>
      </p:sp>
      <p:sp>
        <p:nvSpPr>
          <p:cNvPr id="5" name="Footer Placeholder 4"/>
          <p:cNvSpPr>
            <a:spLocks noGrp="1"/>
          </p:cNvSpPr>
          <p:nvPr>
            <p:ph type="ftr" sz="quarter" idx="11"/>
          </p:nvPr>
        </p:nvSpPr>
        <p:spPr/>
        <p:txBody>
          <a:bodyPr/>
          <a:lstStyle>
            <a:lvl1pPr>
              <a:defRPr>
                <a:latin typeface="Arial" panose="020B0604020202020204" pitchFamily="34" charset="0"/>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a:ln>
                  <a:noFill/>
                </a:ln>
                <a:solidFill>
                  <a:prstClr val="black">
                    <a:tint val="75000"/>
                  </a:prstClr>
                </a:solidFill>
                <a:effectLst/>
                <a:uLnTx/>
                <a:uFillTx/>
                <a:latin typeface="Arial" panose="020B0604020202020204" pitchFamily="34" charset="0"/>
                <a:ea typeface="+mn-ea"/>
                <a:cs typeface="Arial" panose="020B0604020202020204" pitchFamily="34" charset="0"/>
              </a:rPr>
              <a:t>REVA Academy for Corporate Excellence – RACE | race.reva.edu.in</a:t>
            </a:r>
            <a:endParaRPr kumimoji="0" lang="en-US" sz="1200" b="0" i="0" u="none" strike="noStrike" kern="1200" cap="none" spc="0" normalizeH="0" baseline="0" noProof="0">
              <a:ln>
                <a:noFill/>
              </a:ln>
              <a:solidFill>
                <a:prstClr val="black">
                  <a:tint val="75000"/>
                </a:prstClr>
              </a:solidFill>
              <a:effectLst/>
              <a:uLnTx/>
              <a:uFillTx/>
              <a:latin typeface="Arial" panose="020B0604020202020204" pitchFamily="34" charset="0"/>
              <a:ea typeface="+mn-ea"/>
              <a:cs typeface="Arial" panose="020B0604020202020204" pitchFamily="34" charset="0"/>
            </a:endParaRPr>
          </a:p>
        </p:txBody>
      </p:sp>
      <p:pic>
        <p:nvPicPr>
          <p:cNvPr id="7" name="Picture 6"/>
          <p:cNvPicPr>
            <a:picLocks noChangeAspect="1"/>
          </p:cNvPicPr>
          <p:nvPr userDrawn="1"/>
        </p:nvPicPr>
        <p:blipFill>
          <a:blip r:embed="rId2"/>
          <a:stretch>
            <a:fillRect/>
          </a:stretch>
        </p:blipFill>
        <p:spPr>
          <a:xfrm>
            <a:off x="9191579" y="92974"/>
            <a:ext cx="2926334" cy="780356"/>
          </a:xfrm>
          <a:prstGeom prst="rect">
            <a:avLst/>
          </a:prstGeom>
        </p:spPr>
      </p:pic>
    </p:spTree>
    <p:extLst>
      <p:ext uri="{BB962C8B-B14F-4D97-AF65-F5344CB8AC3E}">
        <p14:creationId xmlns:p14="http://schemas.microsoft.com/office/powerpoint/2010/main" val="246919078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4_Title and Content">
    <p:spTree>
      <p:nvGrpSpPr>
        <p:cNvPr id="1" name=""/>
        <p:cNvGrpSpPr/>
        <p:nvPr/>
      </p:nvGrpSpPr>
      <p:grpSpPr>
        <a:xfrm>
          <a:off x="0" y="0"/>
          <a:ext cx="0" cy="0"/>
          <a:chOff x="0" y="0"/>
          <a:chExt cx="0" cy="0"/>
        </a:xfrm>
      </p:grpSpPr>
      <p:sp>
        <p:nvSpPr>
          <p:cNvPr id="7" name="Rectangle 6"/>
          <p:cNvSpPr/>
          <p:nvPr userDrawn="1"/>
        </p:nvSpPr>
        <p:spPr>
          <a:xfrm>
            <a:off x="0" y="0"/>
            <a:ext cx="12192000" cy="6858000"/>
          </a:xfrm>
          <a:prstGeom prst="rect">
            <a:avLst/>
          </a:prstGeom>
          <a:solidFill>
            <a:srgbClr val="421C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Roboto Slab"/>
              <a:ea typeface="+mn-ea"/>
              <a:cs typeface="+mn-cs"/>
            </a:endParaRPr>
          </a:p>
        </p:txBody>
      </p:sp>
      <p:sp>
        <p:nvSpPr>
          <p:cNvPr id="6" name="Rectangle 5"/>
          <p:cNvSpPr/>
          <p:nvPr userDrawn="1"/>
        </p:nvSpPr>
        <p:spPr>
          <a:xfrm>
            <a:off x="123825" y="138112"/>
            <a:ext cx="11944351" cy="65817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Roboto Slab"/>
              <a:ea typeface="+mn-ea"/>
              <a:cs typeface="+mn-cs"/>
            </a:endParaRPr>
          </a:p>
        </p:txBody>
      </p:sp>
      <p:cxnSp>
        <p:nvCxnSpPr>
          <p:cNvPr id="11" name="Straight Connector 10"/>
          <p:cNvCxnSpPr/>
          <p:nvPr userDrawn="1"/>
        </p:nvCxnSpPr>
        <p:spPr>
          <a:xfrm>
            <a:off x="403412" y="1049867"/>
            <a:ext cx="1136525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itle 1"/>
          <p:cNvSpPr>
            <a:spLocks noGrp="1"/>
          </p:cNvSpPr>
          <p:nvPr>
            <p:ph type="title"/>
          </p:nvPr>
        </p:nvSpPr>
        <p:spPr>
          <a:xfrm>
            <a:off x="3386667" y="379812"/>
            <a:ext cx="8382000" cy="670055"/>
          </a:xfrm>
        </p:spPr>
        <p:txBody>
          <a:bodyPr>
            <a:normAutofit/>
          </a:bodyPr>
          <a:lstStyle>
            <a:lvl1pPr algn="r">
              <a:defRPr sz="3600"/>
            </a:lvl1pPr>
          </a:lstStyle>
          <a:p>
            <a:r>
              <a:rPr lang="en-US" dirty="0"/>
              <a:t>Click to edit Master title style</a:t>
            </a:r>
          </a:p>
        </p:txBody>
      </p:sp>
    </p:spTree>
    <p:extLst>
      <p:ext uri="{BB962C8B-B14F-4D97-AF65-F5344CB8AC3E}">
        <p14:creationId xmlns:p14="http://schemas.microsoft.com/office/powerpoint/2010/main" val="48298791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34AC64-A4F1-1B8A-0AC6-4786A9B97B9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AB1F2B5-8413-5EB3-B83E-FB835710022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6D085EC-A9B6-5923-ED6D-895F6E8C457B}"/>
              </a:ext>
            </a:extLst>
          </p:cNvPr>
          <p:cNvSpPr>
            <a:spLocks noGrp="1"/>
          </p:cNvSpPr>
          <p:nvPr>
            <p:ph type="dt" sz="half" idx="10"/>
          </p:nvPr>
        </p:nvSpPr>
        <p:spPr/>
        <p:txBody>
          <a:bodyPr/>
          <a:lstStyle/>
          <a:p>
            <a:fld id="{A6B662C6-8A70-432E-A122-162871335AD1}" type="datetime3">
              <a:rPr lang="en-US" smtClean="0"/>
              <a:t>14 July 2026</a:t>
            </a:fld>
            <a:endParaRPr lang="en-IN"/>
          </a:p>
        </p:txBody>
      </p:sp>
      <p:sp>
        <p:nvSpPr>
          <p:cNvPr id="5" name="Footer Placeholder 4">
            <a:extLst>
              <a:ext uri="{FF2B5EF4-FFF2-40B4-BE49-F238E27FC236}">
                <a16:creationId xmlns:a16="http://schemas.microsoft.com/office/drawing/2014/main" id="{159C7944-D37B-7872-0157-363B93FA4199}"/>
              </a:ext>
            </a:extLst>
          </p:cNvPr>
          <p:cNvSpPr>
            <a:spLocks noGrp="1"/>
          </p:cNvSpPr>
          <p:nvPr>
            <p:ph type="ftr" sz="quarter" idx="11"/>
          </p:nvPr>
        </p:nvSpPr>
        <p:spPr/>
        <p:txBody>
          <a:bodyPr/>
          <a:lstStyle/>
          <a:p>
            <a:r>
              <a:rPr lang="en-US"/>
              <a:t>REVA Academy for Corporate Excellence – RACE | race.reva.edu.in</a:t>
            </a:r>
            <a:endParaRPr lang="en-IN"/>
          </a:p>
        </p:txBody>
      </p:sp>
      <p:sp>
        <p:nvSpPr>
          <p:cNvPr id="6" name="Slide Number Placeholder 5">
            <a:extLst>
              <a:ext uri="{FF2B5EF4-FFF2-40B4-BE49-F238E27FC236}">
                <a16:creationId xmlns:a16="http://schemas.microsoft.com/office/drawing/2014/main" id="{DF0B8F9D-BD9A-C814-1FC1-B509D2613E5A}"/>
              </a:ext>
            </a:extLst>
          </p:cNvPr>
          <p:cNvSpPr>
            <a:spLocks noGrp="1"/>
          </p:cNvSpPr>
          <p:nvPr>
            <p:ph type="sldNum" sz="quarter" idx="12"/>
          </p:nvPr>
        </p:nvSpPr>
        <p:spPr/>
        <p:txBody>
          <a:bodyPr/>
          <a:lstStyle/>
          <a:p>
            <a:fld id="{7F57AB3F-FF13-4C22-A1FE-9E11B92D325E}" type="slidenum">
              <a:rPr lang="en-IN" smtClean="0"/>
              <a:t>‹#›</a:t>
            </a:fld>
            <a:endParaRPr lang="en-IN"/>
          </a:p>
        </p:txBody>
      </p:sp>
    </p:spTree>
    <p:extLst>
      <p:ext uri="{BB962C8B-B14F-4D97-AF65-F5344CB8AC3E}">
        <p14:creationId xmlns:p14="http://schemas.microsoft.com/office/powerpoint/2010/main" val="288467564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F3B3BE-F57D-DA7E-5851-6DA98294F56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9F319E7-1597-B027-1498-94C3B6A0959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396EB0F-2E52-724D-9781-0E75933C503B}"/>
              </a:ext>
            </a:extLst>
          </p:cNvPr>
          <p:cNvSpPr>
            <a:spLocks noGrp="1"/>
          </p:cNvSpPr>
          <p:nvPr>
            <p:ph type="dt" sz="half" idx="10"/>
          </p:nvPr>
        </p:nvSpPr>
        <p:spPr/>
        <p:txBody>
          <a:bodyPr/>
          <a:lstStyle/>
          <a:p>
            <a:fld id="{535C51BE-ECC1-48F5-8723-A0461878BE14}" type="datetime3">
              <a:rPr lang="en-US" smtClean="0"/>
              <a:t>14 July 2026</a:t>
            </a:fld>
            <a:endParaRPr lang="en-IN"/>
          </a:p>
        </p:txBody>
      </p:sp>
      <p:sp>
        <p:nvSpPr>
          <p:cNvPr id="5" name="Footer Placeholder 4">
            <a:extLst>
              <a:ext uri="{FF2B5EF4-FFF2-40B4-BE49-F238E27FC236}">
                <a16:creationId xmlns:a16="http://schemas.microsoft.com/office/drawing/2014/main" id="{C8774792-13F4-3FF3-4F7A-8EED062BA5DC}"/>
              </a:ext>
            </a:extLst>
          </p:cNvPr>
          <p:cNvSpPr>
            <a:spLocks noGrp="1"/>
          </p:cNvSpPr>
          <p:nvPr>
            <p:ph type="ftr" sz="quarter" idx="11"/>
          </p:nvPr>
        </p:nvSpPr>
        <p:spPr/>
        <p:txBody>
          <a:bodyPr/>
          <a:lstStyle/>
          <a:p>
            <a:r>
              <a:rPr lang="en-US"/>
              <a:t>REVA Academy for Corporate Excellence – RACE | race.reva.edu.in</a:t>
            </a:r>
            <a:endParaRPr lang="en-IN"/>
          </a:p>
        </p:txBody>
      </p:sp>
      <p:sp>
        <p:nvSpPr>
          <p:cNvPr id="6" name="Slide Number Placeholder 5">
            <a:extLst>
              <a:ext uri="{FF2B5EF4-FFF2-40B4-BE49-F238E27FC236}">
                <a16:creationId xmlns:a16="http://schemas.microsoft.com/office/drawing/2014/main" id="{88960C60-0F54-2F6B-2CEE-9E0E0156D928}"/>
              </a:ext>
            </a:extLst>
          </p:cNvPr>
          <p:cNvSpPr>
            <a:spLocks noGrp="1"/>
          </p:cNvSpPr>
          <p:nvPr>
            <p:ph type="sldNum" sz="quarter" idx="12"/>
          </p:nvPr>
        </p:nvSpPr>
        <p:spPr/>
        <p:txBody>
          <a:bodyPr/>
          <a:lstStyle/>
          <a:p>
            <a:fld id="{7F57AB3F-FF13-4C22-A1FE-9E11B92D325E}" type="slidenum">
              <a:rPr lang="en-IN" smtClean="0"/>
              <a:t>‹#›</a:t>
            </a:fld>
            <a:endParaRPr lang="en-IN"/>
          </a:p>
        </p:txBody>
      </p:sp>
    </p:spTree>
    <p:extLst>
      <p:ext uri="{BB962C8B-B14F-4D97-AF65-F5344CB8AC3E}">
        <p14:creationId xmlns:p14="http://schemas.microsoft.com/office/powerpoint/2010/main" val="250025951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D0984D-EBB1-09FC-80CF-76E77B02C52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D724C25-3780-0A64-BC51-7E73C81F5B7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8554AC3-B0FD-3951-035E-D08C4C90D8DF}"/>
              </a:ext>
            </a:extLst>
          </p:cNvPr>
          <p:cNvSpPr>
            <a:spLocks noGrp="1"/>
          </p:cNvSpPr>
          <p:nvPr>
            <p:ph type="dt" sz="half" idx="10"/>
          </p:nvPr>
        </p:nvSpPr>
        <p:spPr/>
        <p:txBody>
          <a:bodyPr/>
          <a:lstStyle/>
          <a:p>
            <a:fld id="{76238A72-2DDC-4F0C-A767-031A00DA58F0}" type="datetime3">
              <a:rPr lang="en-US" smtClean="0"/>
              <a:t>14 July 2026</a:t>
            </a:fld>
            <a:endParaRPr lang="en-IN"/>
          </a:p>
        </p:txBody>
      </p:sp>
      <p:sp>
        <p:nvSpPr>
          <p:cNvPr id="5" name="Footer Placeholder 4">
            <a:extLst>
              <a:ext uri="{FF2B5EF4-FFF2-40B4-BE49-F238E27FC236}">
                <a16:creationId xmlns:a16="http://schemas.microsoft.com/office/drawing/2014/main" id="{2322F70A-B226-43F3-56D5-B4DDFE43065A}"/>
              </a:ext>
            </a:extLst>
          </p:cNvPr>
          <p:cNvSpPr>
            <a:spLocks noGrp="1"/>
          </p:cNvSpPr>
          <p:nvPr>
            <p:ph type="ftr" sz="quarter" idx="11"/>
          </p:nvPr>
        </p:nvSpPr>
        <p:spPr/>
        <p:txBody>
          <a:bodyPr/>
          <a:lstStyle/>
          <a:p>
            <a:r>
              <a:rPr lang="en-US"/>
              <a:t>REVA Academy for Corporate Excellence – RACE | race.reva.edu.in</a:t>
            </a:r>
            <a:endParaRPr lang="en-IN"/>
          </a:p>
        </p:txBody>
      </p:sp>
      <p:sp>
        <p:nvSpPr>
          <p:cNvPr id="6" name="Slide Number Placeholder 5">
            <a:extLst>
              <a:ext uri="{FF2B5EF4-FFF2-40B4-BE49-F238E27FC236}">
                <a16:creationId xmlns:a16="http://schemas.microsoft.com/office/drawing/2014/main" id="{043E0301-4A22-9AA8-709D-332E1C901F53}"/>
              </a:ext>
            </a:extLst>
          </p:cNvPr>
          <p:cNvSpPr>
            <a:spLocks noGrp="1"/>
          </p:cNvSpPr>
          <p:nvPr>
            <p:ph type="sldNum" sz="quarter" idx="12"/>
          </p:nvPr>
        </p:nvSpPr>
        <p:spPr/>
        <p:txBody>
          <a:bodyPr/>
          <a:lstStyle/>
          <a:p>
            <a:fld id="{7F57AB3F-FF13-4C22-A1FE-9E11B92D325E}" type="slidenum">
              <a:rPr lang="en-IN" smtClean="0"/>
              <a:t>‹#›</a:t>
            </a:fld>
            <a:endParaRPr lang="en-IN"/>
          </a:p>
        </p:txBody>
      </p:sp>
    </p:spTree>
    <p:extLst>
      <p:ext uri="{BB962C8B-B14F-4D97-AF65-F5344CB8AC3E}">
        <p14:creationId xmlns:p14="http://schemas.microsoft.com/office/powerpoint/2010/main" val="297226451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3B3474-1720-0F74-B17B-E84FC50CA5F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8015A8F-9597-F873-5200-2938A5DCD8B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132D42FB-4CF6-A56B-4859-4B6AFA30047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A327CD2-F085-A433-6B21-C4760E9C0DA0}"/>
              </a:ext>
            </a:extLst>
          </p:cNvPr>
          <p:cNvSpPr>
            <a:spLocks noGrp="1"/>
          </p:cNvSpPr>
          <p:nvPr>
            <p:ph type="dt" sz="half" idx="10"/>
          </p:nvPr>
        </p:nvSpPr>
        <p:spPr/>
        <p:txBody>
          <a:bodyPr/>
          <a:lstStyle/>
          <a:p>
            <a:fld id="{2366CC46-76C0-4E18-84BB-05A13C50C19C}" type="datetime3">
              <a:rPr lang="en-US" smtClean="0"/>
              <a:t>14 July 2026</a:t>
            </a:fld>
            <a:endParaRPr lang="en-IN"/>
          </a:p>
        </p:txBody>
      </p:sp>
      <p:sp>
        <p:nvSpPr>
          <p:cNvPr id="6" name="Footer Placeholder 5">
            <a:extLst>
              <a:ext uri="{FF2B5EF4-FFF2-40B4-BE49-F238E27FC236}">
                <a16:creationId xmlns:a16="http://schemas.microsoft.com/office/drawing/2014/main" id="{271470E5-5BAD-34BF-D5D7-3563FEF90C22}"/>
              </a:ext>
            </a:extLst>
          </p:cNvPr>
          <p:cNvSpPr>
            <a:spLocks noGrp="1"/>
          </p:cNvSpPr>
          <p:nvPr>
            <p:ph type="ftr" sz="quarter" idx="11"/>
          </p:nvPr>
        </p:nvSpPr>
        <p:spPr/>
        <p:txBody>
          <a:bodyPr/>
          <a:lstStyle/>
          <a:p>
            <a:r>
              <a:rPr lang="en-US"/>
              <a:t>REVA Academy for Corporate Excellence – RACE | race.reva.edu.in</a:t>
            </a:r>
            <a:endParaRPr lang="en-IN"/>
          </a:p>
        </p:txBody>
      </p:sp>
      <p:sp>
        <p:nvSpPr>
          <p:cNvPr id="7" name="Slide Number Placeholder 6">
            <a:extLst>
              <a:ext uri="{FF2B5EF4-FFF2-40B4-BE49-F238E27FC236}">
                <a16:creationId xmlns:a16="http://schemas.microsoft.com/office/drawing/2014/main" id="{4F0492B8-D262-2FDF-B614-AB43A7AE82CD}"/>
              </a:ext>
            </a:extLst>
          </p:cNvPr>
          <p:cNvSpPr>
            <a:spLocks noGrp="1"/>
          </p:cNvSpPr>
          <p:nvPr>
            <p:ph type="sldNum" sz="quarter" idx="12"/>
          </p:nvPr>
        </p:nvSpPr>
        <p:spPr/>
        <p:txBody>
          <a:bodyPr/>
          <a:lstStyle/>
          <a:p>
            <a:fld id="{7F57AB3F-FF13-4C22-A1FE-9E11B92D325E}" type="slidenum">
              <a:rPr lang="en-IN" smtClean="0"/>
              <a:t>‹#›</a:t>
            </a:fld>
            <a:endParaRPr lang="en-IN"/>
          </a:p>
        </p:txBody>
      </p:sp>
    </p:spTree>
    <p:extLst>
      <p:ext uri="{BB962C8B-B14F-4D97-AF65-F5344CB8AC3E}">
        <p14:creationId xmlns:p14="http://schemas.microsoft.com/office/powerpoint/2010/main" val="263639483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41B646-8096-67E5-4529-BDB03D9A388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BAAAA4A-47B0-B186-D66C-512D48A550B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62F622B-39F0-438B-DE66-A663E1714D4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2C4984E-0678-0232-E59D-C531B6EB179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A3725E2-31E5-81AE-22CD-2CF48F4BCB1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EB4A57D5-B59F-AA5C-531D-FDF65C1009DA}"/>
              </a:ext>
            </a:extLst>
          </p:cNvPr>
          <p:cNvSpPr>
            <a:spLocks noGrp="1"/>
          </p:cNvSpPr>
          <p:nvPr>
            <p:ph type="dt" sz="half" idx="10"/>
          </p:nvPr>
        </p:nvSpPr>
        <p:spPr/>
        <p:txBody>
          <a:bodyPr/>
          <a:lstStyle/>
          <a:p>
            <a:fld id="{B83DFB99-E076-4686-8771-D9C9ED280317}" type="datetime3">
              <a:rPr lang="en-US" smtClean="0"/>
              <a:t>14 July 2026</a:t>
            </a:fld>
            <a:endParaRPr lang="en-IN"/>
          </a:p>
        </p:txBody>
      </p:sp>
      <p:sp>
        <p:nvSpPr>
          <p:cNvPr id="8" name="Footer Placeholder 7">
            <a:extLst>
              <a:ext uri="{FF2B5EF4-FFF2-40B4-BE49-F238E27FC236}">
                <a16:creationId xmlns:a16="http://schemas.microsoft.com/office/drawing/2014/main" id="{08848A68-6C29-6841-3EA0-D24768818D93}"/>
              </a:ext>
            </a:extLst>
          </p:cNvPr>
          <p:cNvSpPr>
            <a:spLocks noGrp="1"/>
          </p:cNvSpPr>
          <p:nvPr>
            <p:ph type="ftr" sz="quarter" idx="11"/>
          </p:nvPr>
        </p:nvSpPr>
        <p:spPr/>
        <p:txBody>
          <a:bodyPr/>
          <a:lstStyle/>
          <a:p>
            <a:r>
              <a:rPr lang="en-US"/>
              <a:t>REVA Academy for Corporate Excellence – RACE | race.reva.edu.in</a:t>
            </a:r>
            <a:endParaRPr lang="en-IN"/>
          </a:p>
        </p:txBody>
      </p:sp>
      <p:sp>
        <p:nvSpPr>
          <p:cNvPr id="9" name="Slide Number Placeholder 8">
            <a:extLst>
              <a:ext uri="{FF2B5EF4-FFF2-40B4-BE49-F238E27FC236}">
                <a16:creationId xmlns:a16="http://schemas.microsoft.com/office/drawing/2014/main" id="{772F046F-B9C5-2135-5E78-55B99B64A148}"/>
              </a:ext>
            </a:extLst>
          </p:cNvPr>
          <p:cNvSpPr>
            <a:spLocks noGrp="1"/>
          </p:cNvSpPr>
          <p:nvPr>
            <p:ph type="sldNum" sz="quarter" idx="12"/>
          </p:nvPr>
        </p:nvSpPr>
        <p:spPr/>
        <p:txBody>
          <a:bodyPr/>
          <a:lstStyle/>
          <a:p>
            <a:fld id="{7F57AB3F-FF13-4C22-A1FE-9E11B92D325E}" type="slidenum">
              <a:rPr lang="en-IN" smtClean="0"/>
              <a:t>‹#›</a:t>
            </a:fld>
            <a:endParaRPr lang="en-IN"/>
          </a:p>
        </p:txBody>
      </p:sp>
    </p:spTree>
    <p:extLst>
      <p:ext uri="{BB962C8B-B14F-4D97-AF65-F5344CB8AC3E}">
        <p14:creationId xmlns:p14="http://schemas.microsoft.com/office/powerpoint/2010/main" val="334087388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1212CE-8E63-DE47-926A-2806046A57F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C88DACC-A9CF-25B8-FADB-EF71DAB09B5D}"/>
              </a:ext>
            </a:extLst>
          </p:cNvPr>
          <p:cNvSpPr>
            <a:spLocks noGrp="1"/>
          </p:cNvSpPr>
          <p:nvPr>
            <p:ph type="dt" sz="half" idx="10"/>
          </p:nvPr>
        </p:nvSpPr>
        <p:spPr/>
        <p:txBody>
          <a:bodyPr/>
          <a:lstStyle/>
          <a:p>
            <a:fld id="{133C4A86-EE5E-430A-B201-DD153C1D7118}" type="datetime3">
              <a:rPr lang="en-US" smtClean="0"/>
              <a:t>14 July 2026</a:t>
            </a:fld>
            <a:endParaRPr lang="en-IN"/>
          </a:p>
        </p:txBody>
      </p:sp>
      <p:sp>
        <p:nvSpPr>
          <p:cNvPr id="4" name="Footer Placeholder 3">
            <a:extLst>
              <a:ext uri="{FF2B5EF4-FFF2-40B4-BE49-F238E27FC236}">
                <a16:creationId xmlns:a16="http://schemas.microsoft.com/office/drawing/2014/main" id="{F0E3D948-3FD6-54EB-FA88-0A79DFDE04C2}"/>
              </a:ext>
            </a:extLst>
          </p:cNvPr>
          <p:cNvSpPr>
            <a:spLocks noGrp="1"/>
          </p:cNvSpPr>
          <p:nvPr>
            <p:ph type="ftr" sz="quarter" idx="11"/>
          </p:nvPr>
        </p:nvSpPr>
        <p:spPr/>
        <p:txBody>
          <a:bodyPr/>
          <a:lstStyle/>
          <a:p>
            <a:r>
              <a:rPr lang="en-US"/>
              <a:t>REVA Academy for Corporate Excellence – RACE | race.reva.edu.in</a:t>
            </a:r>
            <a:endParaRPr lang="en-IN"/>
          </a:p>
        </p:txBody>
      </p:sp>
      <p:sp>
        <p:nvSpPr>
          <p:cNvPr id="5" name="Slide Number Placeholder 4">
            <a:extLst>
              <a:ext uri="{FF2B5EF4-FFF2-40B4-BE49-F238E27FC236}">
                <a16:creationId xmlns:a16="http://schemas.microsoft.com/office/drawing/2014/main" id="{7B42A27F-E85E-D7BE-820F-5D7F4EA3A5D6}"/>
              </a:ext>
            </a:extLst>
          </p:cNvPr>
          <p:cNvSpPr>
            <a:spLocks noGrp="1"/>
          </p:cNvSpPr>
          <p:nvPr>
            <p:ph type="sldNum" sz="quarter" idx="12"/>
          </p:nvPr>
        </p:nvSpPr>
        <p:spPr/>
        <p:txBody>
          <a:bodyPr/>
          <a:lstStyle/>
          <a:p>
            <a:fld id="{7F57AB3F-FF13-4C22-A1FE-9E11B92D325E}" type="slidenum">
              <a:rPr lang="en-IN" smtClean="0"/>
              <a:t>‹#›</a:t>
            </a:fld>
            <a:endParaRPr lang="en-IN"/>
          </a:p>
        </p:txBody>
      </p:sp>
    </p:spTree>
    <p:extLst>
      <p:ext uri="{BB962C8B-B14F-4D97-AF65-F5344CB8AC3E}">
        <p14:creationId xmlns:p14="http://schemas.microsoft.com/office/powerpoint/2010/main" val="232871772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FC4A645-4076-0DD1-F21F-7DA2E7DBEC8E}"/>
              </a:ext>
            </a:extLst>
          </p:cNvPr>
          <p:cNvSpPr>
            <a:spLocks noGrp="1"/>
          </p:cNvSpPr>
          <p:nvPr>
            <p:ph type="dt" sz="half" idx="10"/>
          </p:nvPr>
        </p:nvSpPr>
        <p:spPr/>
        <p:txBody>
          <a:bodyPr/>
          <a:lstStyle/>
          <a:p>
            <a:fld id="{BA0F3B7A-C703-449C-9BCB-CEBE69179CE9}" type="datetime3">
              <a:rPr lang="en-US" smtClean="0"/>
              <a:t>14 July 2026</a:t>
            </a:fld>
            <a:endParaRPr lang="en-IN"/>
          </a:p>
        </p:txBody>
      </p:sp>
      <p:sp>
        <p:nvSpPr>
          <p:cNvPr id="3" name="Footer Placeholder 2">
            <a:extLst>
              <a:ext uri="{FF2B5EF4-FFF2-40B4-BE49-F238E27FC236}">
                <a16:creationId xmlns:a16="http://schemas.microsoft.com/office/drawing/2014/main" id="{8C396299-65B8-236C-5185-326DF6281CE8}"/>
              </a:ext>
            </a:extLst>
          </p:cNvPr>
          <p:cNvSpPr>
            <a:spLocks noGrp="1"/>
          </p:cNvSpPr>
          <p:nvPr>
            <p:ph type="ftr" sz="quarter" idx="11"/>
          </p:nvPr>
        </p:nvSpPr>
        <p:spPr/>
        <p:txBody>
          <a:bodyPr/>
          <a:lstStyle/>
          <a:p>
            <a:r>
              <a:rPr lang="en-US"/>
              <a:t>REVA Academy for Corporate Excellence – RACE | race.reva.edu.in</a:t>
            </a:r>
            <a:endParaRPr lang="en-IN"/>
          </a:p>
        </p:txBody>
      </p:sp>
      <p:sp>
        <p:nvSpPr>
          <p:cNvPr id="4" name="Slide Number Placeholder 3">
            <a:extLst>
              <a:ext uri="{FF2B5EF4-FFF2-40B4-BE49-F238E27FC236}">
                <a16:creationId xmlns:a16="http://schemas.microsoft.com/office/drawing/2014/main" id="{D82C14A8-2899-01EE-55FF-D21207C4938D}"/>
              </a:ext>
            </a:extLst>
          </p:cNvPr>
          <p:cNvSpPr>
            <a:spLocks noGrp="1"/>
          </p:cNvSpPr>
          <p:nvPr>
            <p:ph type="sldNum" sz="quarter" idx="12"/>
          </p:nvPr>
        </p:nvSpPr>
        <p:spPr/>
        <p:txBody>
          <a:bodyPr/>
          <a:lstStyle/>
          <a:p>
            <a:fld id="{7F57AB3F-FF13-4C22-A1FE-9E11B92D325E}" type="slidenum">
              <a:rPr lang="en-IN" smtClean="0"/>
              <a:t>‹#›</a:t>
            </a:fld>
            <a:endParaRPr lang="en-IN"/>
          </a:p>
        </p:txBody>
      </p:sp>
    </p:spTree>
    <p:extLst>
      <p:ext uri="{BB962C8B-B14F-4D97-AF65-F5344CB8AC3E}">
        <p14:creationId xmlns:p14="http://schemas.microsoft.com/office/powerpoint/2010/main" val="164067661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E489C4-3A76-6231-0EB8-B7C0DF9B012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D70766E-B614-6E76-EE88-55095546DC8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0F98D78-1D4B-6D37-81ED-B8EA6096940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B49C743-95E7-DA77-7E6B-91D4BDC2902D}"/>
              </a:ext>
            </a:extLst>
          </p:cNvPr>
          <p:cNvSpPr>
            <a:spLocks noGrp="1"/>
          </p:cNvSpPr>
          <p:nvPr>
            <p:ph type="dt" sz="half" idx="10"/>
          </p:nvPr>
        </p:nvSpPr>
        <p:spPr/>
        <p:txBody>
          <a:bodyPr/>
          <a:lstStyle/>
          <a:p>
            <a:fld id="{DA96A2E3-21D6-49A4-B7BE-5081A6C2E030}" type="datetime3">
              <a:rPr lang="en-US" smtClean="0"/>
              <a:t>14 July 2026</a:t>
            </a:fld>
            <a:endParaRPr lang="en-IN"/>
          </a:p>
        </p:txBody>
      </p:sp>
      <p:sp>
        <p:nvSpPr>
          <p:cNvPr id="6" name="Footer Placeholder 5">
            <a:extLst>
              <a:ext uri="{FF2B5EF4-FFF2-40B4-BE49-F238E27FC236}">
                <a16:creationId xmlns:a16="http://schemas.microsoft.com/office/drawing/2014/main" id="{2B7D41F0-E639-1C42-61E6-67955F562A96}"/>
              </a:ext>
            </a:extLst>
          </p:cNvPr>
          <p:cNvSpPr>
            <a:spLocks noGrp="1"/>
          </p:cNvSpPr>
          <p:nvPr>
            <p:ph type="ftr" sz="quarter" idx="11"/>
          </p:nvPr>
        </p:nvSpPr>
        <p:spPr/>
        <p:txBody>
          <a:bodyPr/>
          <a:lstStyle/>
          <a:p>
            <a:r>
              <a:rPr lang="en-US"/>
              <a:t>REVA Academy for Corporate Excellence – RACE | race.reva.edu.in</a:t>
            </a:r>
            <a:endParaRPr lang="en-IN"/>
          </a:p>
        </p:txBody>
      </p:sp>
      <p:sp>
        <p:nvSpPr>
          <p:cNvPr id="7" name="Slide Number Placeholder 6">
            <a:extLst>
              <a:ext uri="{FF2B5EF4-FFF2-40B4-BE49-F238E27FC236}">
                <a16:creationId xmlns:a16="http://schemas.microsoft.com/office/drawing/2014/main" id="{C22EF771-7E4C-27D5-A567-4DF5D5BF6DAE}"/>
              </a:ext>
            </a:extLst>
          </p:cNvPr>
          <p:cNvSpPr>
            <a:spLocks noGrp="1"/>
          </p:cNvSpPr>
          <p:nvPr>
            <p:ph type="sldNum" sz="quarter" idx="12"/>
          </p:nvPr>
        </p:nvSpPr>
        <p:spPr/>
        <p:txBody>
          <a:bodyPr/>
          <a:lstStyle/>
          <a:p>
            <a:fld id="{7F57AB3F-FF13-4C22-A1FE-9E11B92D325E}" type="slidenum">
              <a:rPr lang="en-IN" smtClean="0"/>
              <a:t>‹#›</a:t>
            </a:fld>
            <a:endParaRPr lang="en-IN"/>
          </a:p>
        </p:txBody>
      </p:sp>
    </p:spTree>
    <p:extLst>
      <p:ext uri="{BB962C8B-B14F-4D97-AF65-F5344CB8AC3E}">
        <p14:creationId xmlns:p14="http://schemas.microsoft.com/office/powerpoint/2010/main" val="120181105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A3586A-A7F3-4A9F-305E-21667DAD2E0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71AD13B-C499-3285-F0C2-B5D8500EB8E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3567E8D0-3A04-7DF5-1548-144A954F011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4F97146-77A6-BBD1-81B6-2FBA1D87B082}"/>
              </a:ext>
            </a:extLst>
          </p:cNvPr>
          <p:cNvSpPr>
            <a:spLocks noGrp="1"/>
          </p:cNvSpPr>
          <p:nvPr>
            <p:ph type="dt" sz="half" idx="10"/>
          </p:nvPr>
        </p:nvSpPr>
        <p:spPr/>
        <p:txBody>
          <a:bodyPr/>
          <a:lstStyle/>
          <a:p>
            <a:fld id="{693C6AB8-E909-429F-ABE1-7FDF375A8A24}" type="datetime3">
              <a:rPr lang="en-US" smtClean="0"/>
              <a:t>14 July 2026</a:t>
            </a:fld>
            <a:endParaRPr lang="en-IN"/>
          </a:p>
        </p:txBody>
      </p:sp>
      <p:sp>
        <p:nvSpPr>
          <p:cNvPr id="6" name="Footer Placeholder 5">
            <a:extLst>
              <a:ext uri="{FF2B5EF4-FFF2-40B4-BE49-F238E27FC236}">
                <a16:creationId xmlns:a16="http://schemas.microsoft.com/office/drawing/2014/main" id="{BAD01874-D9CC-80C3-6645-94CF4362A3CB}"/>
              </a:ext>
            </a:extLst>
          </p:cNvPr>
          <p:cNvSpPr>
            <a:spLocks noGrp="1"/>
          </p:cNvSpPr>
          <p:nvPr>
            <p:ph type="ftr" sz="quarter" idx="11"/>
          </p:nvPr>
        </p:nvSpPr>
        <p:spPr/>
        <p:txBody>
          <a:bodyPr/>
          <a:lstStyle/>
          <a:p>
            <a:r>
              <a:rPr lang="en-US"/>
              <a:t>REVA Academy for Corporate Excellence – RACE | race.reva.edu.in</a:t>
            </a:r>
            <a:endParaRPr lang="en-IN"/>
          </a:p>
        </p:txBody>
      </p:sp>
      <p:sp>
        <p:nvSpPr>
          <p:cNvPr id="7" name="Slide Number Placeholder 6">
            <a:extLst>
              <a:ext uri="{FF2B5EF4-FFF2-40B4-BE49-F238E27FC236}">
                <a16:creationId xmlns:a16="http://schemas.microsoft.com/office/drawing/2014/main" id="{05CACB1A-E2BD-5A9B-ACEB-ACE55378A27C}"/>
              </a:ext>
            </a:extLst>
          </p:cNvPr>
          <p:cNvSpPr>
            <a:spLocks noGrp="1"/>
          </p:cNvSpPr>
          <p:nvPr>
            <p:ph type="sldNum" sz="quarter" idx="12"/>
          </p:nvPr>
        </p:nvSpPr>
        <p:spPr/>
        <p:txBody>
          <a:bodyPr/>
          <a:lstStyle/>
          <a:p>
            <a:fld id="{7F57AB3F-FF13-4C22-A1FE-9E11B92D325E}" type="slidenum">
              <a:rPr lang="en-IN" smtClean="0"/>
              <a:t>‹#›</a:t>
            </a:fld>
            <a:endParaRPr lang="en-IN"/>
          </a:p>
        </p:txBody>
      </p:sp>
    </p:spTree>
    <p:extLst>
      <p:ext uri="{BB962C8B-B14F-4D97-AF65-F5344CB8AC3E}">
        <p14:creationId xmlns:p14="http://schemas.microsoft.com/office/powerpoint/2010/main" val="202335194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E948CF-E4AA-AE25-988E-9AF6DED051C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3AE07B0-B5FB-7F01-D1C7-8FD401701FB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2CF934E-37C1-DF05-2785-927F20E5C83A}"/>
              </a:ext>
            </a:extLst>
          </p:cNvPr>
          <p:cNvSpPr>
            <a:spLocks noGrp="1"/>
          </p:cNvSpPr>
          <p:nvPr>
            <p:ph type="dt" sz="half" idx="10"/>
          </p:nvPr>
        </p:nvSpPr>
        <p:spPr/>
        <p:txBody>
          <a:bodyPr/>
          <a:lstStyle/>
          <a:p>
            <a:fld id="{5E53A0AB-A797-49F1-91CA-409B68B2BAD3}" type="datetime3">
              <a:rPr lang="en-US" smtClean="0"/>
              <a:t>14 July 2026</a:t>
            </a:fld>
            <a:endParaRPr lang="en-IN"/>
          </a:p>
        </p:txBody>
      </p:sp>
      <p:sp>
        <p:nvSpPr>
          <p:cNvPr id="5" name="Footer Placeholder 4">
            <a:extLst>
              <a:ext uri="{FF2B5EF4-FFF2-40B4-BE49-F238E27FC236}">
                <a16:creationId xmlns:a16="http://schemas.microsoft.com/office/drawing/2014/main" id="{2186E886-8046-0491-18E0-C7DA49967E7F}"/>
              </a:ext>
            </a:extLst>
          </p:cNvPr>
          <p:cNvSpPr>
            <a:spLocks noGrp="1"/>
          </p:cNvSpPr>
          <p:nvPr>
            <p:ph type="ftr" sz="quarter" idx="11"/>
          </p:nvPr>
        </p:nvSpPr>
        <p:spPr/>
        <p:txBody>
          <a:bodyPr/>
          <a:lstStyle/>
          <a:p>
            <a:r>
              <a:rPr lang="en-US"/>
              <a:t>REVA Academy for Corporate Excellence – RACE | race.reva.edu.in</a:t>
            </a:r>
            <a:endParaRPr lang="en-IN"/>
          </a:p>
        </p:txBody>
      </p:sp>
      <p:sp>
        <p:nvSpPr>
          <p:cNvPr id="6" name="Slide Number Placeholder 5">
            <a:extLst>
              <a:ext uri="{FF2B5EF4-FFF2-40B4-BE49-F238E27FC236}">
                <a16:creationId xmlns:a16="http://schemas.microsoft.com/office/drawing/2014/main" id="{17AE8017-6C16-A82D-097D-828555708C9A}"/>
              </a:ext>
            </a:extLst>
          </p:cNvPr>
          <p:cNvSpPr>
            <a:spLocks noGrp="1"/>
          </p:cNvSpPr>
          <p:nvPr>
            <p:ph type="sldNum" sz="quarter" idx="12"/>
          </p:nvPr>
        </p:nvSpPr>
        <p:spPr/>
        <p:txBody>
          <a:bodyPr/>
          <a:lstStyle/>
          <a:p>
            <a:fld id="{7F57AB3F-FF13-4C22-A1FE-9E11B92D325E}" type="slidenum">
              <a:rPr lang="en-IN" smtClean="0"/>
              <a:t>‹#›</a:t>
            </a:fld>
            <a:endParaRPr lang="en-IN"/>
          </a:p>
        </p:txBody>
      </p:sp>
    </p:spTree>
    <p:extLst>
      <p:ext uri="{BB962C8B-B14F-4D97-AF65-F5344CB8AC3E}">
        <p14:creationId xmlns:p14="http://schemas.microsoft.com/office/powerpoint/2010/main" val="366483739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32A64DB-7E8E-77AA-AABA-01287D38E89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CE38464-7BCC-168D-22E1-3396237C3F4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2CF9B8F-0D16-DFC3-1252-12480851D0A4}"/>
              </a:ext>
            </a:extLst>
          </p:cNvPr>
          <p:cNvSpPr>
            <a:spLocks noGrp="1"/>
          </p:cNvSpPr>
          <p:nvPr>
            <p:ph type="dt" sz="half" idx="10"/>
          </p:nvPr>
        </p:nvSpPr>
        <p:spPr/>
        <p:txBody>
          <a:bodyPr/>
          <a:lstStyle/>
          <a:p>
            <a:fld id="{4DAD4285-B41F-4602-8FE6-74B6B1A68E7C}" type="datetime3">
              <a:rPr lang="en-US" smtClean="0"/>
              <a:t>14 July 2026</a:t>
            </a:fld>
            <a:endParaRPr lang="en-IN"/>
          </a:p>
        </p:txBody>
      </p:sp>
      <p:sp>
        <p:nvSpPr>
          <p:cNvPr id="5" name="Footer Placeholder 4">
            <a:extLst>
              <a:ext uri="{FF2B5EF4-FFF2-40B4-BE49-F238E27FC236}">
                <a16:creationId xmlns:a16="http://schemas.microsoft.com/office/drawing/2014/main" id="{5331CA6E-6281-CC49-2B16-DD159250C466}"/>
              </a:ext>
            </a:extLst>
          </p:cNvPr>
          <p:cNvSpPr>
            <a:spLocks noGrp="1"/>
          </p:cNvSpPr>
          <p:nvPr>
            <p:ph type="ftr" sz="quarter" idx="11"/>
          </p:nvPr>
        </p:nvSpPr>
        <p:spPr/>
        <p:txBody>
          <a:bodyPr/>
          <a:lstStyle/>
          <a:p>
            <a:r>
              <a:rPr lang="en-US"/>
              <a:t>REVA Academy for Corporate Excellence – RACE | race.reva.edu.in</a:t>
            </a:r>
            <a:endParaRPr lang="en-IN"/>
          </a:p>
        </p:txBody>
      </p:sp>
      <p:sp>
        <p:nvSpPr>
          <p:cNvPr id="6" name="Slide Number Placeholder 5">
            <a:extLst>
              <a:ext uri="{FF2B5EF4-FFF2-40B4-BE49-F238E27FC236}">
                <a16:creationId xmlns:a16="http://schemas.microsoft.com/office/drawing/2014/main" id="{EDB0E7C1-2CA7-5D69-31E0-2E3ED2E15554}"/>
              </a:ext>
            </a:extLst>
          </p:cNvPr>
          <p:cNvSpPr>
            <a:spLocks noGrp="1"/>
          </p:cNvSpPr>
          <p:nvPr>
            <p:ph type="sldNum" sz="quarter" idx="12"/>
          </p:nvPr>
        </p:nvSpPr>
        <p:spPr/>
        <p:txBody>
          <a:bodyPr/>
          <a:lstStyle/>
          <a:p>
            <a:fld id="{7F57AB3F-FF13-4C22-A1FE-9E11B92D325E}" type="slidenum">
              <a:rPr lang="en-IN" smtClean="0"/>
              <a:t>‹#›</a:t>
            </a:fld>
            <a:endParaRPr lang="en-IN"/>
          </a:p>
        </p:txBody>
      </p:sp>
    </p:spTree>
    <p:extLst>
      <p:ext uri="{BB962C8B-B14F-4D97-AF65-F5344CB8AC3E}">
        <p14:creationId xmlns:p14="http://schemas.microsoft.com/office/powerpoint/2010/main" val="66570718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2_01" preserve="1" userDrawn="1">
  <p:cSld name="2_01">
    <p:spTree>
      <p:nvGrpSpPr>
        <p:cNvPr id="1" name="Shape 12"/>
        <p:cNvGrpSpPr/>
        <p:nvPr/>
      </p:nvGrpSpPr>
      <p:grpSpPr>
        <a:xfrm>
          <a:off x="0" y="0"/>
          <a:ext cx="0" cy="0"/>
          <a:chOff x="0" y="0"/>
          <a:chExt cx="0" cy="0"/>
        </a:xfrm>
      </p:grpSpPr>
      <p:cxnSp>
        <p:nvCxnSpPr>
          <p:cNvPr id="12" name="Straight Connector 11"/>
          <p:cNvCxnSpPr/>
          <p:nvPr userDrawn="1"/>
        </p:nvCxnSpPr>
        <p:spPr>
          <a:xfrm>
            <a:off x="197815" y="1166622"/>
            <a:ext cx="1179637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p:cNvSpPr txBox="1"/>
          <p:nvPr userDrawn="1"/>
        </p:nvSpPr>
        <p:spPr>
          <a:xfrm>
            <a:off x="5514882" y="393267"/>
            <a:ext cx="6479305" cy="492443"/>
          </a:xfrm>
          <a:prstGeom prst="rect">
            <a:avLst/>
          </a:prstGeom>
          <a:noFill/>
        </p:spPr>
        <p:txBody>
          <a:bodyPr wrap="square" rtlCol="0">
            <a:spAutoFit/>
          </a:bodyPr>
          <a:lstStyle/>
          <a:p>
            <a:pPr algn="r"/>
            <a:r>
              <a:rPr lang="en-IN" sz="1400" dirty="0">
                <a:latin typeface="+mj-lt"/>
              </a:rPr>
              <a:t>REVA Academy</a:t>
            </a:r>
            <a:r>
              <a:rPr lang="en-IN" sz="1400" baseline="0" dirty="0">
                <a:latin typeface="+mj-lt"/>
              </a:rPr>
              <a:t> for Corporate Excellence</a:t>
            </a:r>
          </a:p>
          <a:p>
            <a:pPr algn="r"/>
            <a:r>
              <a:rPr lang="en-IN" sz="1200" baseline="0" dirty="0">
                <a:latin typeface="+mj-lt"/>
              </a:rPr>
              <a:t>www.race.reva.edu.in </a:t>
            </a:r>
            <a:endParaRPr lang="en-IN" sz="1200" dirty="0">
              <a:latin typeface="+mj-lt"/>
            </a:endParaRPr>
          </a:p>
        </p:txBody>
      </p:sp>
      <p:pic>
        <p:nvPicPr>
          <p:cNvPr id="4" name="Picture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97815" y="143294"/>
            <a:ext cx="2444405" cy="946221"/>
          </a:xfrm>
          <a:prstGeom prst="rect">
            <a:avLst/>
          </a:prstGeom>
        </p:spPr>
      </p:pic>
    </p:spTree>
    <p:extLst>
      <p:ext uri="{BB962C8B-B14F-4D97-AF65-F5344CB8AC3E}">
        <p14:creationId xmlns:p14="http://schemas.microsoft.com/office/powerpoint/2010/main" val="159912855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Arial" panose="020B0604020202020204" pitchFamily="34" charset="0"/>
                <a:cs typeface="Arial" panose="020B0604020202020204" pitchFamily="34" charset="0"/>
              </a:defRPr>
            </a:lvl1pPr>
          </a:lstStyle>
          <a:p>
            <a:r>
              <a:rPr lang="en-US" dirty="0"/>
              <a:t>Click to edit Master title style</a:t>
            </a:r>
          </a:p>
        </p:txBody>
      </p:sp>
      <p:sp>
        <p:nvSpPr>
          <p:cNvPr id="3" name="Content Placeholder 2"/>
          <p:cNvSpPr>
            <a:spLocks noGrp="1"/>
          </p:cNvSpPr>
          <p:nvPr>
            <p:ph idx="1"/>
          </p:nvPr>
        </p:nvSpPr>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7778893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atin typeface="Arial" panose="020B0604020202020204" pitchFamily="34" charset="0"/>
                <a:cs typeface="Arial" panose="020B0604020202020204" pitchFamily="34" charset="0"/>
              </a:defRPr>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latin typeface="Arial" panose="020B0604020202020204" pitchFamily="34" charset="0"/>
                <a:cs typeface="Arial" panose="020B060402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Footer Placeholder 4"/>
          <p:cNvSpPr>
            <a:spLocks noGrp="1"/>
          </p:cNvSpPr>
          <p:nvPr>
            <p:ph type="ftr" sz="quarter" idx="3"/>
          </p:nvPr>
        </p:nvSpPr>
        <p:spPr>
          <a:xfrm>
            <a:off x="0" y="6555993"/>
            <a:ext cx="3840480" cy="302007"/>
          </a:xfrm>
          <a:prstGeom prst="rect">
            <a:avLst/>
          </a:prstGeom>
          <a:solidFill>
            <a:schemeClr val="bg1"/>
          </a:solidFill>
        </p:spPr>
        <p:txBody>
          <a:bodyPr vert="horz" lIns="91440" tIns="45720" rIns="91440" bIns="45720" rtlCol="0" anchor="ctr"/>
          <a:lstStyle>
            <a:lvl1pPr algn="ctr">
              <a:defRPr sz="1200">
                <a:solidFill>
                  <a:schemeClr val="tx1">
                    <a:tint val="75000"/>
                  </a:schemeClr>
                </a:solidFill>
                <a:latin typeface="Arial" panose="020B0604020202020204" pitchFamily="34" charset="0"/>
                <a:cs typeface="Arial" panose="020B0604020202020204" pitchFamily="34" charset="0"/>
              </a:defRPr>
            </a:lvl1pPr>
          </a:lstStyle>
          <a:p>
            <a:r>
              <a:rPr lang="en-IN"/>
              <a:t>REVA Academy for Corporate Excellence – RACE | race.reva.edu.in</a:t>
            </a:r>
            <a:endParaRPr lang="en-US" dirty="0"/>
          </a:p>
        </p:txBody>
      </p:sp>
    </p:spTree>
    <p:extLst>
      <p:ext uri="{BB962C8B-B14F-4D97-AF65-F5344CB8AC3E}">
        <p14:creationId xmlns:p14="http://schemas.microsoft.com/office/powerpoint/2010/main" val="206013620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Arial" panose="020B0604020202020204" pitchFamily="34" charset="0"/>
                <a:cs typeface="Arial" panose="020B0604020202020204" pitchFamily="34" charset="0"/>
              </a:defRPr>
            </a:lvl1p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lvl1pPr>
              <a:defRPr>
                <a:latin typeface="Arial" panose="020B0604020202020204" pitchFamily="34" charset="0"/>
                <a:cs typeface="Arial" panose="020B0604020202020204" pitchFamily="34" charset="0"/>
              </a:defRPr>
            </a:lvl1pPr>
          </a:lstStyle>
          <a:p>
            <a:fld id="{0D0CCA17-D100-45DE-A2F3-E686E13D4486}" type="slidenum">
              <a:rPr lang="en-US" smtClean="0"/>
              <a:pPr/>
              <a:t>‹#›</a:t>
            </a:fld>
            <a:endParaRPr lang="en-US"/>
          </a:p>
        </p:txBody>
      </p:sp>
      <p:pic>
        <p:nvPicPr>
          <p:cNvPr id="8" name="Picture 7"/>
          <p:cNvPicPr>
            <a:picLocks noChangeAspect="1"/>
          </p:cNvPicPr>
          <p:nvPr userDrawn="1"/>
        </p:nvPicPr>
        <p:blipFill>
          <a:blip r:embed="rId2"/>
          <a:stretch>
            <a:fillRect/>
          </a:stretch>
        </p:blipFill>
        <p:spPr>
          <a:xfrm>
            <a:off x="9540239" y="16774"/>
            <a:ext cx="2577673" cy="687380"/>
          </a:xfrm>
          <a:prstGeom prst="rect">
            <a:avLst/>
          </a:prstGeom>
        </p:spPr>
      </p:pic>
      <p:sp>
        <p:nvSpPr>
          <p:cNvPr id="9" name="Footer Placeholder 4"/>
          <p:cNvSpPr>
            <a:spLocks noGrp="1"/>
          </p:cNvSpPr>
          <p:nvPr>
            <p:ph type="ftr" sz="quarter" idx="3"/>
          </p:nvPr>
        </p:nvSpPr>
        <p:spPr>
          <a:xfrm>
            <a:off x="0" y="6555993"/>
            <a:ext cx="3840480" cy="302007"/>
          </a:xfrm>
          <a:prstGeom prst="rect">
            <a:avLst/>
          </a:prstGeom>
          <a:solidFill>
            <a:schemeClr val="bg1"/>
          </a:solidFill>
        </p:spPr>
        <p:txBody>
          <a:bodyPr vert="horz" lIns="91440" tIns="45720" rIns="91440" bIns="45720" rtlCol="0" anchor="ctr"/>
          <a:lstStyle>
            <a:lvl1pPr algn="ctr">
              <a:defRPr sz="1200">
                <a:solidFill>
                  <a:schemeClr val="tx1">
                    <a:tint val="75000"/>
                  </a:schemeClr>
                </a:solidFill>
                <a:latin typeface="Arial" panose="020B0604020202020204" pitchFamily="34" charset="0"/>
                <a:cs typeface="Arial" panose="020B0604020202020204" pitchFamily="34" charset="0"/>
              </a:defRPr>
            </a:lvl1pPr>
          </a:lstStyle>
          <a:p>
            <a:r>
              <a:rPr lang="en-IN"/>
              <a:t>REVA Academy for Corporate Excellence – RACE | race.reva.edu.in</a:t>
            </a:r>
            <a:endParaRPr lang="en-US" dirty="0"/>
          </a:p>
        </p:txBody>
      </p:sp>
    </p:spTree>
    <p:extLst>
      <p:ext uri="{BB962C8B-B14F-4D97-AF65-F5344CB8AC3E}">
        <p14:creationId xmlns:p14="http://schemas.microsoft.com/office/powerpoint/2010/main" val="290867199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lvl1pPr>
              <a:defRPr>
                <a:latin typeface="Arial" panose="020B0604020202020204" pitchFamily="34" charset="0"/>
                <a:cs typeface="Arial" panose="020B0604020202020204" pitchFamily="34" charset="0"/>
              </a:defRPr>
            </a:lvl1p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0" name="Picture 9"/>
          <p:cNvPicPr>
            <a:picLocks noChangeAspect="1"/>
          </p:cNvPicPr>
          <p:nvPr userDrawn="1"/>
        </p:nvPicPr>
        <p:blipFill>
          <a:blip r:embed="rId2"/>
          <a:stretch>
            <a:fillRect/>
          </a:stretch>
        </p:blipFill>
        <p:spPr>
          <a:xfrm>
            <a:off x="9631680" y="1534"/>
            <a:ext cx="2566262" cy="684266"/>
          </a:xfrm>
          <a:prstGeom prst="rect">
            <a:avLst/>
          </a:prstGeom>
        </p:spPr>
      </p:pic>
      <p:sp>
        <p:nvSpPr>
          <p:cNvPr id="9" name="Footer Placeholder 4"/>
          <p:cNvSpPr>
            <a:spLocks noGrp="1"/>
          </p:cNvSpPr>
          <p:nvPr>
            <p:ph type="ftr" sz="quarter" idx="10"/>
          </p:nvPr>
        </p:nvSpPr>
        <p:spPr>
          <a:xfrm>
            <a:off x="0" y="6555993"/>
            <a:ext cx="3840480" cy="302007"/>
          </a:xfrm>
          <a:prstGeom prst="rect">
            <a:avLst/>
          </a:prstGeom>
          <a:solidFill>
            <a:schemeClr val="bg1"/>
          </a:solidFill>
        </p:spPr>
        <p:txBody>
          <a:bodyPr vert="horz" lIns="91440" tIns="45720" rIns="91440" bIns="45720" rtlCol="0" anchor="ctr"/>
          <a:lstStyle>
            <a:lvl1pPr algn="ctr">
              <a:defRPr sz="1200">
                <a:solidFill>
                  <a:schemeClr val="tx1">
                    <a:tint val="75000"/>
                  </a:schemeClr>
                </a:solidFill>
                <a:latin typeface="Arial" panose="020B0604020202020204" pitchFamily="34" charset="0"/>
                <a:cs typeface="Arial" panose="020B0604020202020204" pitchFamily="34" charset="0"/>
              </a:defRPr>
            </a:lvl1pPr>
          </a:lstStyle>
          <a:p>
            <a:r>
              <a:rPr lang="en-IN"/>
              <a:t>REVA Academy for Corporate Excellence – RACE | race.reva.edu.in</a:t>
            </a:r>
            <a:endParaRPr lang="en-US" dirty="0"/>
          </a:p>
        </p:txBody>
      </p:sp>
    </p:spTree>
    <p:extLst>
      <p:ext uri="{BB962C8B-B14F-4D97-AF65-F5344CB8AC3E}">
        <p14:creationId xmlns:p14="http://schemas.microsoft.com/office/powerpoint/2010/main" val="113915037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pic>
        <p:nvPicPr>
          <p:cNvPr id="6" name="Picture 5"/>
          <p:cNvPicPr>
            <a:picLocks noChangeAspect="1"/>
          </p:cNvPicPr>
          <p:nvPr userDrawn="1"/>
        </p:nvPicPr>
        <p:blipFill>
          <a:blip r:embed="rId2"/>
          <a:stretch>
            <a:fillRect/>
          </a:stretch>
        </p:blipFill>
        <p:spPr>
          <a:xfrm>
            <a:off x="9707879" y="32014"/>
            <a:ext cx="2407921" cy="642113"/>
          </a:xfrm>
          <a:prstGeom prst="rect">
            <a:avLst/>
          </a:prstGeom>
        </p:spPr>
      </p:pic>
      <p:sp>
        <p:nvSpPr>
          <p:cNvPr id="7" name="Footer Placeholder 4"/>
          <p:cNvSpPr>
            <a:spLocks noGrp="1"/>
          </p:cNvSpPr>
          <p:nvPr>
            <p:ph type="ftr" sz="quarter" idx="3"/>
          </p:nvPr>
        </p:nvSpPr>
        <p:spPr>
          <a:xfrm>
            <a:off x="0" y="6555993"/>
            <a:ext cx="3840480" cy="302007"/>
          </a:xfrm>
          <a:prstGeom prst="rect">
            <a:avLst/>
          </a:prstGeom>
          <a:solidFill>
            <a:schemeClr val="bg1"/>
          </a:solidFill>
        </p:spPr>
        <p:txBody>
          <a:bodyPr vert="horz" lIns="91440" tIns="45720" rIns="91440" bIns="45720" rtlCol="0" anchor="ctr"/>
          <a:lstStyle>
            <a:lvl1pPr algn="ctr">
              <a:defRPr sz="1200">
                <a:solidFill>
                  <a:schemeClr val="tx1">
                    <a:tint val="75000"/>
                  </a:schemeClr>
                </a:solidFill>
                <a:latin typeface="Arial" panose="020B0604020202020204" pitchFamily="34" charset="0"/>
                <a:cs typeface="Arial" panose="020B0604020202020204" pitchFamily="34" charset="0"/>
              </a:defRPr>
            </a:lvl1pPr>
          </a:lstStyle>
          <a:p>
            <a:r>
              <a:rPr lang="en-IN"/>
              <a:t>REVA Academy for Corporate Excellence – RACE | race.reva.edu.in</a:t>
            </a:r>
            <a:endParaRPr lang="en-US" dirty="0"/>
          </a:p>
        </p:txBody>
      </p:sp>
    </p:spTree>
    <p:extLst>
      <p:ext uri="{BB962C8B-B14F-4D97-AF65-F5344CB8AC3E}">
        <p14:creationId xmlns:p14="http://schemas.microsoft.com/office/powerpoint/2010/main" val="97926165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stretch>
            <a:fillRect/>
          </a:stretch>
        </p:blipFill>
        <p:spPr>
          <a:xfrm>
            <a:off x="9540240" y="32014"/>
            <a:ext cx="2608152" cy="695508"/>
          </a:xfrm>
          <a:prstGeom prst="rect">
            <a:avLst/>
          </a:prstGeom>
        </p:spPr>
      </p:pic>
      <p:sp>
        <p:nvSpPr>
          <p:cNvPr id="4" name="Footer Placeholder 4"/>
          <p:cNvSpPr>
            <a:spLocks noGrp="1"/>
          </p:cNvSpPr>
          <p:nvPr>
            <p:ph type="ftr" sz="quarter" idx="3"/>
          </p:nvPr>
        </p:nvSpPr>
        <p:spPr>
          <a:xfrm>
            <a:off x="0" y="6555993"/>
            <a:ext cx="3840480" cy="302007"/>
          </a:xfrm>
          <a:prstGeom prst="rect">
            <a:avLst/>
          </a:prstGeom>
          <a:solidFill>
            <a:schemeClr val="bg1"/>
          </a:solidFill>
        </p:spPr>
        <p:txBody>
          <a:bodyPr vert="horz" lIns="91440" tIns="45720" rIns="91440" bIns="45720" rtlCol="0" anchor="ctr"/>
          <a:lstStyle>
            <a:lvl1pPr algn="ctr">
              <a:defRPr sz="1200">
                <a:solidFill>
                  <a:schemeClr val="tx1">
                    <a:tint val="75000"/>
                  </a:schemeClr>
                </a:solidFill>
                <a:latin typeface="Arial" panose="020B0604020202020204" pitchFamily="34" charset="0"/>
                <a:cs typeface="Arial" panose="020B0604020202020204" pitchFamily="34" charset="0"/>
              </a:defRPr>
            </a:lvl1pPr>
          </a:lstStyle>
          <a:p>
            <a:r>
              <a:rPr lang="en-IN"/>
              <a:t>REVA Academy for Corporate Excellence – RACE | race.reva.edu.in</a:t>
            </a:r>
            <a:endParaRPr lang="en-US" dirty="0"/>
          </a:p>
        </p:txBody>
      </p:sp>
    </p:spTree>
    <p:extLst>
      <p:ext uri="{BB962C8B-B14F-4D97-AF65-F5344CB8AC3E}">
        <p14:creationId xmlns:p14="http://schemas.microsoft.com/office/powerpoint/2010/main" val="183262671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12_Main Slide #2">
    <p:spTree>
      <p:nvGrpSpPr>
        <p:cNvPr id="1" name=""/>
        <p:cNvGrpSpPr/>
        <p:nvPr/>
      </p:nvGrpSpPr>
      <p:grpSpPr>
        <a:xfrm>
          <a:off x="0" y="0"/>
          <a:ext cx="0" cy="0"/>
          <a:chOff x="0" y="0"/>
          <a:chExt cx="0" cy="0"/>
        </a:xfrm>
      </p:grpSpPr>
      <p:sp>
        <p:nvSpPr>
          <p:cNvPr id="31" name="www.websitename.com"/>
          <p:cNvSpPr txBox="1">
            <a:spLocks noGrp="1"/>
          </p:cNvSpPr>
          <p:nvPr>
            <p:ph type="body" sz="quarter" idx="13"/>
          </p:nvPr>
        </p:nvSpPr>
        <p:spPr>
          <a:xfrm rot="16200000">
            <a:off x="11153149" y="3366675"/>
            <a:ext cx="1442703" cy="124650"/>
          </a:xfrm>
          <a:prstGeom prst="rect">
            <a:avLst/>
          </a:prstGeom>
        </p:spPr>
        <p:txBody>
          <a:bodyPr wrap="none" lIns="0" tIns="0" rIns="0" bIns="0" anchor="ctr">
            <a:spAutoFit/>
          </a:bodyPr>
          <a:lstStyle>
            <a:lvl1pPr>
              <a:defRPr sz="900">
                <a:solidFill>
                  <a:srgbClr val="6A6E77"/>
                </a:solidFill>
                <a:latin typeface="Montserrat Light"/>
                <a:ea typeface="Montserrat Light"/>
                <a:cs typeface="Montserrat Light"/>
                <a:sym typeface="Montserrat Light"/>
              </a:defRPr>
            </a:lvl1pPr>
          </a:lstStyle>
          <a:p>
            <a:r>
              <a:t>www.websitename.com</a:t>
            </a:r>
          </a:p>
        </p:txBody>
      </p:sp>
      <p:sp>
        <p:nvSpPr>
          <p:cNvPr id="32" name="uplock"/>
          <p:cNvSpPr txBox="1">
            <a:spLocks noGrp="1"/>
          </p:cNvSpPr>
          <p:nvPr>
            <p:ph type="body" sz="quarter" idx="14"/>
          </p:nvPr>
        </p:nvSpPr>
        <p:spPr>
          <a:xfrm rot="16200000">
            <a:off x="-30351" y="3342438"/>
            <a:ext cx="695703" cy="173124"/>
          </a:xfrm>
          <a:prstGeom prst="rect">
            <a:avLst/>
          </a:prstGeom>
        </p:spPr>
        <p:txBody>
          <a:bodyPr wrap="none" lIns="0" tIns="0" rIns="0" bIns="0" anchor="ctr">
            <a:spAutoFit/>
          </a:bodyPr>
          <a:lstStyle>
            <a:lvl1pPr>
              <a:defRPr sz="1250">
                <a:solidFill>
                  <a:srgbClr val="1C1F25"/>
                </a:solidFill>
                <a:latin typeface="Montserrat Bold"/>
                <a:ea typeface="Montserrat Bold"/>
                <a:cs typeface="Montserrat Bold"/>
                <a:sym typeface="Montserrat Bold"/>
              </a:defRPr>
            </a:lvl1pPr>
          </a:lstStyle>
          <a:p>
            <a:r>
              <a:t>uplock</a:t>
            </a:r>
          </a:p>
        </p:txBody>
      </p:sp>
      <p:sp>
        <p:nvSpPr>
          <p:cNvPr id="33" name="Slide Number"/>
          <p:cNvSpPr txBox="1">
            <a:spLocks noGrp="1"/>
          </p:cNvSpPr>
          <p:nvPr>
            <p:ph type="sldNum" sz="quarter" idx="2"/>
          </p:nvPr>
        </p:nvSpPr>
        <p:spPr>
          <a:xfrm>
            <a:off x="11407421" y="6476735"/>
            <a:ext cx="147397" cy="139701"/>
          </a:xfrm>
          <a:prstGeom prst="rect">
            <a:avLst/>
          </a:prstGeom>
        </p:spPr>
        <p:txBody>
          <a:bodyPr/>
          <a:lstStyle/>
          <a:p>
            <a:fld id="{86CB4B4D-7CA3-9044-876B-883B54F8677D}" type="slidenum">
              <a:t>‹#›</a:t>
            </a:fld>
            <a:endParaRPr/>
          </a:p>
        </p:txBody>
      </p:sp>
      <p:sp>
        <p:nvSpPr>
          <p:cNvPr id="7" name="Picture Placeholder 2">
            <a:extLst>
              <a:ext uri="{FF2B5EF4-FFF2-40B4-BE49-F238E27FC236}">
                <a16:creationId xmlns:a16="http://schemas.microsoft.com/office/drawing/2014/main" id="{C1CFBFE9-716E-4CC4-9BA2-ADF2F90D6429}"/>
              </a:ext>
            </a:extLst>
          </p:cNvPr>
          <p:cNvSpPr>
            <a:spLocks noGrp="1"/>
          </p:cNvSpPr>
          <p:nvPr>
            <p:ph type="pic" sz="quarter" idx="32" hasCustomPrompt="1"/>
          </p:nvPr>
        </p:nvSpPr>
        <p:spPr>
          <a:xfrm>
            <a:off x="633909" y="1"/>
            <a:ext cx="2731691" cy="6858000"/>
          </a:xfrm>
          <a:prstGeom prst="rect">
            <a:avLst/>
          </a:prstGeom>
          <a:solidFill>
            <a:schemeClr val="bg1">
              <a:lumMod val="95000"/>
            </a:schemeClr>
          </a:solidFill>
        </p:spPr>
        <p:txBody>
          <a:bodyPr anchor="ctr"/>
          <a:lstStyle>
            <a:lvl1pPr>
              <a:defRPr sz="1000"/>
            </a:lvl1pPr>
          </a:lstStyle>
          <a:p>
            <a:r>
              <a:rPr lang="en-US" dirty="0"/>
              <a:t>Click to Insert Image</a:t>
            </a:r>
          </a:p>
        </p:txBody>
      </p:sp>
    </p:spTree>
    <p:extLst>
      <p:ext uri="{BB962C8B-B14F-4D97-AF65-F5344CB8AC3E}">
        <p14:creationId xmlns:p14="http://schemas.microsoft.com/office/powerpoint/2010/main" val="4052850256"/>
      </p:ext>
    </p:extLst>
  </p:cSld>
  <p:clrMapOvr>
    <a:masterClrMapping/>
  </p:clrMapOvr>
  <p:transition spd="med"/>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1_Title Slide">
    <p:spTree>
      <p:nvGrpSpPr>
        <p:cNvPr id="1" name=""/>
        <p:cNvGrpSpPr/>
        <p:nvPr/>
      </p:nvGrpSpPr>
      <p:grpSpPr>
        <a:xfrm>
          <a:off x="0" y="0"/>
          <a:ext cx="0" cy="0"/>
          <a:chOff x="0" y="0"/>
          <a:chExt cx="0" cy="0"/>
        </a:xfrm>
      </p:grpSpPr>
      <p:pic>
        <p:nvPicPr>
          <p:cNvPr id="17" name="Picture 1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270"/>
            <a:ext cx="12192000" cy="6855461"/>
          </a:xfrm>
          <a:prstGeom prst="rect">
            <a:avLst/>
          </a:prstGeom>
        </p:spPr>
      </p:pic>
      <p:grpSp>
        <p:nvGrpSpPr>
          <p:cNvPr id="16" name="Group 15"/>
          <p:cNvGrpSpPr/>
          <p:nvPr userDrawn="1"/>
        </p:nvGrpSpPr>
        <p:grpSpPr>
          <a:xfrm>
            <a:off x="237032" y="177459"/>
            <a:ext cx="11717936" cy="1204427"/>
            <a:chOff x="107455" y="133094"/>
            <a:chExt cx="8788452" cy="903320"/>
          </a:xfrm>
        </p:grpSpPr>
        <p:pic>
          <p:nvPicPr>
            <p:cNvPr id="13" name="Picture 12"/>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7455" y="133094"/>
              <a:ext cx="2245885" cy="903320"/>
            </a:xfrm>
            <a:prstGeom prst="rect">
              <a:avLst/>
            </a:prstGeom>
          </p:spPr>
        </p:pic>
        <p:sp>
          <p:nvSpPr>
            <p:cNvPr id="14" name="TextBox 13"/>
            <p:cNvSpPr txBox="1"/>
            <p:nvPr userDrawn="1"/>
          </p:nvSpPr>
          <p:spPr>
            <a:xfrm>
              <a:off x="4791740" y="133094"/>
              <a:ext cx="4104167" cy="469408"/>
            </a:xfrm>
            <a:prstGeom prst="rect">
              <a:avLst/>
            </a:prstGeom>
            <a:noFill/>
          </p:spPr>
          <p:txBody>
            <a:bodyPr wrap="square" rtlCol="0">
              <a:spAutoFit/>
            </a:bodyPr>
            <a:lstStyle/>
            <a:p>
              <a:pPr algn="r"/>
              <a:r>
                <a:rPr lang="en-IN" sz="1867" b="1" dirty="0">
                  <a:latin typeface="Calibri" panose="020F0502020204030204" pitchFamily="34" charset="0"/>
                  <a:cs typeface="Calibri" panose="020F0502020204030204" pitchFamily="34" charset="0"/>
                </a:rPr>
                <a:t>REVA Academy for Corporate Excellence (RACE)</a:t>
              </a:r>
            </a:p>
            <a:p>
              <a:pPr algn="r"/>
              <a:r>
                <a:rPr lang="en-IN" sz="1600" dirty="0">
                  <a:latin typeface="Calibri" panose="020F0502020204030204" pitchFamily="34" charset="0"/>
                  <a:cs typeface="Calibri" panose="020F0502020204030204" pitchFamily="34" charset="0"/>
                </a:rPr>
                <a:t>www.race.reva.edu.in</a:t>
              </a:r>
            </a:p>
          </p:txBody>
        </p:sp>
      </p:grpSp>
    </p:spTree>
    <p:extLst>
      <p:ext uri="{BB962C8B-B14F-4D97-AF65-F5344CB8AC3E}">
        <p14:creationId xmlns:p14="http://schemas.microsoft.com/office/powerpoint/2010/main" val="267128050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userDrawn="1">
  <p:cSld name="2_Title Slide">
    <p:spTree>
      <p:nvGrpSpPr>
        <p:cNvPr id="1" name=""/>
        <p:cNvGrpSpPr/>
        <p:nvPr/>
      </p:nvGrpSpPr>
      <p:grpSpPr>
        <a:xfrm>
          <a:off x="0" y="0"/>
          <a:ext cx="0" cy="0"/>
          <a:chOff x="0" y="0"/>
          <a:chExt cx="0" cy="0"/>
        </a:xfrm>
      </p:grpSpPr>
      <p:pic>
        <p:nvPicPr>
          <p:cNvPr id="17" name="Picture 1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270"/>
            <a:ext cx="12192000" cy="6855461"/>
          </a:xfrm>
          <a:prstGeom prst="rect">
            <a:avLst/>
          </a:prstGeom>
        </p:spPr>
      </p:pic>
      <p:grpSp>
        <p:nvGrpSpPr>
          <p:cNvPr id="16" name="Group 15"/>
          <p:cNvGrpSpPr/>
          <p:nvPr userDrawn="1"/>
        </p:nvGrpSpPr>
        <p:grpSpPr>
          <a:xfrm>
            <a:off x="237032" y="177459"/>
            <a:ext cx="11717936" cy="1204427"/>
            <a:chOff x="107455" y="133094"/>
            <a:chExt cx="8788452" cy="903320"/>
          </a:xfrm>
        </p:grpSpPr>
        <p:pic>
          <p:nvPicPr>
            <p:cNvPr id="13" name="Picture 12"/>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7455" y="133094"/>
              <a:ext cx="2245885" cy="903320"/>
            </a:xfrm>
            <a:prstGeom prst="rect">
              <a:avLst/>
            </a:prstGeom>
          </p:spPr>
        </p:pic>
        <p:sp>
          <p:nvSpPr>
            <p:cNvPr id="14" name="TextBox 13"/>
            <p:cNvSpPr txBox="1"/>
            <p:nvPr userDrawn="1"/>
          </p:nvSpPr>
          <p:spPr>
            <a:xfrm>
              <a:off x="4791740" y="133094"/>
              <a:ext cx="4104167" cy="469408"/>
            </a:xfrm>
            <a:prstGeom prst="rect">
              <a:avLst/>
            </a:prstGeom>
            <a:noFill/>
          </p:spPr>
          <p:txBody>
            <a:bodyPr wrap="square" rtlCol="0">
              <a:spAutoFit/>
            </a:bodyPr>
            <a:lstStyle/>
            <a:p>
              <a:pPr algn="r"/>
              <a:r>
                <a:rPr lang="en-IN" sz="1867" b="1" dirty="0">
                  <a:latin typeface="Calibri" panose="020F0502020204030204" pitchFamily="34" charset="0"/>
                  <a:cs typeface="Calibri" panose="020F0502020204030204" pitchFamily="34" charset="0"/>
                </a:rPr>
                <a:t>REVA Academy for Corporate Excellence (RACE)</a:t>
              </a:r>
            </a:p>
            <a:p>
              <a:pPr algn="r"/>
              <a:r>
                <a:rPr lang="en-IN" sz="1600" dirty="0">
                  <a:latin typeface="Calibri" panose="020F0502020204030204" pitchFamily="34" charset="0"/>
                  <a:cs typeface="Calibri" panose="020F0502020204030204" pitchFamily="34" charset="0"/>
                </a:rPr>
                <a:t>www.race.reva.edu.in</a:t>
              </a:r>
            </a:p>
          </p:txBody>
        </p:sp>
      </p:grpSp>
    </p:spTree>
    <p:extLst>
      <p:ext uri="{BB962C8B-B14F-4D97-AF65-F5344CB8AC3E}">
        <p14:creationId xmlns:p14="http://schemas.microsoft.com/office/powerpoint/2010/main" val="201128790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2_01" userDrawn="1">
  <p:cSld name="3_01">
    <p:spTree>
      <p:nvGrpSpPr>
        <p:cNvPr id="1" name="Shape 12"/>
        <p:cNvGrpSpPr/>
        <p:nvPr/>
      </p:nvGrpSpPr>
      <p:grpSpPr>
        <a:xfrm>
          <a:off x="0" y="0"/>
          <a:ext cx="0" cy="0"/>
          <a:chOff x="0" y="0"/>
          <a:chExt cx="0" cy="0"/>
        </a:xfrm>
      </p:grpSpPr>
      <p:cxnSp>
        <p:nvCxnSpPr>
          <p:cNvPr id="12" name="Straight Connector 11"/>
          <p:cNvCxnSpPr/>
          <p:nvPr userDrawn="1"/>
        </p:nvCxnSpPr>
        <p:spPr>
          <a:xfrm>
            <a:off x="197815" y="1166622"/>
            <a:ext cx="1179637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p:cNvSpPr txBox="1"/>
          <p:nvPr userDrawn="1"/>
        </p:nvSpPr>
        <p:spPr>
          <a:xfrm>
            <a:off x="5514882" y="393267"/>
            <a:ext cx="6479305" cy="492443"/>
          </a:xfrm>
          <a:prstGeom prst="rect">
            <a:avLst/>
          </a:prstGeom>
          <a:noFill/>
        </p:spPr>
        <p:txBody>
          <a:bodyPr wrap="square" rtlCol="0">
            <a:spAutoFit/>
          </a:bodyPr>
          <a:lstStyle/>
          <a:p>
            <a:pPr algn="r"/>
            <a:r>
              <a:rPr lang="en-IN" sz="1400" dirty="0">
                <a:latin typeface="+mj-lt"/>
              </a:rPr>
              <a:t>REVA Academy</a:t>
            </a:r>
            <a:r>
              <a:rPr lang="en-IN" sz="1400" baseline="0" dirty="0">
                <a:latin typeface="+mj-lt"/>
              </a:rPr>
              <a:t> for Corporate Excellence</a:t>
            </a:r>
          </a:p>
          <a:p>
            <a:pPr algn="r"/>
            <a:r>
              <a:rPr lang="en-IN" sz="1200" baseline="0" dirty="0">
                <a:latin typeface="+mj-lt"/>
              </a:rPr>
              <a:t>www.race.reva.edu.in </a:t>
            </a:r>
            <a:endParaRPr lang="en-IN" sz="1200" dirty="0">
              <a:latin typeface="+mj-lt"/>
            </a:endParaRPr>
          </a:p>
        </p:txBody>
      </p:sp>
      <p:pic>
        <p:nvPicPr>
          <p:cNvPr id="4" name="Picture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97815" y="143294"/>
            <a:ext cx="2444405" cy="946221"/>
          </a:xfrm>
          <a:prstGeom prst="rect">
            <a:avLst/>
          </a:prstGeom>
        </p:spPr>
      </p:pic>
    </p:spTree>
    <p:extLst>
      <p:ext uri="{BB962C8B-B14F-4D97-AF65-F5344CB8AC3E}">
        <p14:creationId xmlns:p14="http://schemas.microsoft.com/office/powerpoint/2010/main" val="174507437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slideLayout" Target="../slideLayouts/slideLayout17.xml"/><Relationship Id="rId3" Type="http://schemas.openxmlformats.org/officeDocument/2006/relationships/slideLayout" Target="../slideLayouts/slideLayout18.xml"/><Relationship Id="rId4" Type="http://schemas.openxmlformats.org/officeDocument/2006/relationships/slideLayout" Target="../slideLayouts/slideLayout19.xml"/><Relationship Id="rId5" Type="http://schemas.openxmlformats.org/officeDocument/2006/relationships/slideLayout" Target="../slideLayouts/slideLayout20.xml"/><Relationship Id="rId6" Type="http://schemas.openxmlformats.org/officeDocument/2006/relationships/slideLayout" Target="../slideLayouts/slideLayout21.xml"/><Relationship Id="rId7" Type="http://schemas.openxmlformats.org/officeDocument/2006/relationships/slideLayout" Target="../slideLayouts/slideLayout22.xml"/><Relationship Id="rId8" Type="http://schemas.openxmlformats.org/officeDocument/2006/relationships/slideLayout" Target="../slideLayouts/slideLayout23.xml"/><Relationship Id="rId9" Type="http://schemas.openxmlformats.org/officeDocument/2006/relationships/slideLayout" Target="../slideLayouts/slideLayout24.xml"/><Relationship Id="rId10" Type="http://schemas.openxmlformats.org/officeDocument/2006/relationships/slideLayout" Target="../slideLayouts/slideLayout25.xml"/><Relationship Id="rId11" Type="http://schemas.openxmlformats.org/officeDocument/2006/relationships/slideLayout" Target="../slideLayouts/slideLayout26.xml"/><Relationship Id="rId12"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slideLayout" Target="../slideLayouts/slideLayout28.xml"/><Relationship Id="rId3" Type="http://schemas.openxmlformats.org/officeDocument/2006/relationships/slideLayout" Target="../slideLayouts/slideLayout29.xml"/><Relationship Id="rId4" Type="http://schemas.openxmlformats.org/officeDocument/2006/relationships/slideLayout" Target="../slideLayouts/slideLayout30.xml"/><Relationship Id="rId5" Type="http://schemas.openxmlformats.org/officeDocument/2006/relationships/slideLayout" Target="../slideLayouts/slideLayout31.xml"/><Relationship Id="rId6" Type="http://schemas.openxmlformats.org/officeDocument/2006/relationships/slideLayout" Target="../slideLayouts/slideLayout32.xml"/><Relationship Id="rId7" Type="http://schemas.openxmlformats.org/officeDocument/2006/relationships/slideLayout" Target="../slideLayouts/slideLayout33.xml"/><Relationship Id="rId8" Type="http://schemas.openxmlformats.org/officeDocument/2006/relationships/slideLayout" Target="../slideLayouts/slideLayout34.xml"/><Relationship Id="rId9" Type="http://schemas.openxmlformats.org/officeDocument/2006/relationships/slideLayout" Target="../slideLayouts/slideLayout35.xml"/><Relationship Id="rId10" Type="http://schemas.openxmlformats.org/officeDocument/2006/relationships/slideLayout" Target="../slideLayouts/slideLayout36.xml"/><Relationship Id="rId11" Type="http://schemas.openxmlformats.org/officeDocument/2006/relationships/slideLayout" Target="../slideLayouts/slideLayout37.xml"/><Relationship Id="rId12"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83820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0F1468A9-DCD9-466F-99E8-72F5C99304C3}" type="datetime3">
              <a:rPr kumimoji="0" lang="en-US" sz="1200" b="0" i="0" u="none" strike="noStrike" kern="1200" cap="none" spc="0" normalizeH="0" baseline="0" noProof="0" smtClean="0">
                <a:ln>
                  <a:noFill/>
                </a:ln>
                <a:solidFill>
                  <a:prstClr val="black">
                    <a:tint val="75000"/>
                  </a:prstClr>
                </a:solidFill>
                <a:effectLst/>
                <a:uLnTx/>
                <a:uFillTx/>
                <a:latin typeface="Roboto Slab"/>
                <a:ea typeface="+mn-ea"/>
                <a:cs typeface="+mn-cs"/>
              </a:rPr>
              <a:t>14 July 2026</a:t>
            </a:fld>
            <a:endParaRPr kumimoji="0" lang="en-US" sz="1200" b="0" i="0" u="none" strike="noStrike" kern="1200" cap="none" spc="0" normalizeH="0" baseline="0" noProof="0">
              <a:ln>
                <a:noFill/>
              </a:ln>
              <a:solidFill>
                <a:prstClr val="black">
                  <a:tint val="75000"/>
                </a:prstClr>
              </a:solidFill>
              <a:effectLst/>
              <a:uLnTx/>
              <a:uFillTx/>
              <a:latin typeface="Roboto Slab"/>
              <a:ea typeface="+mn-ea"/>
              <a:cs typeface="+mn-cs"/>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a:ln>
                  <a:noFill/>
                </a:ln>
                <a:solidFill>
                  <a:prstClr val="black">
                    <a:tint val="75000"/>
                  </a:prstClr>
                </a:solidFill>
                <a:effectLst/>
                <a:uLnTx/>
                <a:uFillTx/>
                <a:latin typeface="Roboto Slab"/>
                <a:ea typeface="+mn-ea"/>
                <a:cs typeface="+mn-cs"/>
              </a:rPr>
              <a:t>REVA Academy for Corporate Excellence – RACE | race.reva.edu.in</a:t>
            </a:r>
            <a:endParaRPr kumimoji="0" lang="en-US" sz="1200" b="0" i="0" u="none" strike="noStrike" kern="1200" cap="none" spc="0" normalizeH="0" baseline="0" noProof="0" dirty="0">
              <a:ln>
                <a:noFill/>
              </a:ln>
              <a:solidFill>
                <a:prstClr val="black">
                  <a:tint val="75000"/>
                </a:prstClr>
              </a:solidFill>
              <a:effectLst/>
              <a:uLnTx/>
              <a:uFillTx/>
              <a:latin typeface="Roboto Slab"/>
              <a:ea typeface="+mn-ea"/>
              <a:cs typeface="+mn-cs"/>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001D3BC5-34EF-44B2-83AC-D5533E46F0A6}" type="slidenum">
              <a:rPr kumimoji="0" lang="en-US" sz="1200" b="0" i="0" u="none" strike="noStrike" kern="1200" cap="none" spc="0" normalizeH="0" baseline="0" noProof="0" smtClean="0">
                <a:ln>
                  <a:noFill/>
                </a:ln>
                <a:solidFill>
                  <a:prstClr val="black">
                    <a:tint val="75000"/>
                  </a:prstClr>
                </a:solidFill>
                <a:effectLst/>
                <a:uLnTx/>
                <a:uFillTx/>
                <a:latin typeface="Roboto Slab"/>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prstClr val="black">
                  <a:tint val="75000"/>
                </a:prstClr>
              </a:solidFill>
              <a:effectLst/>
              <a:uLnTx/>
              <a:uFillTx/>
              <a:latin typeface="Roboto Slab"/>
              <a:ea typeface="+mn-ea"/>
              <a:cs typeface="+mn-cs"/>
            </a:endParaRPr>
          </a:p>
        </p:txBody>
      </p:sp>
    </p:spTree>
    <p:extLst>
      <p:ext uri="{BB962C8B-B14F-4D97-AF65-F5344CB8AC3E}">
        <p14:creationId xmlns:p14="http://schemas.microsoft.com/office/powerpoint/2010/main" val="148341089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F5BC2F2-4D2A-A620-8B97-4370377B1B0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1721170-226C-1291-214E-AA69A4A8227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92BC54E-B23E-83D9-219D-3E94E86A8B1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F9B8086-8CEF-4375-ABEF-185B80135AEB}" type="datetime3">
              <a:rPr lang="en-US" smtClean="0"/>
              <a:t>14 July 2026</a:t>
            </a:fld>
            <a:endParaRPr lang="en-IN"/>
          </a:p>
        </p:txBody>
      </p:sp>
      <p:sp>
        <p:nvSpPr>
          <p:cNvPr id="5" name="Footer Placeholder 4">
            <a:extLst>
              <a:ext uri="{FF2B5EF4-FFF2-40B4-BE49-F238E27FC236}">
                <a16:creationId xmlns:a16="http://schemas.microsoft.com/office/drawing/2014/main" id="{815C31A5-9A34-06DF-31F6-C0E8F5A81EB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REVA Academy for Corporate Excellence – RACE | race.reva.edu.in</a:t>
            </a:r>
            <a:endParaRPr lang="en-IN"/>
          </a:p>
        </p:txBody>
      </p:sp>
      <p:sp>
        <p:nvSpPr>
          <p:cNvPr id="6" name="Slide Number Placeholder 5">
            <a:extLst>
              <a:ext uri="{FF2B5EF4-FFF2-40B4-BE49-F238E27FC236}">
                <a16:creationId xmlns:a16="http://schemas.microsoft.com/office/drawing/2014/main" id="{A85A8EB8-6738-EBF2-0CE3-80E7244AE78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F57AB3F-FF13-4C22-A1FE-9E11B92D325E}" type="slidenum">
              <a:rPr lang="en-IN" smtClean="0"/>
              <a:t>‹#›</a:t>
            </a:fld>
            <a:endParaRPr lang="en-IN"/>
          </a:p>
        </p:txBody>
      </p:sp>
    </p:spTree>
    <p:extLst>
      <p:ext uri="{BB962C8B-B14F-4D97-AF65-F5344CB8AC3E}">
        <p14:creationId xmlns:p14="http://schemas.microsoft.com/office/powerpoint/2010/main" val="2369992768"/>
      </p:ext>
    </p:extLst>
  </p:cSld>
  <p:clrMap bg1="lt1" tx1="dk1" bg2="lt2" tx2="dk2" accent1="accent1" accent2="accent2" accent3="accent3" accent4="accent4" accent5="accent5" accent6="accent6" hlink="hlink" folHlink="folHlink"/>
  <p:sldLayoutIdLst>
    <p:sldLayoutId id="2147483689" r:id="rId1"/>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 id="2147483698" r:id="rId10"/>
    <p:sldLayoutId id="214748369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7875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15396298"/>
      </p:ext>
    </p:extLst>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Lst>
  <p:hf hdr="0"/>
  <p:txStyles>
    <p:titleStyle>
      <a:lvl1pPr algn="l" defTabSz="914400" rtl="0" eaLnBrk="1" latinLnBrk="0" hangingPunct="1">
        <a:lnSpc>
          <a:spcPct val="90000"/>
        </a:lnSpc>
        <a:spcBef>
          <a:spcPct val="0"/>
        </a:spcBef>
        <a:buNone/>
        <a:defRPr sz="4400" kern="1200">
          <a:solidFill>
            <a:schemeClr val="tx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ieeexplore-ieee-org-reva.knimbus.com/author/37085803052" TargetMode="External"/><Relationship Id="rId3" Type="http://schemas.openxmlformats.org/officeDocument/2006/relationships/hyperlink" Target="https://ieeexplore-ieee-org-reva.knimbus.com/author/37089905575"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ieeexplore-ieee-org-reva.knimbus.com/document/10815757" TargetMode="External"/><Relationship Id="rId3" Type="http://schemas.openxmlformats.org/officeDocument/2006/relationships/hyperlink" Target="https://ieeexplore-ieee-org-reva.knimbus.com/document/10459480" TargetMode="External"/><Relationship Id="rId4" Type="http://schemas.openxmlformats.org/officeDocument/2006/relationships/hyperlink" Target="https://ieeexplore-ieee-org-reva.knimbus.com/document/10685598" TargetMode="External"/><Relationship Id="rId5" Type="http://schemas.openxmlformats.org/officeDocument/2006/relationships/hyperlink" Target="https://ieeexplore-ieee-org-reva.knimbus.com/document/11014830"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1383" y="1899380"/>
            <a:ext cx="5905501" cy="1998307"/>
          </a:xfrm>
        </p:spPr>
        <p:txBody>
          <a:bodyPr anchor="ctr">
            <a:noAutofit/>
          </a:bodyPr>
          <a:lstStyle/>
          <a:p>
            <a:pPr algn="l">
              <a:lnSpc>
                <a:spcPct val="100000"/>
              </a:lnSpc>
            </a:pPr>
            <a:r>
              <a:rPr lang="en-US" sz="3200" b="1" dirty="0">
                <a:cs typeface="Arial" panose="020B0604020202020204" pitchFamily="34" charset="0"/>
              </a:rPr>
              <a:t>AI-Based Vulnerability Prioritization Engine using SBOM Context</a:t>
            </a:r>
            <a:endParaRPr lang="en-US" sz="2800" dirty="0">
              <a:cs typeface="Arial" panose="020B0604020202020204" pitchFamily="34" charset="0"/>
            </a:endParaRPr>
          </a:p>
        </p:txBody>
      </p:sp>
      <p:sp>
        <p:nvSpPr>
          <p:cNvPr id="3" name="Subtitle 2"/>
          <p:cNvSpPr>
            <a:spLocks noGrp="1"/>
          </p:cNvSpPr>
          <p:nvPr>
            <p:ph type="subTitle" idx="1"/>
          </p:nvPr>
        </p:nvSpPr>
        <p:spPr>
          <a:xfrm>
            <a:off x="5754994" y="2915884"/>
            <a:ext cx="5905500" cy="2232346"/>
          </a:xfrm>
        </p:spPr>
        <p:txBody>
          <a:bodyPr>
            <a:noAutofit/>
          </a:bodyPr>
          <a:lstStyle/>
          <a:p>
            <a:pPr algn="r"/>
            <a:r>
              <a:rPr lang="en-US" sz="1800" b="1" dirty="0">
                <a:solidFill>
                  <a:schemeClr val="bg1"/>
                </a:solidFill>
                <a:latin typeface="+mj-lt"/>
                <a:cs typeface="Arial" panose="020B0604020202020204" pitchFamily="34" charset="0"/>
              </a:rPr>
              <a:t>Name: Akil Kumar M N</a:t>
            </a:r>
          </a:p>
          <a:p>
            <a:pPr algn="r"/>
            <a:endParaRPr lang="en-US" sz="1800" b="1" dirty="0">
              <a:solidFill>
                <a:schemeClr val="bg1"/>
              </a:solidFill>
              <a:latin typeface="+mj-lt"/>
              <a:cs typeface="Arial" panose="020B0604020202020204" pitchFamily="34" charset="0"/>
            </a:endParaRPr>
          </a:p>
          <a:p>
            <a:pPr algn="r"/>
            <a:r>
              <a:rPr lang="en-US" sz="1400" dirty="0">
                <a:solidFill>
                  <a:schemeClr val="bg1"/>
                </a:solidFill>
                <a:cs typeface="Arial" panose="020B0604020202020204" pitchFamily="34" charset="0"/>
              </a:rPr>
              <a:t>Program: </a:t>
            </a:r>
            <a:r>
              <a:rPr lang="en-US" sz="1400" dirty="0" err="1">
                <a:solidFill>
                  <a:schemeClr val="bg1"/>
                </a:solidFill>
                <a:cs typeface="Arial" panose="020B0604020202020204" pitchFamily="34" charset="0"/>
              </a:rPr>
              <a:t>M.Tech</a:t>
            </a:r>
            <a:r>
              <a:rPr lang="en-US" sz="1400" dirty="0">
                <a:solidFill>
                  <a:schemeClr val="bg1"/>
                </a:solidFill>
                <a:cs typeface="Arial" panose="020B0604020202020204" pitchFamily="34" charset="0"/>
              </a:rPr>
              <a:t> in Cyber Security</a:t>
            </a:r>
          </a:p>
          <a:p>
            <a:pPr algn="r"/>
            <a:r>
              <a:rPr lang="en-US" sz="1400" dirty="0">
                <a:solidFill>
                  <a:schemeClr val="bg1"/>
                </a:solidFill>
                <a:cs typeface="Arial" panose="020B0604020202020204" pitchFamily="34" charset="0"/>
              </a:rPr>
              <a:t>Batch: CS10</a:t>
            </a:r>
          </a:p>
          <a:p>
            <a:pPr algn="r"/>
            <a:r>
              <a:rPr lang="en-US" sz="1400" dirty="0">
                <a:solidFill>
                  <a:schemeClr val="bg1"/>
                </a:solidFill>
                <a:cs typeface="Arial" panose="020B0604020202020204" pitchFamily="34" charset="0"/>
              </a:rPr>
              <a:t>SRN: R22MTC51</a:t>
            </a:r>
          </a:p>
          <a:p>
            <a:pPr algn="r"/>
            <a:r>
              <a:rPr lang="en-US" sz="1400" dirty="0">
                <a:solidFill>
                  <a:schemeClr val="bg1"/>
                </a:solidFill>
                <a:cs typeface="Arial" panose="020B0604020202020204" pitchFamily="34" charset="0"/>
              </a:rPr>
              <a:t>Date: 10th October 2026</a:t>
            </a:r>
            <a:r>
              <a:rPr lang="en-US" sz="1400" baseline="30000" dirty="0">
                <a:solidFill>
                  <a:schemeClr val="bg1"/>
                </a:solidFill>
                <a:cs typeface="Arial" panose="020B0604020202020204" pitchFamily="34" charset="0"/>
              </a:rPr>
              <a:t/>
            </a:r>
            <a:r>
              <a:rPr lang="en-US" sz="1400" dirty="0">
                <a:solidFill>
                  <a:schemeClr val="bg1"/>
                </a:solidFill>
                <a:cs typeface="Arial" panose="020B0604020202020204" pitchFamily="34" charset="0"/>
              </a:rPr>
              <a:t/>
            </a:r>
          </a:p>
          <a:p>
            <a:pPr algn="r"/>
            <a:r>
              <a:rPr lang="en-US" sz="1400" dirty="0">
                <a:solidFill>
                  <a:schemeClr val="bg1"/>
                </a:solidFill>
                <a:cs typeface="Arial" panose="020B0604020202020204" pitchFamily="34" charset="0"/>
              </a:rPr>
              <a:t>Capstone 1/2: 2</a:t>
            </a:r>
          </a:p>
        </p:txBody>
      </p:sp>
      <p:sp>
        <p:nvSpPr>
          <p:cNvPr id="7" name="Title 1"/>
          <p:cNvSpPr txBox="1">
            <a:spLocks/>
          </p:cNvSpPr>
          <p:nvPr/>
        </p:nvSpPr>
        <p:spPr>
          <a:xfrm>
            <a:off x="5485425" y="6119446"/>
            <a:ext cx="6175069" cy="352604"/>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0" marR="0" lvl="0" indent="0" algn="r" defTabSz="914400" rtl="0" eaLnBrk="1" fontAlgn="auto" latinLnBrk="0" hangingPunct="1">
              <a:lnSpc>
                <a:spcPct val="100000"/>
              </a:lnSpc>
              <a:spcBef>
                <a:spcPct val="0"/>
              </a:spcBef>
              <a:spcAft>
                <a:spcPts val="0"/>
              </a:spcAft>
              <a:buClrTx/>
              <a:buSzTx/>
              <a:buFontTx/>
              <a:buNone/>
              <a:tabLst/>
              <a:defRPr/>
            </a:pPr>
            <a:r>
              <a:rPr lang="en-IN" sz="1600" dirty="0">
                <a:solidFill>
                  <a:prstClr val="white"/>
                </a:solidFill>
                <a:latin typeface="Roboto Slab"/>
                <a:ea typeface="Calibri" panose="020F0502020204030204" pitchFamily="34" charset="0"/>
                <a:cs typeface="Arial" panose="020B0604020202020204" pitchFamily="34" charset="0"/>
              </a:rPr>
              <a:t>race</a:t>
            </a:r>
            <a:r>
              <a:rPr kumimoji="0" lang="en-IN" sz="1600" b="0" i="0" u="none" strike="noStrike" kern="1200" cap="none" spc="0" normalizeH="0" baseline="0" noProof="0" dirty="0">
                <a:ln>
                  <a:noFill/>
                </a:ln>
                <a:solidFill>
                  <a:prstClr val="white"/>
                </a:solidFill>
                <a:effectLst/>
                <a:uLnTx/>
                <a:uFillTx/>
                <a:latin typeface="Roboto Slab"/>
                <a:ea typeface="Calibri" panose="020F0502020204030204" pitchFamily="34" charset="0"/>
                <a:cs typeface="Arial" panose="020B0604020202020204" pitchFamily="34" charset="0"/>
              </a:rPr>
              <a:t>.reva.edu.in</a:t>
            </a:r>
          </a:p>
        </p:txBody>
      </p:sp>
      <p:sp>
        <p:nvSpPr>
          <p:cNvPr id="8" name="Title 2"/>
          <p:cNvSpPr txBox="1">
            <a:spLocks/>
          </p:cNvSpPr>
          <p:nvPr/>
        </p:nvSpPr>
        <p:spPr>
          <a:xfrm>
            <a:off x="6646333" y="316049"/>
            <a:ext cx="5267501" cy="57987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r" defTabSz="914400" rtl="0" eaLnBrk="1" fontAlgn="auto" latinLnBrk="0" hangingPunct="1">
              <a:lnSpc>
                <a:spcPct val="90000"/>
              </a:lnSpc>
              <a:spcBef>
                <a:spcPct val="0"/>
              </a:spcBef>
              <a:spcAft>
                <a:spcPts val="0"/>
              </a:spcAft>
              <a:buClrTx/>
              <a:buSzTx/>
              <a:buFontTx/>
              <a:buNone/>
              <a:tabLst/>
              <a:defRPr/>
            </a:pPr>
            <a:r>
              <a:rPr kumimoji="0" lang="en-IN" sz="1400" b="1" i="0" u="none" strike="noStrike" kern="1200" cap="none" spc="0" normalizeH="0" baseline="0" noProof="0" dirty="0">
                <a:ln>
                  <a:noFill/>
                </a:ln>
                <a:solidFill>
                  <a:srgbClr val="595959"/>
                </a:solidFill>
                <a:effectLst/>
                <a:uLnTx/>
                <a:uFillTx/>
                <a:latin typeface="Roboto Slab"/>
                <a:ea typeface="+mj-ea"/>
                <a:cs typeface="+mj-cs"/>
              </a:rPr>
              <a:t>REVA Academy for Corporate Excellence (RACE)</a:t>
            </a:r>
          </a:p>
        </p:txBody>
      </p:sp>
    </p:spTree>
    <p:extLst>
      <p:ext uri="{BB962C8B-B14F-4D97-AF65-F5344CB8AC3E}">
        <p14:creationId xmlns:p14="http://schemas.microsoft.com/office/powerpoint/2010/main" val="38190352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IN" dirty="0"/>
              <a:t>Agenda</a:t>
            </a:r>
          </a:p>
        </p:txBody>
      </p:sp>
      <p:sp>
        <p:nvSpPr>
          <p:cNvPr id="2" name="Date Placeholder 1">
            <a:extLst>
              <a:ext uri="{FF2B5EF4-FFF2-40B4-BE49-F238E27FC236}">
                <a16:creationId xmlns:a16="http://schemas.microsoft.com/office/drawing/2014/main" id="{AEB98BC4-8BDF-A31B-7F68-4F2971CA6C94}"/>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schemeClr val="tx1"/>
                </a:solidFill>
                <a:effectLst/>
                <a:uLnTx/>
                <a:uFillTx/>
                <a:latin typeface="Roboto Slab"/>
                <a:ea typeface="+mn-ea"/>
                <a:cs typeface="+mn-cs"/>
              </a:rPr>
              <a:t>10th October 2026</a:t>
            </a:r>
            <a:endParaRPr kumimoji="0" lang="en-US" sz="1200" b="0" i="0" u="none" strike="noStrike" kern="1200" cap="none" spc="0" normalizeH="0" baseline="0" noProof="0">
              <a:ln>
                <a:noFill/>
              </a:ln>
              <a:solidFill>
                <a:schemeClr val="tx1"/>
              </a:solidFill>
              <a:effectLst/>
              <a:uLnTx/>
              <a:uFillTx/>
              <a:latin typeface="Roboto Slab"/>
              <a:ea typeface="+mn-ea"/>
              <a:cs typeface="+mn-cs"/>
            </a:endParaRPr>
          </a:p>
        </p:txBody>
      </p:sp>
      <p:sp>
        <p:nvSpPr>
          <p:cNvPr id="6" name="Footer Placeholder 5">
            <a:extLst>
              <a:ext uri="{FF2B5EF4-FFF2-40B4-BE49-F238E27FC236}">
                <a16:creationId xmlns:a16="http://schemas.microsoft.com/office/drawing/2014/main" id="{55B31472-8299-9197-981E-6E011EBDF926}"/>
              </a:ext>
            </a:extLst>
          </p:cNvPr>
          <p:cNvSpPr>
            <a:spLocks noGrp="1"/>
          </p:cNvSpPr>
          <p:nvPr>
            <p:ph type="ftr" sz="quarter" idx="3"/>
          </p:nvPr>
        </p:nvSpPr>
        <p:spPr/>
        <p:txBody>
          <a:bodyPr/>
          <a:lstStyle/>
          <a:p>
            <a:pPr>
              <a:defRPr/>
            </a:pPr>
            <a:r>
              <a:rPr lang="en-US">
                <a:solidFill>
                  <a:schemeClr val="tx1"/>
                </a:solidFill>
              </a:rPr>
              <a:t>REVA Academy for Corporate Excellence – RACE | race.reva.edu.in</a:t>
            </a:r>
            <a:endParaRPr lang="en-US" dirty="0">
              <a:solidFill>
                <a:schemeClr val="tx1"/>
              </a:solidFill>
            </a:endParaRPr>
          </a:p>
        </p:txBody>
      </p:sp>
      <p:sp>
        <p:nvSpPr>
          <p:cNvPr id="8" name="Slide Number Placeholder 7">
            <a:extLst>
              <a:ext uri="{FF2B5EF4-FFF2-40B4-BE49-F238E27FC236}">
                <a16:creationId xmlns:a16="http://schemas.microsoft.com/office/drawing/2014/main" id="{7085CCD4-5663-6CFF-9C18-AE2E2E78DD84}"/>
              </a:ext>
            </a:extLst>
          </p:cNvPr>
          <p:cNvSpPr>
            <a:spLocks noGrp="1"/>
          </p:cNvSpPr>
          <p:nvPr>
            <p:ph type="sldNum" sz="quarter" idx="12"/>
          </p:nvPr>
        </p:nvSpPr>
        <p:spPr/>
        <p:txBody>
          <a:bodyPr/>
          <a:lstStyle/>
          <a:p>
            <a:pPr>
              <a:defRPr/>
            </a:pPr>
            <a:r>
              <a:t>2/16</a:t>
            </a:r>
            <a:endParaRPr lang="en-US" dirty="0"/>
          </a:p>
        </p:txBody>
      </p:sp>
      <p:sp>
        <p:nvSpPr>
          <p:cNvPr id="9" name="Oval 8"/>
          <p:cNvSpPr/>
          <p:nvPr/>
        </p:nvSpPr>
        <p:spPr>
          <a:xfrm>
            <a:off x="822960" y="1371600"/>
            <a:ext cx="566928" cy="566928"/>
          </a:xfrm>
          <a:prstGeom prst="ellipse">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500" b="1">
                <a:solidFill>
                  <a:srgbClr val="FFFFFF"/>
                </a:solidFill>
                <a:latin typeface="Arial"/>
              </a:rPr>
              <a:t>01</a:t>
            </a:r>
          </a:p>
        </p:txBody>
      </p:sp>
      <p:sp>
        <p:nvSpPr>
          <p:cNvPr id="10" name="TextBox 9"/>
          <p:cNvSpPr txBox="1"/>
          <p:nvPr/>
        </p:nvSpPr>
        <p:spPr>
          <a:xfrm>
            <a:off x="1554480" y="1325880"/>
            <a:ext cx="4480560" cy="685800"/>
          </a:xfrm>
          <a:prstGeom prst="rect">
            <a:avLst/>
          </a:prstGeom>
          <a:noFill/>
        </p:spPr>
        <p:txBody>
          <a:bodyPr wrap="square" anchor="t" lIns="45720" rIns="45720">
            <a:spAutoFit/>
          </a:bodyPr>
          <a:lstStyle/>
          <a:p>
            <a:pPr algn="l">
              <a:spcAft>
                <a:spcPts val="400"/>
              </a:spcAft>
            </a:pPr>
            <a:r>
              <a:rPr sz="1700" b="1" i="0">
                <a:solidFill>
                  <a:srgbClr val="333333"/>
                </a:solidFill>
                <a:latin typeface="Arial"/>
              </a:rPr>
              <a:t>Introduction</a:t>
            </a:r>
          </a:p>
          <a:p>
            <a:pPr algn="l">
              <a:spcAft>
                <a:spcPts val="400"/>
              </a:spcAft>
            </a:pPr>
            <a:r>
              <a:rPr sz="1200" b="0" i="0">
                <a:solidFill>
                  <a:srgbClr val="6B6B6B"/>
                </a:solidFill>
                <a:latin typeface="Arial"/>
              </a:rPr>
              <a:t>Background | Why this study</a:t>
            </a:r>
          </a:p>
        </p:txBody>
      </p:sp>
      <p:sp>
        <p:nvSpPr>
          <p:cNvPr id="11" name="Oval 10"/>
          <p:cNvSpPr/>
          <p:nvPr/>
        </p:nvSpPr>
        <p:spPr>
          <a:xfrm>
            <a:off x="822960" y="2331720"/>
            <a:ext cx="566928" cy="566928"/>
          </a:xfrm>
          <a:prstGeom prst="ellipse">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500" b="1">
                <a:solidFill>
                  <a:srgbClr val="FFFFFF"/>
                </a:solidFill>
                <a:latin typeface="Arial"/>
              </a:rPr>
              <a:t>02</a:t>
            </a:r>
          </a:p>
        </p:txBody>
      </p:sp>
      <p:sp>
        <p:nvSpPr>
          <p:cNvPr id="12" name="TextBox 11"/>
          <p:cNvSpPr txBox="1"/>
          <p:nvPr/>
        </p:nvSpPr>
        <p:spPr>
          <a:xfrm>
            <a:off x="1554480" y="2286000"/>
            <a:ext cx="4480560" cy="685800"/>
          </a:xfrm>
          <a:prstGeom prst="rect">
            <a:avLst/>
          </a:prstGeom>
          <a:noFill/>
        </p:spPr>
        <p:txBody>
          <a:bodyPr wrap="square" anchor="t" lIns="45720" rIns="45720">
            <a:spAutoFit/>
          </a:bodyPr>
          <a:lstStyle/>
          <a:p>
            <a:pPr algn="l">
              <a:spcAft>
                <a:spcPts val="400"/>
              </a:spcAft>
            </a:pPr>
            <a:r>
              <a:rPr sz="1700" b="1" i="0">
                <a:solidFill>
                  <a:srgbClr val="333333"/>
                </a:solidFill>
                <a:latin typeface="Arial"/>
              </a:rPr>
              <a:t>Literature Review</a:t>
            </a:r>
          </a:p>
          <a:p>
            <a:pPr algn="l">
              <a:spcAft>
                <a:spcPts val="400"/>
              </a:spcAft>
            </a:pPr>
            <a:r>
              <a:rPr sz="1200" b="0" i="0">
                <a:solidFill>
                  <a:srgbClr val="6B6B6B"/>
                </a:solidFill>
                <a:latin typeface="Arial"/>
              </a:rPr>
              <a:t>Seminal works | Research gap</a:t>
            </a:r>
          </a:p>
        </p:txBody>
      </p:sp>
      <p:sp>
        <p:nvSpPr>
          <p:cNvPr id="13" name="Oval 12"/>
          <p:cNvSpPr/>
          <p:nvPr/>
        </p:nvSpPr>
        <p:spPr>
          <a:xfrm>
            <a:off x="822960" y="3291839"/>
            <a:ext cx="566928" cy="566928"/>
          </a:xfrm>
          <a:prstGeom prst="ellipse">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500" b="1">
                <a:solidFill>
                  <a:srgbClr val="FFFFFF"/>
                </a:solidFill>
                <a:latin typeface="Arial"/>
              </a:rPr>
              <a:t>03</a:t>
            </a:r>
          </a:p>
        </p:txBody>
      </p:sp>
      <p:sp>
        <p:nvSpPr>
          <p:cNvPr id="14" name="TextBox 13"/>
          <p:cNvSpPr txBox="1"/>
          <p:nvPr/>
        </p:nvSpPr>
        <p:spPr>
          <a:xfrm>
            <a:off x="1554480" y="3246120"/>
            <a:ext cx="4480560" cy="685800"/>
          </a:xfrm>
          <a:prstGeom prst="rect">
            <a:avLst/>
          </a:prstGeom>
          <a:noFill/>
        </p:spPr>
        <p:txBody>
          <a:bodyPr wrap="square" anchor="t" lIns="45720" rIns="45720">
            <a:spAutoFit/>
          </a:bodyPr>
          <a:lstStyle/>
          <a:p>
            <a:pPr algn="l">
              <a:spcAft>
                <a:spcPts val="400"/>
              </a:spcAft>
            </a:pPr>
            <a:r>
              <a:rPr sz="1700" b="1" i="0">
                <a:solidFill>
                  <a:srgbClr val="333333"/>
                </a:solidFill>
                <a:latin typeface="Arial"/>
              </a:rPr>
              <a:t>Problem Statement</a:t>
            </a:r>
          </a:p>
          <a:p>
            <a:pPr algn="l">
              <a:spcAft>
                <a:spcPts val="400"/>
              </a:spcAft>
            </a:pPr>
            <a:r>
              <a:rPr sz="1200" b="0" i="0">
                <a:solidFill>
                  <a:srgbClr val="6B6B6B"/>
                </a:solidFill>
                <a:latin typeface="Arial"/>
              </a:rPr>
              <a:t>Why CVSS alone fails</a:t>
            </a:r>
          </a:p>
        </p:txBody>
      </p:sp>
      <p:sp>
        <p:nvSpPr>
          <p:cNvPr id="15" name="Oval 14"/>
          <p:cNvSpPr/>
          <p:nvPr/>
        </p:nvSpPr>
        <p:spPr>
          <a:xfrm>
            <a:off x="822960" y="4251960"/>
            <a:ext cx="566928" cy="566928"/>
          </a:xfrm>
          <a:prstGeom prst="ellipse">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500" b="1">
                <a:solidFill>
                  <a:srgbClr val="FFFFFF"/>
                </a:solidFill>
                <a:latin typeface="Arial"/>
              </a:rPr>
              <a:t>04</a:t>
            </a:r>
          </a:p>
        </p:txBody>
      </p:sp>
      <p:sp>
        <p:nvSpPr>
          <p:cNvPr id="16" name="TextBox 15"/>
          <p:cNvSpPr txBox="1"/>
          <p:nvPr/>
        </p:nvSpPr>
        <p:spPr>
          <a:xfrm>
            <a:off x="1554480" y="4206240"/>
            <a:ext cx="4480560" cy="685800"/>
          </a:xfrm>
          <a:prstGeom prst="rect">
            <a:avLst/>
          </a:prstGeom>
          <a:noFill/>
        </p:spPr>
        <p:txBody>
          <a:bodyPr wrap="square" anchor="t" lIns="45720" rIns="45720">
            <a:spAutoFit/>
          </a:bodyPr>
          <a:lstStyle/>
          <a:p>
            <a:pPr algn="l">
              <a:spcAft>
                <a:spcPts val="400"/>
              </a:spcAft>
            </a:pPr>
            <a:r>
              <a:rPr sz="1700" b="1" i="0">
                <a:solidFill>
                  <a:srgbClr val="333333"/>
                </a:solidFill>
                <a:latin typeface="Arial"/>
              </a:rPr>
              <a:t>Project Objectives</a:t>
            </a:r>
          </a:p>
          <a:p>
            <a:pPr algn="l">
              <a:spcAft>
                <a:spcPts val="400"/>
              </a:spcAft>
            </a:pPr>
            <a:r>
              <a:rPr sz="1200" b="0" i="0">
                <a:solidFill>
                  <a:srgbClr val="6B6B6B"/>
                </a:solidFill>
                <a:latin typeface="Arial"/>
              </a:rPr>
              <a:t>What Cap-2 had to prove</a:t>
            </a:r>
          </a:p>
        </p:txBody>
      </p:sp>
      <p:sp>
        <p:nvSpPr>
          <p:cNvPr id="17" name="Oval 16"/>
          <p:cNvSpPr/>
          <p:nvPr/>
        </p:nvSpPr>
        <p:spPr>
          <a:xfrm>
            <a:off x="822960" y="5212080"/>
            <a:ext cx="566928" cy="566928"/>
          </a:xfrm>
          <a:prstGeom prst="ellipse">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500" b="1">
                <a:solidFill>
                  <a:srgbClr val="FFFFFF"/>
                </a:solidFill>
                <a:latin typeface="Arial"/>
              </a:rPr>
              <a:t>05</a:t>
            </a:r>
          </a:p>
        </p:txBody>
      </p:sp>
      <p:sp>
        <p:nvSpPr>
          <p:cNvPr id="18" name="TextBox 17"/>
          <p:cNvSpPr txBox="1"/>
          <p:nvPr/>
        </p:nvSpPr>
        <p:spPr>
          <a:xfrm>
            <a:off x="1554480" y="5166360"/>
            <a:ext cx="4480560" cy="685800"/>
          </a:xfrm>
          <a:prstGeom prst="rect">
            <a:avLst/>
          </a:prstGeom>
          <a:noFill/>
        </p:spPr>
        <p:txBody>
          <a:bodyPr wrap="square" anchor="t" lIns="45720" rIns="45720">
            <a:spAutoFit/>
          </a:bodyPr>
          <a:lstStyle/>
          <a:p>
            <a:pPr algn="l">
              <a:spcAft>
                <a:spcPts val="400"/>
              </a:spcAft>
            </a:pPr>
            <a:r>
              <a:rPr sz="1700" b="1" i="0">
                <a:solidFill>
                  <a:srgbClr val="333333"/>
                </a:solidFill>
                <a:latin typeface="Arial"/>
              </a:rPr>
              <a:t>Architecture &amp; Methodology</a:t>
            </a:r>
          </a:p>
          <a:p>
            <a:pPr algn="l">
              <a:spcAft>
                <a:spcPts val="400"/>
              </a:spcAft>
            </a:pPr>
            <a:r>
              <a:rPr sz="1200" b="0" i="0">
                <a:solidFill>
                  <a:srgbClr val="6B6B6B"/>
                </a:solidFill>
                <a:latin typeface="Arial"/>
              </a:rPr>
              <a:t>Pipeline | Risk formula</a:t>
            </a:r>
          </a:p>
        </p:txBody>
      </p:sp>
      <p:sp>
        <p:nvSpPr>
          <p:cNvPr id="19" name="Oval 18"/>
          <p:cNvSpPr/>
          <p:nvPr/>
        </p:nvSpPr>
        <p:spPr>
          <a:xfrm>
            <a:off x="6400800" y="1371600"/>
            <a:ext cx="566928" cy="566928"/>
          </a:xfrm>
          <a:prstGeom prst="ellipse">
            <a:avLst/>
          </a:prstGeom>
          <a:solidFill>
            <a:srgbClr val="40404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500" b="1">
                <a:solidFill>
                  <a:srgbClr val="FFFFFF"/>
                </a:solidFill>
                <a:latin typeface="Arial"/>
              </a:rPr>
              <a:t>06</a:t>
            </a:r>
          </a:p>
        </p:txBody>
      </p:sp>
      <p:sp>
        <p:nvSpPr>
          <p:cNvPr id="20" name="TextBox 19"/>
          <p:cNvSpPr txBox="1"/>
          <p:nvPr/>
        </p:nvSpPr>
        <p:spPr>
          <a:xfrm>
            <a:off x="7132320" y="1325880"/>
            <a:ext cx="4480560" cy="685800"/>
          </a:xfrm>
          <a:prstGeom prst="rect">
            <a:avLst/>
          </a:prstGeom>
          <a:noFill/>
        </p:spPr>
        <p:txBody>
          <a:bodyPr wrap="square" anchor="t" lIns="45720" rIns="45720">
            <a:spAutoFit/>
          </a:bodyPr>
          <a:lstStyle/>
          <a:p>
            <a:pPr algn="l">
              <a:spcAft>
                <a:spcPts val="400"/>
              </a:spcAft>
            </a:pPr>
            <a:r>
              <a:rPr sz="1700" b="1" i="0">
                <a:solidFill>
                  <a:srgbClr val="333333"/>
                </a:solidFill>
                <a:latin typeface="Arial"/>
              </a:rPr>
              <a:t>Data &amp; Model</a:t>
            </a:r>
          </a:p>
          <a:p>
            <a:pPr algn="l">
              <a:spcAft>
                <a:spcPts val="400"/>
              </a:spcAft>
            </a:pPr>
            <a:r>
              <a:rPr sz="1200" b="0" i="0">
                <a:solidFill>
                  <a:srgbClr val="6B6B6B"/>
                </a:solidFill>
                <a:latin typeface="Arial"/>
              </a:rPr>
              <a:t>Sources | Features | Table 1</a:t>
            </a:r>
          </a:p>
        </p:txBody>
      </p:sp>
      <p:sp>
        <p:nvSpPr>
          <p:cNvPr id="21" name="Oval 20"/>
          <p:cNvSpPr/>
          <p:nvPr/>
        </p:nvSpPr>
        <p:spPr>
          <a:xfrm>
            <a:off x="6400800" y="2331720"/>
            <a:ext cx="566928" cy="566928"/>
          </a:xfrm>
          <a:prstGeom prst="ellipse">
            <a:avLst/>
          </a:prstGeom>
          <a:solidFill>
            <a:srgbClr val="40404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500" b="1">
                <a:solidFill>
                  <a:srgbClr val="FFFFFF"/>
                </a:solidFill>
                <a:latin typeface="Arial"/>
              </a:rPr>
              <a:t>07</a:t>
            </a:r>
          </a:p>
        </p:txBody>
      </p:sp>
      <p:sp>
        <p:nvSpPr>
          <p:cNvPr id="22" name="TextBox 21"/>
          <p:cNvSpPr txBox="1"/>
          <p:nvPr/>
        </p:nvSpPr>
        <p:spPr>
          <a:xfrm>
            <a:off x="7132320" y="2286000"/>
            <a:ext cx="4480560" cy="685800"/>
          </a:xfrm>
          <a:prstGeom prst="rect">
            <a:avLst/>
          </a:prstGeom>
          <a:noFill/>
        </p:spPr>
        <p:txBody>
          <a:bodyPr wrap="square" anchor="t" lIns="45720" rIns="45720">
            <a:spAutoFit/>
          </a:bodyPr>
          <a:lstStyle/>
          <a:p>
            <a:pPr algn="l">
              <a:spcAft>
                <a:spcPts val="400"/>
              </a:spcAft>
            </a:pPr>
            <a:r>
              <a:rPr sz="1700" b="1" i="0">
                <a:solidFill>
                  <a:srgbClr val="333333"/>
                </a:solidFill>
                <a:latin typeface="Arial"/>
              </a:rPr>
              <a:t>Backtest &amp; Ablation</a:t>
            </a:r>
          </a:p>
          <a:p>
            <a:pPr algn="l">
              <a:spcAft>
                <a:spcPts val="400"/>
              </a:spcAft>
            </a:pPr>
            <a:r>
              <a:rPr sz="1200" b="0" i="0">
                <a:solidFill>
                  <a:srgbClr val="6B6B6B"/>
                </a:solidFill>
                <a:latin typeface="Arial"/>
              </a:rPr>
              <a:t>Tables 2 and 3</a:t>
            </a:r>
          </a:p>
        </p:txBody>
      </p:sp>
      <p:sp>
        <p:nvSpPr>
          <p:cNvPr id="23" name="Oval 22"/>
          <p:cNvSpPr/>
          <p:nvPr/>
        </p:nvSpPr>
        <p:spPr>
          <a:xfrm>
            <a:off x="6400800" y="3291839"/>
            <a:ext cx="566928" cy="566928"/>
          </a:xfrm>
          <a:prstGeom prst="ellipse">
            <a:avLst/>
          </a:prstGeom>
          <a:solidFill>
            <a:srgbClr val="40404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500" b="1">
                <a:solidFill>
                  <a:srgbClr val="FFFFFF"/>
                </a:solidFill>
                <a:latin typeface="Arial"/>
              </a:rPr>
              <a:t>08</a:t>
            </a:r>
          </a:p>
        </p:txBody>
      </p:sp>
      <p:sp>
        <p:nvSpPr>
          <p:cNvPr id="24" name="TextBox 23"/>
          <p:cNvSpPr txBox="1"/>
          <p:nvPr/>
        </p:nvSpPr>
        <p:spPr>
          <a:xfrm>
            <a:off x="7132320" y="3246120"/>
            <a:ext cx="4480560" cy="685800"/>
          </a:xfrm>
          <a:prstGeom prst="rect">
            <a:avLst/>
          </a:prstGeom>
          <a:noFill/>
        </p:spPr>
        <p:txBody>
          <a:bodyPr wrap="square" anchor="t" lIns="45720" rIns="45720">
            <a:spAutoFit/>
          </a:bodyPr>
          <a:lstStyle/>
          <a:p>
            <a:pPr algn="l">
              <a:spcAft>
                <a:spcPts val="400"/>
              </a:spcAft>
            </a:pPr>
            <a:r>
              <a:rPr sz="1700" b="1" i="0">
                <a:solidFill>
                  <a:srgbClr val="333333"/>
                </a:solidFill>
                <a:latin typeface="Arial"/>
              </a:rPr>
              <a:t>Live Demo &amp; MLOps</a:t>
            </a:r>
          </a:p>
          <a:p>
            <a:pPr algn="l">
              <a:spcAft>
                <a:spcPts val="400"/>
              </a:spcAft>
            </a:pPr>
            <a:r>
              <a:rPr sz="1200" b="0" i="0">
                <a:solidFill>
                  <a:srgbClr val="6B6B6B"/>
                </a:solidFill>
                <a:latin typeface="Arial"/>
              </a:rPr>
              <a:t>Dashboard | Nightly retrain | API</a:t>
            </a:r>
          </a:p>
        </p:txBody>
      </p:sp>
      <p:sp>
        <p:nvSpPr>
          <p:cNvPr id="25" name="Oval 24"/>
          <p:cNvSpPr/>
          <p:nvPr/>
        </p:nvSpPr>
        <p:spPr>
          <a:xfrm>
            <a:off x="6400800" y="4251960"/>
            <a:ext cx="566928" cy="566928"/>
          </a:xfrm>
          <a:prstGeom prst="ellipse">
            <a:avLst/>
          </a:prstGeom>
          <a:solidFill>
            <a:srgbClr val="40404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500" b="1">
                <a:solidFill>
                  <a:srgbClr val="FFFFFF"/>
                </a:solidFill>
                <a:latin typeface="Arial"/>
              </a:rPr>
              <a:t>09</a:t>
            </a:r>
          </a:p>
        </p:txBody>
      </p:sp>
      <p:sp>
        <p:nvSpPr>
          <p:cNvPr id="26" name="TextBox 25"/>
          <p:cNvSpPr txBox="1"/>
          <p:nvPr/>
        </p:nvSpPr>
        <p:spPr>
          <a:xfrm>
            <a:off x="7132320" y="4206240"/>
            <a:ext cx="4480560" cy="685800"/>
          </a:xfrm>
          <a:prstGeom prst="rect">
            <a:avLst/>
          </a:prstGeom>
          <a:noFill/>
        </p:spPr>
        <p:txBody>
          <a:bodyPr wrap="square" anchor="t" lIns="45720" rIns="45720">
            <a:spAutoFit/>
          </a:bodyPr>
          <a:lstStyle/>
          <a:p>
            <a:pPr algn="l">
              <a:spcAft>
                <a:spcPts val="400"/>
              </a:spcAft>
            </a:pPr>
            <a:r>
              <a:rPr sz="1700" b="1" i="0">
                <a:solidFill>
                  <a:srgbClr val="333333"/>
                </a:solidFill>
                <a:latin typeface="Arial"/>
              </a:rPr>
              <a:t>Limitations &amp; Future Work</a:t>
            </a:r>
          </a:p>
          <a:p>
            <a:pPr algn="l">
              <a:spcAft>
                <a:spcPts val="400"/>
              </a:spcAft>
            </a:pPr>
            <a:r>
              <a:rPr sz="1200" b="0" i="0">
                <a:solidFill>
                  <a:srgbClr val="6B6B6B"/>
                </a:solidFill>
                <a:latin typeface="Arial"/>
              </a:rPr>
              <a:t>What the numbers do not show</a:t>
            </a:r>
          </a:p>
        </p:txBody>
      </p:sp>
      <p:sp>
        <p:nvSpPr>
          <p:cNvPr id="27" name="Oval 26"/>
          <p:cNvSpPr/>
          <p:nvPr/>
        </p:nvSpPr>
        <p:spPr>
          <a:xfrm>
            <a:off x="6400800" y="5212080"/>
            <a:ext cx="566928" cy="566928"/>
          </a:xfrm>
          <a:prstGeom prst="ellipse">
            <a:avLst/>
          </a:prstGeom>
          <a:solidFill>
            <a:srgbClr val="40404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500" b="1">
                <a:solidFill>
                  <a:srgbClr val="FFFFFF"/>
                </a:solidFill>
                <a:latin typeface="Arial"/>
              </a:rPr>
              <a:t>10</a:t>
            </a:r>
          </a:p>
        </p:txBody>
      </p:sp>
      <p:sp>
        <p:nvSpPr>
          <p:cNvPr id="28" name="TextBox 27"/>
          <p:cNvSpPr txBox="1"/>
          <p:nvPr/>
        </p:nvSpPr>
        <p:spPr>
          <a:xfrm>
            <a:off x="7132320" y="5166360"/>
            <a:ext cx="4480560" cy="685800"/>
          </a:xfrm>
          <a:prstGeom prst="rect">
            <a:avLst/>
          </a:prstGeom>
          <a:noFill/>
        </p:spPr>
        <p:txBody>
          <a:bodyPr wrap="square" anchor="t" lIns="45720" rIns="45720">
            <a:spAutoFit/>
          </a:bodyPr>
          <a:lstStyle/>
          <a:p>
            <a:pPr algn="l">
              <a:spcAft>
                <a:spcPts val="400"/>
              </a:spcAft>
            </a:pPr>
            <a:r>
              <a:rPr sz="1700" b="1" i="0">
                <a:solidFill>
                  <a:srgbClr val="333333"/>
                </a:solidFill>
                <a:latin typeface="Arial"/>
              </a:rPr>
              <a:t>References</a:t>
            </a:r>
          </a:p>
          <a:p>
            <a:pPr algn="l">
              <a:spcAft>
                <a:spcPts val="400"/>
              </a:spcAft>
            </a:pPr>
            <a:r>
              <a:rPr sz="1200" b="0" i="0">
                <a:solidFill>
                  <a:srgbClr val="6B6B6B"/>
                </a:solidFill>
                <a:latin typeface="Arial"/>
              </a:rPr>
              <a:t>Papers | Data sources</a:t>
            </a:r>
          </a:p>
        </p:txBody>
      </p:sp>
    </p:spTree>
    <p:extLst>
      <p:ext uri="{BB962C8B-B14F-4D97-AF65-F5344CB8AC3E}">
        <p14:creationId xmlns:p14="http://schemas.microsoft.com/office/powerpoint/2010/main" val="32483608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1AFB0D-B6BF-17A1-5083-D53D1C7FC77C}"/>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BA7B6815-C78F-C537-5A38-1CF8A9D56589}"/>
              </a:ext>
            </a:extLst>
          </p:cNvPr>
          <p:cNvSpPr>
            <a:spLocks noGrp="1"/>
          </p:cNvSpPr>
          <p:nvPr>
            <p:ph type="title"/>
          </p:nvPr>
        </p:nvSpPr>
        <p:spPr/>
        <p:txBody>
          <a:bodyPr>
            <a:normAutofit/>
          </a:bodyPr>
          <a:lstStyle/>
          <a:p>
            <a:r>
              <a:rPr lang="en-US" sz="3600" dirty="0">
                <a:cs typeface="Arial" panose="020B0604020202020204" pitchFamily="34" charset="0"/>
              </a:rPr>
              <a:t>Background Information</a:t>
            </a:r>
            <a:endParaRPr lang="en-IN" dirty="0"/>
          </a:p>
        </p:txBody>
      </p:sp>
      <p:sp>
        <p:nvSpPr>
          <p:cNvPr id="4" name="Date Placeholder 3">
            <a:extLst>
              <a:ext uri="{FF2B5EF4-FFF2-40B4-BE49-F238E27FC236}">
                <a16:creationId xmlns:a16="http://schemas.microsoft.com/office/drawing/2014/main" id="{B81F57BA-F00B-F8C5-25C8-23E2885C9E24}"/>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schemeClr val="tx1"/>
                </a:solidFill>
                <a:effectLst/>
                <a:uLnTx/>
                <a:uFillTx/>
                <a:latin typeface="Roboto Slab"/>
                <a:ea typeface="+mn-ea"/>
                <a:cs typeface="+mn-cs"/>
              </a:rPr>
              <a:t>10th October 2026</a:t>
            </a:r>
            <a:endParaRPr kumimoji="0" lang="en-US" sz="1200" b="0" i="0" u="none" strike="noStrike" kern="1200" cap="none" spc="0" normalizeH="0" baseline="0" noProof="0" dirty="0">
              <a:ln>
                <a:noFill/>
              </a:ln>
              <a:solidFill>
                <a:schemeClr val="tx1"/>
              </a:solidFill>
              <a:effectLst/>
              <a:uLnTx/>
              <a:uFillTx/>
              <a:latin typeface="Roboto Slab"/>
              <a:ea typeface="+mn-ea"/>
              <a:cs typeface="+mn-cs"/>
            </a:endParaRPr>
          </a:p>
        </p:txBody>
      </p:sp>
      <p:sp>
        <p:nvSpPr>
          <p:cNvPr id="6" name="Slide Number Placeholder 5">
            <a:extLst>
              <a:ext uri="{FF2B5EF4-FFF2-40B4-BE49-F238E27FC236}">
                <a16:creationId xmlns:a16="http://schemas.microsoft.com/office/drawing/2014/main" id="{0F793F2A-7EE2-ED4A-3A00-B6A8A492B5A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latin typeface="Roboto Slab"/>
              </a:rPr>
              <a:t>3/16</a:t>
            </a:r>
          </a:p>
        </p:txBody>
      </p:sp>
      <p:sp>
        <p:nvSpPr>
          <p:cNvPr id="2" name="Footer Placeholder 1">
            <a:extLst>
              <a:ext uri="{FF2B5EF4-FFF2-40B4-BE49-F238E27FC236}">
                <a16:creationId xmlns:a16="http://schemas.microsoft.com/office/drawing/2014/main" id="{38C9784C-F8E2-45C6-7051-69C00F20FDA3}"/>
              </a:ext>
            </a:extLst>
          </p:cNvPr>
          <p:cNvSpPr>
            <a:spLocks noGrp="1"/>
          </p:cNvSpPr>
          <p:nvPr>
            <p:ph type="ftr" sz="quarter" idx="3"/>
          </p:nvPr>
        </p:nvSpPr>
        <p:spPr/>
        <p:txBody>
          <a:bodyPr/>
          <a:lstStyle/>
          <a:p>
            <a:pPr algn="r">
              <a:defRPr/>
            </a:pPr>
            <a:r>
              <a:rPr lang="en-US">
                <a:solidFill>
                  <a:schemeClr val="tx1"/>
                </a:solidFill>
              </a:rPr>
              <a:t>REVA Academy for Corporate Excellence – RACE | race.reva.edu.in</a:t>
            </a:r>
            <a:endParaRPr lang="en-US" dirty="0">
              <a:solidFill>
                <a:schemeClr val="tx1"/>
              </a:solidFill>
            </a:endParaRPr>
          </a:p>
        </p:txBody>
      </p:sp>
      <p:sp>
        <p:nvSpPr>
          <p:cNvPr id="3" name="TextBox 2">
            <a:extLst>
              <a:ext uri="{FF2B5EF4-FFF2-40B4-BE49-F238E27FC236}">
                <a16:creationId xmlns:a16="http://schemas.microsoft.com/office/drawing/2014/main" id="{29C07CA8-F446-DDDC-2EAA-D980BEF00F3A}"/>
              </a:ext>
            </a:extLst>
          </p:cNvPr>
          <p:cNvSpPr txBox="1"/>
          <p:nvPr/>
        </p:nvSpPr>
        <p:spPr>
          <a:xfrm>
            <a:off x="592304" y="1520538"/>
            <a:ext cx="11405605" cy="3143746"/>
          </a:xfrm>
          <a:prstGeom prst="rect">
            <a:avLst/>
          </a:prstGeom>
          <a:noFill/>
        </p:spPr>
        <p:txBody>
          <a:bodyPr wrap="square" rtlCol="0">
            <a:spAutoFit/>
          </a:bodyPr>
          <a:lstStyle/>
          <a:p>
            <a:pPr>
              <a:lnSpc>
                <a:spcPct val="150000"/>
              </a:lnSpc>
            </a:pPr>
            <a:r>
              <a:rPr lang="en-US" b="1" dirty="0"/>
              <a:t>Background</a:t>
            </a:r>
            <a:endParaRPr lang="en-IN" dirty="0"/>
          </a:p>
          <a:p>
            <a:pPr>
              <a:lnSpc>
                <a:spcPct val="150000"/>
              </a:lnSpc>
            </a:pPr>
            <a:r>
              <a:rPr lang="en-IN" sz="1600" dirty="0"/>
              <a:t>Traditional vulnerability management relies heavily on static CVSS scores, which fail to reflect the real-world risk, causing inefficiencies in risk prioritization and exposing systems to cyber attacks</a:t>
            </a:r>
          </a:p>
          <a:p>
            <a:pPr>
              <a:lnSpc>
                <a:spcPct val="150000"/>
              </a:lnSpc>
            </a:pPr>
            <a:endParaRPr lang="en-IN" dirty="0"/>
          </a:p>
          <a:p>
            <a:pPr>
              <a:lnSpc>
                <a:spcPct val="150000"/>
              </a:lnSpc>
            </a:pPr>
            <a:r>
              <a:rPr lang="en-US" b="1" dirty="0"/>
              <a:t>Why This Study</a:t>
            </a:r>
            <a:endParaRPr lang="en-IN" dirty="0"/>
          </a:p>
          <a:p>
            <a:pPr>
              <a:lnSpc>
                <a:spcPct val="150000"/>
              </a:lnSpc>
            </a:pPr>
            <a:r>
              <a:rPr lang="en-US" sz="1600" dirty="0"/>
              <a:t>This study proposes a risk-based prioritization framework integrating CVSS scores and SBOM data with threat intelligence and asset criticality to offer a proactive solution with business context-aware prioritization to generate context aware risk scores aiming to reduce risk exposure.</a:t>
            </a:r>
            <a:endParaRPr lang="en-IN" sz="1600" dirty="0"/>
          </a:p>
        </p:txBody>
      </p:sp>
    </p:spTree>
    <p:extLst>
      <p:ext uri="{BB962C8B-B14F-4D97-AF65-F5344CB8AC3E}">
        <p14:creationId xmlns:p14="http://schemas.microsoft.com/office/powerpoint/2010/main" val="1564373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B0DE61-58C3-25BA-C95A-5D5322CF7198}"/>
              </a:ext>
            </a:extLst>
          </p:cNvPr>
          <p:cNvSpPr>
            <a:spLocks noGrp="1"/>
          </p:cNvSpPr>
          <p:nvPr>
            <p:ph type="title"/>
          </p:nvPr>
        </p:nvSpPr>
        <p:spPr>
          <a:xfrm>
            <a:off x="3399919" y="304490"/>
            <a:ext cx="8382000" cy="670055"/>
          </a:xfrm>
        </p:spPr>
        <p:txBody>
          <a:bodyPr>
            <a:normAutofit/>
          </a:bodyPr>
          <a:lstStyle/>
          <a:p>
            <a:r>
              <a:rPr lang="en-US" altLang="ko-KR" dirty="0">
                <a:cs typeface="Arial" panose="020B0604020202020204" pitchFamily="34" charset="0"/>
              </a:rPr>
              <a:t>Literature Review</a:t>
            </a:r>
            <a:endParaRPr lang="en-IN" dirty="0">
              <a:cs typeface="Arial" panose="020B0604020202020204" pitchFamily="34" charset="0"/>
            </a:endParaRPr>
          </a:p>
        </p:txBody>
      </p:sp>
      <p:sp>
        <p:nvSpPr>
          <p:cNvPr id="3" name="Date Placeholder 2">
            <a:extLst>
              <a:ext uri="{FF2B5EF4-FFF2-40B4-BE49-F238E27FC236}">
                <a16:creationId xmlns:a16="http://schemas.microsoft.com/office/drawing/2014/main" id="{AC3AF0E5-4D51-3DB0-2EAE-F7C3562A81CA}"/>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Roboto Slab"/>
                <a:ea typeface="+mn-ea"/>
                <a:cs typeface="+mn-cs"/>
              </a:rPr>
              <a:t>10th October 2026</a:t>
            </a:r>
            <a:endParaRPr kumimoji="0" lang="en-US" sz="1200" b="0" i="0" u="none" strike="noStrike" kern="1200" cap="none" spc="0" normalizeH="0" baseline="0" noProof="0">
              <a:ln>
                <a:noFill/>
              </a:ln>
              <a:solidFill>
                <a:prstClr val="black">
                  <a:tint val="75000"/>
                </a:prstClr>
              </a:solidFill>
              <a:effectLst/>
              <a:uLnTx/>
              <a:uFillTx/>
              <a:latin typeface="Roboto Slab"/>
              <a:ea typeface="+mn-ea"/>
              <a:cs typeface="+mn-cs"/>
            </a:endParaRPr>
          </a:p>
        </p:txBody>
      </p:sp>
      <p:sp>
        <p:nvSpPr>
          <p:cNvPr id="6" name="Footer Placeholder 5">
            <a:extLst>
              <a:ext uri="{FF2B5EF4-FFF2-40B4-BE49-F238E27FC236}">
                <a16:creationId xmlns:a16="http://schemas.microsoft.com/office/drawing/2014/main" id="{4DF37903-95EF-8CD2-FC46-A437CEFF07C4}"/>
              </a:ext>
            </a:extLst>
          </p:cNvPr>
          <p:cNvSpPr>
            <a:spLocks noGrp="1"/>
          </p:cNvSpPr>
          <p:nvPr>
            <p:ph type="ftr" sz="quarter" idx="3"/>
          </p:nvPr>
        </p:nvSpPr>
        <p:spPr/>
        <p:txBody>
          <a:bodyPr/>
          <a:lstStyle/>
          <a:p>
            <a:pPr>
              <a:defRPr/>
            </a:pPr>
            <a:r>
              <a:rPr lang="en-US">
                <a:solidFill>
                  <a:prstClr val="black">
                    <a:tint val="75000"/>
                  </a:prstClr>
                </a:solidFill>
              </a:rPr>
              <a:t>REVA Academy for Corporate Excellence – RACE | race.reva.edu.in</a:t>
            </a:r>
            <a:endParaRPr lang="en-US" dirty="0">
              <a:solidFill>
                <a:prstClr val="black">
                  <a:tint val="75000"/>
                </a:prstClr>
              </a:solidFill>
            </a:endParaRPr>
          </a:p>
        </p:txBody>
      </p:sp>
      <p:sp>
        <p:nvSpPr>
          <p:cNvPr id="8" name="TextBox 7">
            <a:extLst>
              <a:ext uri="{FF2B5EF4-FFF2-40B4-BE49-F238E27FC236}">
                <a16:creationId xmlns:a16="http://schemas.microsoft.com/office/drawing/2014/main" id="{7007C3E1-884F-0757-CFF8-A39FB23E5A9E}"/>
              </a:ext>
            </a:extLst>
          </p:cNvPr>
          <p:cNvSpPr txBox="1"/>
          <p:nvPr/>
        </p:nvSpPr>
        <p:spPr>
          <a:xfrm>
            <a:off x="7274227" y="1125022"/>
            <a:ext cx="4507692" cy="246221"/>
          </a:xfrm>
          <a:prstGeom prst="rect">
            <a:avLst/>
          </a:prstGeom>
          <a:noFill/>
        </p:spPr>
        <p:txBody>
          <a:bodyPr wrap="square" rtlCol="0">
            <a:spAutoFit/>
          </a:bodyPr>
          <a:lstStyle/>
          <a:p>
            <a:pPr algn="r"/>
            <a:r>
              <a:rPr lang="en-US" altLang="ko-KR" sz="1000" dirty="0">
                <a:solidFill>
                  <a:srgbClr val="FF0000"/>
                </a:solidFill>
                <a:latin typeface="+mj-lt"/>
                <a:ea typeface="FZShuTi" pitchFamily="2" charset="-122"/>
                <a:cs typeface="Arial" pitchFamily="34" charset="0"/>
              </a:rPr>
              <a:t>Seminal works | Summary | Research Gap</a:t>
            </a:r>
            <a:endParaRPr lang="en-US" altLang="ko-KR" sz="1000" dirty="0">
              <a:solidFill>
                <a:srgbClr val="FF0000"/>
              </a:solidFill>
              <a:latin typeface="+mj-lt"/>
              <a:cs typeface="Arial" pitchFamily="34" charset="0"/>
            </a:endParaRPr>
          </a:p>
        </p:txBody>
      </p:sp>
      <p:sp>
        <p:nvSpPr>
          <p:cNvPr id="10" name="Slide Number Placeholder 5">
            <a:extLst>
              <a:ext uri="{FF2B5EF4-FFF2-40B4-BE49-F238E27FC236}">
                <a16:creationId xmlns:a16="http://schemas.microsoft.com/office/drawing/2014/main" id="{6A1465D7-94FF-1DC7-7AFE-2361B83CBA5A}"/>
              </a:ext>
            </a:extLst>
          </p:cNvPr>
          <p:cNvSpPr>
            <a:spLocks noGrp="1"/>
          </p:cNvSpPr>
          <p:nvPr>
            <p:ph type="sldNum" sz="quarter" idx="12"/>
          </p:nvPr>
        </p:nvSpPr>
        <p:spPr>
          <a:xfrm>
            <a:off x="9194324" y="6382786"/>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effectLst/>
                <a:uLnTx/>
                <a:uFillTx/>
                <a:latin typeface="Roboto Slab"/>
                <a:ea typeface="+mn-ea"/>
                <a:cs typeface="+mn-cs"/>
              </a:rPr>
              <a:t>4/16</a:t>
            </a:r>
          </a:p>
        </p:txBody>
      </p:sp>
      <p:graphicFrame>
        <p:nvGraphicFramePr>
          <p:cNvPr id="4" name="Table 7">
            <a:extLst>
              <a:ext uri="{FF2B5EF4-FFF2-40B4-BE49-F238E27FC236}">
                <a16:creationId xmlns:a16="http://schemas.microsoft.com/office/drawing/2014/main" id="{317F542D-5C99-EFAA-E62B-E94F99DABE54}"/>
              </a:ext>
            </a:extLst>
          </p:cNvPr>
          <p:cNvGraphicFramePr>
            <a:graphicFrameLocks noGrp="1"/>
          </p:cNvGraphicFramePr>
          <p:nvPr>
            <p:extLst>
              <p:ext uri="{D42A27DB-BD31-4B8C-83A1-F6EECF244321}">
                <p14:modId xmlns:p14="http://schemas.microsoft.com/office/powerpoint/2010/main" val="2745605520"/>
              </p:ext>
            </p:extLst>
          </p:nvPr>
        </p:nvGraphicFramePr>
        <p:xfrm>
          <a:off x="254475" y="1084525"/>
          <a:ext cx="11715148" cy="5363746"/>
        </p:xfrm>
        <a:graphic>
          <a:graphicData uri="http://schemas.openxmlformats.org/drawingml/2006/table">
            <a:tbl>
              <a:tblPr firstRow="1" bandRow="1">
                <a:tableStyleId>{073A0DAA-6AF3-43AB-8588-CEC1D06C72B9}</a:tableStyleId>
              </a:tblPr>
              <a:tblGrid>
                <a:gridCol w="315513">
                  <a:extLst>
                    <a:ext uri="{9D8B030D-6E8A-4147-A177-3AD203B41FA5}">
                      <a16:colId xmlns:a16="http://schemas.microsoft.com/office/drawing/2014/main" val="1961210798"/>
                    </a:ext>
                  </a:extLst>
                </a:gridCol>
                <a:gridCol w="1679133">
                  <a:extLst>
                    <a:ext uri="{9D8B030D-6E8A-4147-A177-3AD203B41FA5}">
                      <a16:colId xmlns:a16="http://schemas.microsoft.com/office/drawing/2014/main" val="3306537469"/>
                    </a:ext>
                  </a:extLst>
                </a:gridCol>
                <a:gridCol w="1159621">
                  <a:extLst>
                    <a:ext uri="{9D8B030D-6E8A-4147-A177-3AD203B41FA5}">
                      <a16:colId xmlns:a16="http://schemas.microsoft.com/office/drawing/2014/main" val="1633340882"/>
                    </a:ext>
                  </a:extLst>
                </a:gridCol>
                <a:gridCol w="573405">
                  <a:extLst>
                    <a:ext uri="{9D8B030D-6E8A-4147-A177-3AD203B41FA5}">
                      <a16:colId xmlns:a16="http://schemas.microsoft.com/office/drawing/2014/main" val="16426956"/>
                    </a:ext>
                  </a:extLst>
                </a:gridCol>
                <a:gridCol w="2810924">
                  <a:extLst>
                    <a:ext uri="{9D8B030D-6E8A-4147-A177-3AD203B41FA5}">
                      <a16:colId xmlns:a16="http://schemas.microsoft.com/office/drawing/2014/main" val="333333027"/>
                    </a:ext>
                  </a:extLst>
                </a:gridCol>
                <a:gridCol w="2784203">
                  <a:extLst>
                    <a:ext uri="{9D8B030D-6E8A-4147-A177-3AD203B41FA5}">
                      <a16:colId xmlns:a16="http://schemas.microsoft.com/office/drawing/2014/main" val="858140143"/>
                    </a:ext>
                  </a:extLst>
                </a:gridCol>
                <a:gridCol w="2392349">
                  <a:extLst>
                    <a:ext uri="{9D8B030D-6E8A-4147-A177-3AD203B41FA5}">
                      <a16:colId xmlns:a16="http://schemas.microsoft.com/office/drawing/2014/main" val="367764134"/>
                    </a:ext>
                  </a:extLst>
                </a:gridCol>
              </a:tblGrid>
              <a:tr h="389192">
                <a:tc>
                  <a:txBody>
                    <a:bodyPr/>
                    <a:lstStyle/>
                    <a:p>
                      <a:pPr algn="ctr"/>
                      <a:r>
                        <a:rPr lang="en-IN" sz="800" dirty="0">
                          <a:latin typeface="Times New Roman" panose="02020603050405020304" pitchFamily="18" charset="0"/>
                          <a:cs typeface="Times New Roman" panose="02020603050405020304" pitchFamily="18" charset="0"/>
                        </a:rPr>
                        <a:t>No.</a:t>
                      </a:r>
                    </a:p>
                  </a:txBody>
                  <a:tcPr anchor="ctr"/>
                </a:tc>
                <a:tc>
                  <a:txBody>
                    <a:bodyPr/>
                    <a:lstStyle/>
                    <a:p>
                      <a:pPr algn="ctr"/>
                      <a:r>
                        <a:rPr lang="en-IN" sz="800" dirty="0">
                          <a:latin typeface="Times New Roman" panose="02020603050405020304" pitchFamily="18" charset="0"/>
                          <a:cs typeface="Times New Roman" panose="02020603050405020304" pitchFamily="18" charset="0"/>
                        </a:rPr>
                        <a:t>Title</a:t>
                      </a:r>
                    </a:p>
                  </a:txBody>
                  <a:tcPr anchor="ctr"/>
                </a:tc>
                <a:tc>
                  <a:txBody>
                    <a:bodyPr/>
                    <a:lstStyle/>
                    <a:p>
                      <a:pPr algn="ctr"/>
                      <a:r>
                        <a:rPr lang="en-IN" sz="800" dirty="0">
                          <a:latin typeface="Times New Roman" panose="02020603050405020304" pitchFamily="18" charset="0"/>
                          <a:cs typeface="Times New Roman" panose="02020603050405020304" pitchFamily="18" charset="0"/>
                        </a:rPr>
                        <a:t>Author and Year</a:t>
                      </a:r>
                    </a:p>
                  </a:txBody>
                  <a:tcPr anchor="ctr"/>
                </a:tc>
                <a:tc>
                  <a:txBody>
                    <a:bodyPr/>
                    <a:lstStyle/>
                    <a:p>
                      <a:pPr algn="ctr"/>
                      <a:r>
                        <a:rPr lang="en-IN" sz="800" dirty="0">
                          <a:latin typeface="Times New Roman" panose="02020603050405020304" pitchFamily="18" charset="0"/>
                          <a:cs typeface="Times New Roman" panose="02020603050405020304" pitchFamily="18" charset="0"/>
                        </a:rPr>
                        <a:t>Journal </a:t>
                      </a:r>
                    </a:p>
                  </a:txBody>
                  <a:tcPr anchor="ctr"/>
                </a:tc>
                <a:tc>
                  <a:txBody>
                    <a:bodyPr/>
                    <a:lstStyle/>
                    <a:p>
                      <a:pPr algn="ctr"/>
                      <a:r>
                        <a:rPr lang="en-IN" sz="800" dirty="0">
                          <a:latin typeface="Times New Roman" panose="02020603050405020304" pitchFamily="18" charset="0"/>
                          <a:cs typeface="Times New Roman" panose="02020603050405020304" pitchFamily="18" charset="0"/>
                        </a:rPr>
                        <a:t>Description</a:t>
                      </a:r>
                    </a:p>
                  </a:txBody>
                  <a:tcPr anchor="ctr"/>
                </a:tc>
                <a:tc>
                  <a:txBody>
                    <a:bodyPr/>
                    <a:lstStyle/>
                    <a:p>
                      <a:pPr algn="ctr"/>
                      <a:r>
                        <a:rPr lang="en-IN" sz="800" dirty="0">
                          <a:latin typeface="Times New Roman" panose="02020603050405020304" pitchFamily="18" charset="0"/>
                          <a:cs typeface="Times New Roman" panose="02020603050405020304" pitchFamily="18" charset="0"/>
                        </a:rPr>
                        <a:t>Insights </a:t>
                      </a:r>
                    </a:p>
                  </a:txBody>
                  <a:tcPr anchor="ctr"/>
                </a:tc>
                <a:tc>
                  <a:txBody>
                    <a:bodyPr/>
                    <a:lstStyle/>
                    <a:p>
                      <a:pPr algn="ctr"/>
                      <a:r>
                        <a:rPr lang="en-IN" sz="800" dirty="0">
                          <a:latin typeface="Times New Roman" panose="02020603050405020304" pitchFamily="18" charset="0"/>
                          <a:cs typeface="Times New Roman" panose="02020603050405020304" pitchFamily="18" charset="0"/>
                        </a:rPr>
                        <a:t>Research Gaps/Comments</a:t>
                      </a:r>
                    </a:p>
                  </a:txBody>
                  <a:tcPr anchor="ctr"/>
                </a:tc>
                <a:extLst>
                  <a:ext uri="{0D108BD9-81ED-4DB2-BD59-A6C34878D82A}">
                    <a16:rowId xmlns:a16="http://schemas.microsoft.com/office/drawing/2014/main" val="1770980956"/>
                  </a:ext>
                </a:extLst>
              </a:tr>
              <a:tr h="883942">
                <a:tc>
                  <a:txBody>
                    <a:bodyPr/>
                    <a:lstStyle/>
                    <a:p>
                      <a:pPr algn="l"/>
                      <a:r>
                        <a:rPr lang="en-US" sz="900" dirty="0">
                          <a:latin typeface="Times New Roman" panose="02020603050405020304" pitchFamily="18" charset="0"/>
                          <a:cs typeface="Times New Roman" panose="02020603050405020304" pitchFamily="18" charset="0"/>
                        </a:rPr>
                        <a:t>1</a:t>
                      </a:r>
                      <a:endParaRPr lang="en-IN" sz="900" dirty="0">
                        <a:latin typeface="Times New Roman" panose="02020603050405020304" pitchFamily="18" charset="0"/>
                        <a:cs typeface="Times New Roman" panose="02020603050405020304" pitchFamily="18" charset="0"/>
                      </a:endParaRPr>
                    </a:p>
                  </a:txBody>
                  <a:tcPr anchor="ctr"/>
                </a:tc>
                <a:tc>
                  <a:txBody>
                    <a:bodyPr/>
                    <a:lstStyle/>
                    <a:p>
                      <a:pPr algn="l"/>
                      <a:r>
                        <a:rPr lang="en-US" sz="900" dirty="0">
                          <a:latin typeface="Times New Roman" panose="02020603050405020304" pitchFamily="18" charset="0"/>
                          <a:cs typeface="Times New Roman" panose="02020603050405020304" pitchFamily="18" charset="0"/>
                        </a:rPr>
                        <a:t>A Statistical Approach to Severity Aware Vulnerability Prioritization</a:t>
                      </a:r>
                      <a:endParaRPr lang="en-IN" sz="900" dirty="0">
                        <a:latin typeface="Times New Roman" panose="02020603050405020304" pitchFamily="18" charset="0"/>
                        <a:cs typeface="Times New Roman" panose="02020603050405020304" pitchFamily="18" charset="0"/>
                      </a:endParaRPr>
                    </a:p>
                  </a:txBody>
                  <a:tcPr anchor="ctr"/>
                </a:tc>
                <a:tc>
                  <a:txBody>
                    <a:bodyPr/>
                    <a:lstStyle/>
                    <a:p>
                      <a:pPr algn="l"/>
                      <a:r>
                        <a:rPr lang="en-IN" sz="900" kern="1200" dirty="0">
                          <a:solidFill>
                            <a:schemeClr val="dk1"/>
                          </a:solidFill>
                          <a:effectLst/>
                          <a:latin typeface="Times New Roman" panose="02020603050405020304" pitchFamily="18" charset="0"/>
                          <a:ea typeface="+mn-ea"/>
                          <a:cs typeface="Times New Roman" panose="02020603050405020304" pitchFamily="18" charset="0"/>
                        </a:rPr>
                        <a:t>Year: 2024</a:t>
                      </a:r>
                    </a:p>
                    <a:p>
                      <a:pPr lvl="0" algn="l"/>
                      <a:r>
                        <a:rPr lang="en-IN" sz="900" kern="1200" dirty="0">
                          <a:solidFill>
                            <a:schemeClr val="dk1"/>
                          </a:solidFill>
                          <a:effectLst/>
                          <a:latin typeface="Times New Roman" panose="02020603050405020304" pitchFamily="18" charset="0"/>
                          <a:ea typeface="+mn-ea"/>
                          <a:cs typeface="Times New Roman" panose="02020603050405020304" pitchFamily="18" charset="0"/>
                        </a:rPr>
                        <a:t>Authors:</a:t>
                      </a:r>
                    </a:p>
                    <a:p>
                      <a:pPr algn="l"/>
                      <a:r>
                        <a:rPr lang="en-IN" sz="900" kern="1200" dirty="0">
                          <a:solidFill>
                            <a:schemeClr val="dk1"/>
                          </a:solidFill>
                          <a:effectLst/>
                          <a:latin typeface="Times New Roman" panose="02020603050405020304" pitchFamily="18" charset="0"/>
                          <a:ea typeface="+mn-ea"/>
                          <a:cs typeface="Times New Roman" panose="02020603050405020304" pitchFamily="18" charset="0"/>
                        </a:rPr>
                        <a:t>Miguel </a:t>
                      </a:r>
                      <a:r>
                        <a:rPr lang="en-IN" sz="900" kern="1200" dirty="0" err="1">
                          <a:solidFill>
                            <a:schemeClr val="dk1"/>
                          </a:solidFill>
                          <a:effectLst/>
                          <a:latin typeface="Times New Roman" panose="02020603050405020304" pitchFamily="18" charset="0"/>
                          <a:ea typeface="+mn-ea"/>
                          <a:cs typeface="Times New Roman" panose="02020603050405020304" pitchFamily="18" charset="0"/>
                        </a:rPr>
                        <a:t>Bicudo</a:t>
                      </a:r>
                      <a:r>
                        <a:rPr lang="en-IN" sz="900" kern="1200" dirty="0">
                          <a:solidFill>
                            <a:schemeClr val="dk1"/>
                          </a:solidFill>
                          <a:effectLst/>
                          <a:latin typeface="Times New Roman" panose="02020603050405020304" pitchFamily="18" charset="0"/>
                          <a:ea typeface="+mn-ea"/>
                          <a:cs typeface="Times New Roman" panose="02020603050405020304" pitchFamily="18" charset="0"/>
                        </a:rPr>
                        <a:t>, </a:t>
                      </a:r>
                      <a:r>
                        <a:rPr lang="en-IN" sz="900" kern="1200" dirty="0" err="1">
                          <a:solidFill>
                            <a:schemeClr val="dk1"/>
                          </a:solidFill>
                          <a:effectLst/>
                          <a:latin typeface="Times New Roman" panose="02020603050405020304" pitchFamily="18" charset="0"/>
                          <a:ea typeface="+mn-ea"/>
                          <a:cs typeface="Times New Roman" panose="02020603050405020304" pitchFamily="18" charset="0"/>
                        </a:rPr>
                        <a:t>Cainã</a:t>
                      </a:r>
                      <a:r>
                        <a:rPr lang="en-IN" sz="900" kern="1200" dirty="0">
                          <a:solidFill>
                            <a:schemeClr val="dk1"/>
                          </a:solidFill>
                          <a:effectLst/>
                          <a:latin typeface="Times New Roman" panose="02020603050405020304" pitchFamily="18" charset="0"/>
                          <a:ea typeface="+mn-ea"/>
                          <a:cs typeface="Times New Roman" panose="02020603050405020304" pitchFamily="18" charset="0"/>
                        </a:rPr>
                        <a:t> Pereira, Lucas Miranda, and  many more</a:t>
                      </a:r>
                    </a:p>
                  </a:txBody>
                  <a:tcPr anchor="ctr"/>
                </a:tc>
                <a:tc>
                  <a:txBody>
                    <a:bodyPr/>
                    <a:lstStyle/>
                    <a:p>
                      <a:pPr algn="l"/>
                      <a:r>
                        <a:rPr lang="en-US" sz="900" kern="1200" dirty="0">
                          <a:solidFill>
                            <a:schemeClr val="dk1"/>
                          </a:solidFill>
                          <a:effectLst/>
                          <a:latin typeface="Times New Roman" panose="02020603050405020304" pitchFamily="18" charset="0"/>
                          <a:ea typeface="+mn-ea"/>
                          <a:cs typeface="Times New Roman" panose="02020603050405020304" pitchFamily="18" charset="0"/>
                        </a:rPr>
                        <a:t>IEEE</a:t>
                      </a:r>
                      <a:endParaRPr lang="en-IN" sz="900" kern="1200" dirty="0">
                        <a:solidFill>
                          <a:schemeClr val="dk1"/>
                        </a:solidFill>
                        <a:effectLst/>
                        <a:latin typeface="Times New Roman" panose="02020603050405020304" pitchFamily="18" charset="0"/>
                        <a:ea typeface="+mn-ea"/>
                        <a:cs typeface="Times New Roman" panose="02020603050405020304" pitchFamily="18" charset="0"/>
                      </a:endParaRPr>
                    </a:p>
                  </a:txBody>
                  <a:tcPr anchor="ctr"/>
                </a:tc>
                <a:tc>
                  <a:txBody>
                    <a:bodyPr/>
                    <a:lstStyle/>
                    <a:p>
                      <a:pPr algn="l"/>
                      <a:r>
                        <a:rPr lang="en-US" sz="900" dirty="0">
                          <a:latin typeface="Times New Roman" panose="02020603050405020304" pitchFamily="18" charset="0"/>
                          <a:cs typeface="Times New Roman" panose="02020603050405020304" pitchFamily="18" charset="0"/>
                        </a:rPr>
                        <a:t>The study integrates historical weaponization data with CVSS scores to predict vulnerability severity, aiding better patch management.</a:t>
                      </a:r>
                      <a:endParaRPr lang="en-IN" sz="900" dirty="0">
                        <a:latin typeface="Times New Roman" panose="02020603050405020304" pitchFamily="18" charset="0"/>
                        <a:cs typeface="Times New Roman" panose="02020603050405020304" pitchFamily="18" charset="0"/>
                      </a:endParaRPr>
                    </a:p>
                  </a:txBody>
                  <a:tcPr anchor="ctr"/>
                </a:tc>
                <a:tc>
                  <a:txBody>
                    <a:bodyPr/>
                    <a:lstStyle/>
                    <a:p>
                      <a:pPr marL="228600" indent="-228600" algn="l">
                        <a:buAutoNum type="arabicPeriod"/>
                      </a:pPr>
                      <a:r>
                        <a:rPr lang="en-US" sz="900" dirty="0">
                          <a:latin typeface="Times New Roman" panose="02020603050405020304" pitchFamily="18" charset="0"/>
                          <a:cs typeface="Times New Roman" panose="02020603050405020304" pitchFamily="18" charset="0"/>
                        </a:rPr>
                        <a:t>Prioritizes vulnerabilities based on real-world risk.</a:t>
                      </a:r>
                    </a:p>
                    <a:p>
                      <a:pPr marL="228600" indent="-228600" algn="l">
                        <a:buAutoNum type="arabicPeriod"/>
                      </a:pPr>
                      <a:r>
                        <a:rPr lang="en-US" sz="900" dirty="0">
                          <a:latin typeface="Times New Roman" panose="02020603050405020304" pitchFamily="18" charset="0"/>
                          <a:cs typeface="Times New Roman" panose="02020603050405020304" pitchFamily="18" charset="0"/>
                        </a:rPr>
                        <a:t>Balances timely patching with system stability.</a:t>
                      </a:r>
                    </a:p>
                    <a:p>
                      <a:pPr marL="228600" indent="-228600" algn="l">
                        <a:buAutoNum type="arabicPeriod"/>
                      </a:pPr>
                      <a:r>
                        <a:rPr lang="en-US" sz="900" dirty="0">
                          <a:latin typeface="Times New Roman" panose="02020603050405020304" pitchFamily="18" charset="0"/>
                          <a:cs typeface="Times New Roman" panose="02020603050405020304" pitchFamily="18" charset="0"/>
                        </a:rPr>
                        <a:t>Enhances patch management efficiency.</a:t>
                      </a:r>
                      <a:endParaRPr lang="en-IN" sz="900" dirty="0">
                        <a:latin typeface="Times New Roman" panose="02020603050405020304" pitchFamily="18" charset="0"/>
                        <a:cs typeface="Times New Roman" panose="02020603050405020304" pitchFamily="18"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900" kern="1200" dirty="0">
                          <a:solidFill>
                            <a:schemeClr val="dk1"/>
                          </a:solidFill>
                          <a:effectLst/>
                          <a:latin typeface="Times New Roman" panose="02020603050405020304" pitchFamily="18" charset="0"/>
                          <a:ea typeface="+mn-ea"/>
                          <a:cs typeface="Times New Roman" panose="02020603050405020304" pitchFamily="18" charset="0"/>
                        </a:rPr>
                        <a:t>The project introduces a </a:t>
                      </a:r>
                      <a:r>
                        <a:rPr lang="en-IN" sz="900" b="1" kern="1200" dirty="0">
                          <a:solidFill>
                            <a:schemeClr val="dk1"/>
                          </a:solidFill>
                          <a:effectLst/>
                          <a:latin typeface="Times New Roman" panose="02020603050405020304" pitchFamily="18" charset="0"/>
                          <a:ea typeface="+mn-ea"/>
                          <a:cs typeface="Times New Roman" panose="02020603050405020304" pitchFamily="18" charset="0"/>
                        </a:rPr>
                        <a:t>risk-scoring engine</a:t>
                      </a:r>
                      <a:r>
                        <a:rPr lang="en-IN" sz="900" kern="1200" dirty="0">
                          <a:solidFill>
                            <a:schemeClr val="dk1"/>
                          </a:solidFill>
                          <a:effectLst/>
                          <a:latin typeface="Times New Roman" panose="02020603050405020304" pitchFamily="18" charset="0"/>
                          <a:ea typeface="+mn-ea"/>
                          <a:cs typeface="Times New Roman" panose="02020603050405020304" pitchFamily="18" charset="0"/>
                        </a:rPr>
                        <a:t> that integrates not only CVSS and EPSS but also real-time TI feeds.</a:t>
                      </a:r>
                    </a:p>
                    <a:p>
                      <a:pPr algn="l"/>
                      <a:endParaRPr lang="en-IN" sz="9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772393717"/>
                  </a:ext>
                </a:extLst>
              </a:tr>
              <a:tr h="237839">
                <a:tc>
                  <a:txBody>
                    <a:bodyPr/>
                    <a:lstStyle/>
                    <a:p>
                      <a:pPr algn="l"/>
                      <a:endParaRPr lang="en-IN" sz="900" dirty="0">
                        <a:latin typeface="Times New Roman" panose="02020603050405020304" pitchFamily="18" charset="0"/>
                        <a:cs typeface="Times New Roman" panose="02020603050405020304" pitchFamily="18" charset="0"/>
                      </a:endParaRPr>
                    </a:p>
                  </a:txBody>
                  <a:tcPr anchor="ctr"/>
                </a:tc>
                <a:tc>
                  <a:txBody>
                    <a:bodyPr/>
                    <a:lstStyle/>
                    <a:p>
                      <a:pPr algn="l"/>
                      <a:endParaRPr lang="en-IN" sz="900" dirty="0">
                        <a:latin typeface="Times New Roman" panose="02020603050405020304" pitchFamily="18" charset="0"/>
                        <a:cs typeface="Times New Roman" panose="02020603050405020304" pitchFamily="18" charset="0"/>
                      </a:endParaRPr>
                    </a:p>
                  </a:txBody>
                  <a:tcPr anchor="ctr"/>
                </a:tc>
                <a:tc>
                  <a:txBody>
                    <a:bodyPr/>
                    <a:lstStyle/>
                    <a:p>
                      <a:pPr algn="l"/>
                      <a:endParaRPr lang="en-IN" sz="900" dirty="0">
                        <a:latin typeface="Times New Roman" panose="02020603050405020304" pitchFamily="18" charset="0"/>
                        <a:cs typeface="Times New Roman" panose="02020603050405020304" pitchFamily="18" charset="0"/>
                      </a:endParaRPr>
                    </a:p>
                  </a:txBody>
                  <a:tcPr anchor="ctr"/>
                </a:tc>
                <a:tc>
                  <a:txBody>
                    <a:bodyPr/>
                    <a:lstStyle/>
                    <a:p>
                      <a:pPr algn="l"/>
                      <a:endParaRPr lang="en-IN" sz="900" dirty="0">
                        <a:latin typeface="Times New Roman" panose="02020603050405020304" pitchFamily="18" charset="0"/>
                        <a:cs typeface="Times New Roman" panose="02020603050405020304" pitchFamily="18" charset="0"/>
                      </a:endParaRPr>
                    </a:p>
                  </a:txBody>
                  <a:tcPr anchor="ctr"/>
                </a:tc>
                <a:tc>
                  <a:txBody>
                    <a:bodyPr/>
                    <a:lstStyle/>
                    <a:p>
                      <a:pPr algn="l"/>
                      <a:endParaRPr lang="en-IN" sz="900" dirty="0">
                        <a:latin typeface="Times New Roman" panose="02020603050405020304" pitchFamily="18" charset="0"/>
                        <a:cs typeface="Times New Roman" panose="02020603050405020304" pitchFamily="18" charset="0"/>
                      </a:endParaRPr>
                    </a:p>
                  </a:txBody>
                  <a:tcPr anchor="ctr"/>
                </a:tc>
                <a:tc>
                  <a:txBody>
                    <a:bodyPr/>
                    <a:lstStyle/>
                    <a:p>
                      <a:pPr algn="l"/>
                      <a:endParaRPr lang="en-IN" sz="900" dirty="0">
                        <a:latin typeface="Times New Roman" panose="02020603050405020304" pitchFamily="18" charset="0"/>
                        <a:cs typeface="Times New Roman" panose="02020603050405020304" pitchFamily="18" charset="0"/>
                      </a:endParaRPr>
                    </a:p>
                  </a:txBody>
                  <a:tcPr anchor="ctr"/>
                </a:tc>
                <a:tc>
                  <a:txBody>
                    <a:bodyPr/>
                    <a:lstStyle/>
                    <a:p>
                      <a:pPr algn="l"/>
                      <a:endParaRPr lang="en-IN" sz="9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4128284863"/>
                  </a:ext>
                </a:extLst>
              </a:tr>
              <a:tr h="1016533">
                <a:tc>
                  <a:txBody>
                    <a:bodyPr/>
                    <a:lstStyle/>
                    <a:p>
                      <a:pPr algn="l"/>
                      <a:r>
                        <a:rPr lang="en-US" sz="900" dirty="0">
                          <a:latin typeface="Times New Roman" panose="02020603050405020304" pitchFamily="18" charset="0"/>
                          <a:cs typeface="Times New Roman" panose="02020603050405020304" pitchFamily="18" charset="0"/>
                        </a:rPr>
                        <a:t>2</a:t>
                      </a:r>
                      <a:endParaRPr lang="en-IN" sz="900" dirty="0">
                        <a:latin typeface="Times New Roman" panose="02020603050405020304" pitchFamily="18" charset="0"/>
                        <a:cs typeface="Times New Roman" panose="02020603050405020304" pitchFamily="18"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kern="1200" dirty="0">
                          <a:solidFill>
                            <a:schemeClr val="dk1"/>
                          </a:solidFill>
                          <a:effectLst/>
                          <a:latin typeface="Times New Roman" panose="02020603050405020304" pitchFamily="18" charset="0"/>
                          <a:ea typeface="+mn-ea"/>
                          <a:cs typeface="Times New Roman" panose="02020603050405020304" pitchFamily="18" charset="0"/>
                        </a:rPr>
                        <a:t>User Vulnerabilities in AI-Driven Systems: Current Cybersecurity Threat Dynamics and Malicious Exploits in Supply Chain Management and Project Management</a:t>
                      </a:r>
                      <a:endParaRPr lang="en-IN" sz="900" kern="1200" dirty="0">
                        <a:solidFill>
                          <a:schemeClr val="dk1"/>
                        </a:solidFill>
                        <a:effectLst/>
                        <a:latin typeface="Times New Roman" panose="02020603050405020304" pitchFamily="18" charset="0"/>
                        <a:ea typeface="+mn-ea"/>
                        <a:cs typeface="Times New Roman" panose="02020603050405020304" pitchFamily="18" charset="0"/>
                      </a:endParaRPr>
                    </a:p>
                  </a:txBody>
                  <a:tcPr anchor="ctr"/>
                </a:tc>
                <a:tc>
                  <a:txBody>
                    <a:bodyPr/>
                    <a:lstStyle/>
                    <a:p>
                      <a:pPr algn="l"/>
                      <a:r>
                        <a:rPr lang="en-IN" sz="900" kern="1200" dirty="0">
                          <a:solidFill>
                            <a:schemeClr val="dk1"/>
                          </a:solidFill>
                          <a:effectLst/>
                          <a:latin typeface="Times New Roman" panose="02020603050405020304" pitchFamily="18" charset="0"/>
                          <a:ea typeface="+mn-ea"/>
                          <a:cs typeface="Times New Roman" panose="02020603050405020304" pitchFamily="18" charset="0"/>
                        </a:rPr>
                        <a:t>Year: 2024 </a:t>
                      </a:r>
                    </a:p>
                    <a:p>
                      <a:pPr algn="l"/>
                      <a:r>
                        <a:rPr lang="en-IN" sz="900" kern="1200" dirty="0">
                          <a:solidFill>
                            <a:schemeClr val="dk1"/>
                          </a:solidFill>
                          <a:effectLst/>
                          <a:latin typeface="Times New Roman" panose="02020603050405020304" pitchFamily="18" charset="0"/>
                          <a:ea typeface="+mn-ea"/>
                          <a:cs typeface="Times New Roman" panose="02020603050405020304" pitchFamily="18" charset="0"/>
                        </a:rPr>
                        <a:t>Authors : Joseph Squillace, Justice Cappella, Andrew Sepp</a:t>
                      </a:r>
                    </a:p>
                    <a:p>
                      <a:pPr algn="l"/>
                      <a:endParaRPr lang="en-IN" sz="900" dirty="0">
                        <a:latin typeface="Times New Roman" panose="02020603050405020304" pitchFamily="18" charset="0"/>
                        <a:cs typeface="Times New Roman" panose="02020603050405020304" pitchFamily="18" charset="0"/>
                      </a:endParaRPr>
                    </a:p>
                  </a:txBody>
                  <a:tcPr anchor="ctr"/>
                </a:tc>
                <a:tc>
                  <a:txBody>
                    <a:bodyPr/>
                    <a:lstStyle/>
                    <a:p>
                      <a:pPr algn="l"/>
                      <a:r>
                        <a:rPr lang="en-US" sz="900" dirty="0">
                          <a:latin typeface="Times New Roman" panose="02020603050405020304" pitchFamily="18" charset="0"/>
                          <a:cs typeface="Times New Roman" panose="02020603050405020304" pitchFamily="18" charset="0"/>
                        </a:rPr>
                        <a:t>IEEE</a:t>
                      </a:r>
                      <a:endParaRPr lang="en-IN" sz="900" dirty="0">
                        <a:latin typeface="Times New Roman" panose="02020603050405020304" pitchFamily="18" charset="0"/>
                        <a:cs typeface="Times New Roman" panose="02020603050405020304" pitchFamily="18" charset="0"/>
                      </a:endParaRPr>
                    </a:p>
                  </a:txBody>
                  <a:tcPr anchor="ctr"/>
                </a:tc>
                <a:tc>
                  <a:txBody>
                    <a:bodyPr/>
                    <a:lstStyle/>
                    <a:p>
                      <a:pPr algn="l"/>
                      <a:r>
                        <a:rPr lang="en-US" sz="900" dirty="0">
                          <a:latin typeface="Times New Roman" panose="02020603050405020304" pitchFamily="18" charset="0"/>
                          <a:cs typeface="Times New Roman" panose="02020603050405020304" pitchFamily="18" charset="0"/>
                        </a:rPr>
                        <a:t>The study explores the cybersecurity vulnerabilities of AI and ML in critical infrastructure, with a focus on supply chain and project management. It highlights how AI and ML improve operations but also pose new risks, identifying threats and misuse cases through case studies.</a:t>
                      </a:r>
                      <a:endParaRPr lang="en-IN" sz="900" dirty="0">
                        <a:latin typeface="Times New Roman" panose="02020603050405020304" pitchFamily="18" charset="0"/>
                        <a:cs typeface="Times New Roman" panose="02020603050405020304" pitchFamily="18" charset="0"/>
                      </a:endParaRPr>
                    </a:p>
                  </a:txBody>
                  <a:tcPr anchor="ctr"/>
                </a:tc>
                <a:tc>
                  <a:txBody>
                    <a:bodyPr/>
                    <a:lstStyle/>
                    <a:p>
                      <a:pPr marL="228600" indent="-228600" algn="l">
                        <a:buAutoNum type="arabicPeriod"/>
                      </a:pPr>
                      <a:r>
                        <a:rPr lang="en-US" sz="900" dirty="0">
                          <a:latin typeface="Times New Roman" panose="02020603050405020304" pitchFamily="18" charset="0"/>
                          <a:cs typeface="Times New Roman" panose="02020603050405020304" pitchFamily="18" charset="0"/>
                        </a:rPr>
                        <a:t>AI and ML introduce both operational benefits and exploitable risks.</a:t>
                      </a:r>
                    </a:p>
                    <a:p>
                      <a:pPr marL="228600" indent="-228600" algn="l">
                        <a:buAutoNum type="arabicPeriod"/>
                      </a:pPr>
                      <a:r>
                        <a:rPr lang="en-US" sz="900" dirty="0">
                          <a:latin typeface="Times New Roman" panose="02020603050405020304" pitchFamily="18" charset="0"/>
                          <a:cs typeface="Times New Roman" panose="02020603050405020304" pitchFamily="18" charset="0"/>
                        </a:rPr>
                        <a:t>Case studies reveal potential flaws and automation of cyberattacks</a:t>
                      </a:r>
                    </a:p>
                    <a:p>
                      <a:pPr marL="228600" indent="-228600" algn="l">
                        <a:buAutoNum type="arabicPeriod"/>
                      </a:pPr>
                      <a:r>
                        <a:rPr lang="en-US" sz="900" dirty="0">
                          <a:latin typeface="Times New Roman" panose="02020603050405020304" pitchFamily="18" charset="0"/>
                          <a:cs typeface="Times New Roman" panose="02020603050405020304" pitchFamily="18" charset="0"/>
                        </a:rPr>
                        <a:t>Emphasizes the need for improved security practices in critical infrastructure</a:t>
                      </a:r>
                      <a:endParaRPr lang="en-IN" sz="900" dirty="0">
                        <a:latin typeface="Times New Roman" panose="02020603050405020304" pitchFamily="18" charset="0"/>
                        <a:cs typeface="Times New Roman" panose="02020603050405020304" pitchFamily="18" charset="0"/>
                      </a:endParaRPr>
                    </a:p>
                  </a:txBody>
                  <a:tcPr anchor="ctr"/>
                </a:tc>
                <a:tc>
                  <a:txBody>
                    <a:bodyPr/>
                    <a:lstStyle/>
                    <a:p>
                      <a:pPr algn="l"/>
                      <a:r>
                        <a:rPr lang="en-US" sz="900" dirty="0">
                          <a:latin typeface="Times New Roman" panose="02020603050405020304" pitchFamily="18" charset="0"/>
                          <a:cs typeface="Times New Roman" panose="02020603050405020304" pitchFamily="18" charset="0"/>
                        </a:rPr>
                        <a:t>The paper focuses on AI and ML's role in securing PII and organizational policies but overlooks their application in vulnerability management, particularly in integrating real-time threat intelligence, asset criticality, and business impact for effective patch prioritization.</a:t>
                      </a:r>
                      <a:endParaRPr lang="en-IN" sz="9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924518318"/>
                  </a:ext>
                </a:extLst>
              </a:tr>
              <a:tr h="237839">
                <a:tc>
                  <a:txBody>
                    <a:bodyPr/>
                    <a:lstStyle/>
                    <a:p>
                      <a:pPr algn="l"/>
                      <a:endParaRPr lang="en-IN" sz="900" dirty="0">
                        <a:latin typeface="Times New Roman" panose="02020603050405020304" pitchFamily="18" charset="0"/>
                        <a:cs typeface="Times New Roman" panose="02020603050405020304" pitchFamily="18"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sz="900" dirty="0">
                        <a:latin typeface="Times New Roman" panose="02020603050405020304" pitchFamily="18" charset="0"/>
                        <a:cs typeface="Times New Roman" panose="02020603050405020304" pitchFamily="18" charset="0"/>
                      </a:endParaRPr>
                    </a:p>
                  </a:txBody>
                  <a:tcPr anchor="ctr"/>
                </a:tc>
                <a:tc>
                  <a:txBody>
                    <a:bodyPr/>
                    <a:lstStyle/>
                    <a:p>
                      <a:pPr algn="l"/>
                      <a:endParaRPr lang="en-IN" sz="900" dirty="0">
                        <a:latin typeface="Times New Roman" panose="02020603050405020304" pitchFamily="18" charset="0"/>
                        <a:cs typeface="Times New Roman" panose="02020603050405020304" pitchFamily="18" charset="0"/>
                      </a:endParaRPr>
                    </a:p>
                  </a:txBody>
                  <a:tcPr anchor="ctr"/>
                </a:tc>
                <a:tc>
                  <a:txBody>
                    <a:bodyPr/>
                    <a:lstStyle/>
                    <a:p>
                      <a:pPr algn="l"/>
                      <a:endParaRPr lang="en-IN" sz="900" dirty="0">
                        <a:latin typeface="Times New Roman" panose="02020603050405020304" pitchFamily="18" charset="0"/>
                        <a:cs typeface="Times New Roman" panose="02020603050405020304" pitchFamily="18" charset="0"/>
                      </a:endParaRPr>
                    </a:p>
                  </a:txBody>
                  <a:tcPr anchor="ctr"/>
                </a:tc>
                <a:tc>
                  <a:txBody>
                    <a:bodyPr/>
                    <a:lstStyle/>
                    <a:p>
                      <a:pPr algn="l"/>
                      <a:endParaRPr lang="en-IN" sz="900" dirty="0">
                        <a:latin typeface="Times New Roman" panose="02020603050405020304" pitchFamily="18" charset="0"/>
                        <a:cs typeface="Times New Roman" panose="02020603050405020304" pitchFamily="18" charset="0"/>
                      </a:endParaRPr>
                    </a:p>
                  </a:txBody>
                  <a:tcPr anchor="ctr"/>
                </a:tc>
                <a:tc>
                  <a:txBody>
                    <a:bodyPr/>
                    <a:lstStyle/>
                    <a:p>
                      <a:pPr algn="l"/>
                      <a:endParaRPr lang="en-IN" sz="900" dirty="0">
                        <a:latin typeface="Times New Roman" panose="02020603050405020304" pitchFamily="18" charset="0"/>
                        <a:cs typeface="Times New Roman" panose="02020603050405020304" pitchFamily="18" charset="0"/>
                      </a:endParaRPr>
                    </a:p>
                  </a:txBody>
                  <a:tcPr anchor="ctr"/>
                </a:tc>
                <a:tc>
                  <a:txBody>
                    <a:bodyPr/>
                    <a:lstStyle/>
                    <a:p>
                      <a:pPr algn="l"/>
                      <a:endParaRPr lang="en-IN" sz="9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555293202"/>
                  </a:ext>
                </a:extLst>
              </a:tr>
              <a:tr h="1149125">
                <a:tc>
                  <a:txBody>
                    <a:bodyPr/>
                    <a:lstStyle/>
                    <a:p>
                      <a:pPr algn="l"/>
                      <a:r>
                        <a:rPr lang="en-US" sz="900" dirty="0">
                          <a:latin typeface="Times New Roman" panose="02020603050405020304" pitchFamily="18" charset="0"/>
                          <a:cs typeface="Times New Roman" panose="02020603050405020304" pitchFamily="18" charset="0"/>
                        </a:rPr>
                        <a:t>3.</a:t>
                      </a:r>
                      <a:endParaRPr lang="en-IN" sz="900" dirty="0">
                        <a:latin typeface="Times New Roman" panose="02020603050405020304" pitchFamily="18" charset="0"/>
                        <a:cs typeface="Times New Roman" panose="02020603050405020304" pitchFamily="18" charset="0"/>
                      </a:endParaRPr>
                    </a:p>
                  </a:txBody>
                  <a:tcPr anchor="ctr"/>
                </a:tc>
                <a:tc>
                  <a:txBody>
                    <a:bodyPr/>
                    <a:lstStyle/>
                    <a:p>
                      <a:pPr lvl="0"/>
                      <a:r>
                        <a:rPr lang="en-IN" sz="900" b="0" kern="1200" dirty="0">
                          <a:solidFill>
                            <a:schemeClr val="dk1"/>
                          </a:solidFill>
                          <a:effectLst/>
                          <a:latin typeface="Times New Roman" panose="02020603050405020304" pitchFamily="18" charset="0"/>
                          <a:ea typeface="+mn-ea"/>
                          <a:cs typeface="Times New Roman" panose="02020603050405020304" pitchFamily="18" charset="0"/>
                        </a:rPr>
                        <a:t>ERS0: Enhancing Military Cybersecurity with AI-Driven SBOM for Firmware Vulnerability Detection and Asset Management</a:t>
                      </a:r>
                    </a:p>
                  </a:txBody>
                  <a:tcPr anchor="ctr"/>
                </a:tc>
                <a:tc>
                  <a:txBody>
                    <a:bodyPr/>
                    <a:lstStyle/>
                    <a:p>
                      <a:pPr algn="l"/>
                      <a:r>
                        <a:rPr lang="en-IN" sz="900" kern="1200" dirty="0">
                          <a:solidFill>
                            <a:schemeClr val="dk1"/>
                          </a:solidFill>
                          <a:effectLst/>
                          <a:latin typeface="Times New Roman" panose="02020603050405020304" pitchFamily="18" charset="0"/>
                          <a:ea typeface="+mn-ea"/>
                          <a:cs typeface="Times New Roman" panose="02020603050405020304" pitchFamily="18" charset="0"/>
                        </a:rPr>
                        <a:t>Year:2024</a:t>
                      </a:r>
                    </a:p>
                    <a:p>
                      <a:pPr algn="l"/>
                      <a:r>
                        <a:rPr lang="en-IN" sz="900" kern="1200" dirty="0">
                          <a:solidFill>
                            <a:schemeClr val="dk1"/>
                          </a:solidFill>
                          <a:effectLst/>
                          <a:latin typeface="Times New Roman" panose="02020603050405020304" pitchFamily="18" charset="0"/>
                          <a:ea typeface="+mn-ea"/>
                          <a:cs typeface="Times New Roman" panose="02020603050405020304" pitchFamily="18" charset="0"/>
                        </a:rPr>
                        <a:t>Max </a:t>
                      </a:r>
                      <a:r>
                        <a:rPr lang="en-IN" sz="900" kern="1200" dirty="0" err="1">
                          <a:solidFill>
                            <a:schemeClr val="dk1"/>
                          </a:solidFill>
                          <a:effectLst/>
                          <a:latin typeface="Times New Roman" panose="02020603050405020304" pitchFamily="18" charset="0"/>
                          <a:ea typeface="+mn-ea"/>
                          <a:cs typeface="Times New Roman" panose="02020603050405020304" pitchFamily="18" charset="0"/>
                        </a:rPr>
                        <a:t>Beninger</a:t>
                      </a:r>
                      <a:r>
                        <a:rPr lang="en-IN" sz="900" kern="1200" dirty="0">
                          <a:solidFill>
                            <a:schemeClr val="dk1"/>
                          </a:solidFill>
                          <a:effectLst/>
                          <a:latin typeface="Times New Roman" panose="02020603050405020304" pitchFamily="18" charset="0"/>
                          <a:ea typeface="+mn-ea"/>
                          <a:cs typeface="Times New Roman" panose="02020603050405020304" pitchFamily="18" charset="0"/>
                        </a:rPr>
                        <a:t>; Philippe Charland; Steven H. H. Ding; Benjamin C.M. Fung</a:t>
                      </a:r>
                      <a:endParaRPr lang="en-IN" sz="900" dirty="0">
                        <a:latin typeface="Times New Roman" panose="02020603050405020304" pitchFamily="18" charset="0"/>
                        <a:cs typeface="Times New Roman" panose="02020603050405020304" pitchFamily="18" charset="0"/>
                      </a:endParaRPr>
                    </a:p>
                  </a:txBody>
                  <a:tcPr anchor="ctr"/>
                </a:tc>
                <a:tc>
                  <a:txBody>
                    <a:bodyPr/>
                    <a:lstStyle/>
                    <a:p>
                      <a:pPr algn="l"/>
                      <a:r>
                        <a:rPr lang="en-US" sz="900" dirty="0">
                          <a:latin typeface="Times New Roman" panose="02020603050405020304" pitchFamily="18" charset="0"/>
                          <a:cs typeface="Times New Roman" panose="02020603050405020304" pitchFamily="18" charset="0"/>
                        </a:rPr>
                        <a:t>IEEE</a:t>
                      </a:r>
                      <a:endParaRPr lang="en-IN" sz="900" dirty="0">
                        <a:latin typeface="Times New Roman" panose="02020603050405020304" pitchFamily="18" charset="0"/>
                        <a:cs typeface="Times New Roman" panose="02020603050405020304" pitchFamily="18" charset="0"/>
                      </a:endParaRPr>
                    </a:p>
                  </a:txBody>
                  <a:tcPr anchor="ctr"/>
                </a:tc>
                <a:tc>
                  <a:txBody>
                    <a:bodyPr/>
                    <a:lstStyle/>
                    <a:p>
                      <a:pPr algn="l"/>
                      <a:r>
                        <a:rPr lang="en-IN" sz="900" kern="1200" dirty="0">
                          <a:solidFill>
                            <a:schemeClr val="dk1"/>
                          </a:solidFill>
                          <a:effectLst/>
                          <a:latin typeface="Times New Roman" panose="02020603050405020304" pitchFamily="18" charset="0"/>
                          <a:ea typeface="+mn-ea"/>
                          <a:cs typeface="Times New Roman" panose="02020603050405020304" pitchFamily="18" charset="0"/>
                        </a:rPr>
                        <a:t>This paper outlines improving firmware security  by generating SBOMs from firmware using string matching and code clone detection inside firmware binaries to provide asset visibility and vulnerability detection for analysis and component identification</a:t>
                      </a:r>
                      <a:endParaRPr lang="en-IN" sz="900" dirty="0">
                        <a:latin typeface="Times New Roman" panose="02020603050405020304" pitchFamily="18" charset="0"/>
                        <a:cs typeface="Times New Roman" panose="02020603050405020304" pitchFamily="18" charset="0"/>
                      </a:endParaRPr>
                    </a:p>
                  </a:txBody>
                  <a:tcPr anchor="ctr"/>
                </a:tc>
                <a:tc>
                  <a:txBody>
                    <a:bodyPr/>
                    <a:lstStyle/>
                    <a:p>
                      <a:pPr marL="228600" indent="-228600" algn="l">
                        <a:buAutoNum type="arabicPeriod"/>
                      </a:pPr>
                      <a:r>
                        <a:rPr lang="en-US" sz="900" dirty="0">
                          <a:latin typeface="Times New Roman" panose="02020603050405020304" pitchFamily="18" charset="0"/>
                          <a:cs typeface="Times New Roman" panose="02020603050405020304" pitchFamily="18" charset="0"/>
                        </a:rPr>
                        <a:t>The methodology is tailored for military contexts with hierarchical structures.</a:t>
                      </a:r>
                    </a:p>
                    <a:p>
                      <a:pPr marL="228600" indent="-228600" algn="l">
                        <a:buAutoNum type="arabicPeriod"/>
                      </a:pPr>
                      <a:r>
                        <a:rPr lang="en-US" sz="900" dirty="0">
                          <a:latin typeface="Times New Roman" panose="02020603050405020304" pitchFamily="18" charset="0"/>
                          <a:cs typeface="Times New Roman" panose="02020603050405020304" pitchFamily="18" charset="0"/>
                        </a:rPr>
                        <a:t>Focuses on procedural clarity and continuous vulnerability management.</a:t>
                      </a:r>
                    </a:p>
                    <a:p>
                      <a:pPr marL="228600" indent="-228600" algn="l">
                        <a:buAutoNum type="arabicPeriod"/>
                      </a:pPr>
                      <a:r>
                        <a:rPr lang="en-US" sz="900" dirty="0">
                          <a:latin typeface="Times New Roman" panose="02020603050405020304" pitchFamily="18" charset="0"/>
                          <a:cs typeface="Times New Roman" panose="02020603050405020304" pitchFamily="18" charset="0"/>
                        </a:rPr>
                        <a:t>Highlights the need for comprehensive defense mechanisms against cyber risks.</a:t>
                      </a:r>
                      <a:endParaRPr lang="en-IN" sz="900" dirty="0">
                        <a:latin typeface="Times New Roman" panose="02020603050405020304" pitchFamily="18" charset="0"/>
                        <a:cs typeface="Times New Roman" panose="02020603050405020304" pitchFamily="18" charset="0"/>
                      </a:endParaRPr>
                    </a:p>
                  </a:txBody>
                  <a:tcPr anchor="ctr"/>
                </a:tc>
                <a:tc>
                  <a:txBody>
                    <a:bodyPr/>
                    <a:lstStyle/>
                    <a:p>
                      <a:r>
                        <a:rPr lang="en-IN" sz="900" kern="1200" dirty="0">
                          <a:solidFill>
                            <a:schemeClr val="dk1"/>
                          </a:solidFill>
                          <a:effectLst/>
                          <a:latin typeface="Times New Roman" panose="02020603050405020304" pitchFamily="18" charset="0"/>
                          <a:ea typeface="+mn-ea"/>
                          <a:cs typeface="Times New Roman" panose="02020603050405020304" pitchFamily="18" charset="0"/>
                        </a:rPr>
                        <a:t>The gap is that the abstract focuses on military vulnerability management procedures but doesn’t include real-time threat data or context aware vulnerability prioritization. </a:t>
                      </a:r>
                    </a:p>
                  </a:txBody>
                  <a:tcPr anchor="ctr"/>
                </a:tc>
                <a:extLst>
                  <a:ext uri="{0D108BD9-81ED-4DB2-BD59-A6C34878D82A}">
                    <a16:rowId xmlns:a16="http://schemas.microsoft.com/office/drawing/2014/main" val="1141476526"/>
                  </a:ext>
                </a:extLst>
              </a:tr>
              <a:tr h="237839">
                <a:tc>
                  <a:txBody>
                    <a:bodyPr/>
                    <a:lstStyle/>
                    <a:p>
                      <a:pPr algn="l"/>
                      <a:endParaRPr lang="en-IN" sz="900" dirty="0">
                        <a:latin typeface="Times New Roman" panose="02020603050405020304" pitchFamily="18" charset="0"/>
                        <a:cs typeface="Times New Roman" panose="02020603050405020304" pitchFamily="18" charset="0"/>
                      </a:endParaRPr>
                    </a:p>
                  </a:txBody>
                  <a:tcPr anchor="ctr"/>
                </a:tc>
                <a:tc>
                  <a:txBody>
                    <a:bodyPr/>
                    <a:lstStyle/>
                    <a:p>
                      <a:pPr algn="l"/>
                      <a:endParaRPr lang="en-IN" sz="900" dirty="0">
                        <a:latin typeface="Times New Roman" panose="02020603050405020304" pitchFamily="18" charset="0"/>
                        <a:cs typeface="Times New Roman" panose="02020603050405020304" pitchFamily="18" charset="0"/>
                      </a:endParaRPr>
                    </a:p>
                  </a:txBody>
                  <a:tcPr anchor="ctr"/>
                </a:tc>
                <a:tc>
                  <a:txBody>
                    <a:bodyPr/>
                    <a:lstStyle/>
                    <a:p>
                      <a:pPr algn="l"/>
                      <a:endParaRPr lang="en-IN" sz="900" dirty="0">
                        <a:latin typeface="Times New Roman" panose="02020603050405020304" pitchFamily="18" charset="0"/>
                        <a:cs typeface="Times New Roman" panose="02020603050405020304" pitchFamily="18" charset="0"/>
                      </a:endParaRPr>
                    </a:p>
                  </a:txBody>
                  <a:tcPr anchor="ctr"/>
                </a:tc>
                <a:tc>
                  <a:txBody>
                    <a:bodyPr/>
                    <a:lstStyle/>
                    <a:p>
                      <a:pPr algn="l"/>
                      <a:endParaRPr lang="en-IN" sz="900" dirty="0">
                        <a:latin typeface="Times New Roman" panose="02020603050405020304" pitchFamily="18" charset="0"/>
                        <a:cs typeface="Times New Roman" panose="02020603050405020304" pitchFamily="18" charset="0"/>
                      </a:endParaRPr>
                    </a:p>
                  </a:txBody>
                  <a:tcPr anchor="ctr"/>
                </a:tc>
                <a:tc>
                  <a:txBody>
                    <a:bodyPr/>
                    <a:lstStyle/>
                    <a:p>
                      <a:pPr algn="l"/>
                      <a:endParaRPr lang="en-IN" sz="900" dirty="0">
                        <a:latin typeface="Times New Roman" panose="02020603050405020304" pitchFamily="18" charset="0"/>
                        <a:cs typeface="Times New Roman" panose="02020603050405020304" pitchFamily="18" charset="0"/>
                      </a:endParaRPr>
                    </a:p>
                  </a:txBody>
                  <a:tcPr anchor="ctr"/>
                </a:tc>
                <a:tc>
                  <a:txBody>
                    <a:bodyPr/>
                    <a:lstStyle/>
                    <a:p>
                      <a:pPr algn="l"/>
                      <a:endParaRPr lang="en-IN" sz="900" dirty="0">
                        <a:latin typeface="Times New Roman" panose="02020603050405020304" pitchFamily="18" charset="0"/>
                        <a:cs typeface="Times New Roman" panose="02020603050405020304" pitchFamily="18" charset="0"/>
                      </a:endParaRPr>
                    </a:p>
                  </a:txBody>
                  <a:tcPr anchor="ctr"/>
                </a:tc>
                <a:tc>
                  <a:txBody>
                    <a:bodyPr/>
                    <a:lstStyle/>
                    <a:p>
                      <a:pPr algn="l"/>
                      <a:endParaRPr lang="en-IN" sz="9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640232611"/>
                  </a:ext>
                </a:extLst>
              </a:tr>
              <a:tr h="1145952">
                <a:tc>
                  <a:txBody>
                    <a:bodyPr/>
                    <a:lstStyle/>
                    <a:p>
                      <a:pPr algn="l"/>
                      <a:r>
                        <a:rPr lang="en-US" sz="900" dirty="0">
                          <a:latin typeface="Times New Roman" panose="02020603050405020304" pitchFamily="18" charset="0"/>
                          <a:cs typeface="Times New Roman" panose="02020603050405020304" pitchFamily="18" charset="0"/>
                        </a:rPr>
                        <a:t>4.</a:t>
                      </a:r>
                      <a:endParaRPr lang="en-IN" sz="900" dirty="0">
                        <a:latin typeface="Times New Roman" panose="02020603050405020304" pitchFamily="18" charset="0"/>
                        <a:cs typeface="Times New Roman" panose="02020603050405020304" pitchFamily="18" charset="0"/>
                      </a:endParaRPr>
                    </a:p>
                  </a:txBody>
                  <a:tcPr anchor="ctr"/>
                </a:tc>
                <a:tc>
                  <a:txBody>
                    <a:bodyPr/>
                    <a:lstStyle/>
                    <a:p>
                      <a:pPr lvl="0"/>
                      <a:r>
                        <a:rPr lang="en-IN" sz="900" b="1" kern="1200" dirty="0">
                          <a:solidFill>
                            <a:schemeClr val="dk1"/>
                          </a:solidFill>
                          <a:effectLst/>
                          <a:latin typeface="Times New Roman" panose="02020603050405020304" pitchFamily="18" charset="0"/>
                          <a:ea typeface="+mn-ea"/>
                          <a:cs typeface="Times New Roman" panose="02020603050405020304" pitchFamily="18" charset="0"/>
                        </a:rPr>
                        <a:t>Supply Chain Risk Analysis Via SBOM Data Enrichment</a:t>
                      </a:r>
                      <a:endParaRPr lang="en-IN" sz="900" kern="1200" dirty="0">
                        <a:solidFill>
                          <a:schemeClr val="dk1"/>
                        </a:solidFill>
                        <a:effectLst/>
                        <a:latin typeface="Times New Roman" panose="02020603050405020304" pitchFamily="18" charset="0"/>
                        <a:ea typeface="+mn-ea"/>
                        <a:cs typeface="Times New Roman" panose="02020603050405020304" pitchFamily="18" charset="0"/>
                      </a:endParaRPr>
                    </a:p>
                  </a:txBody>
                  <a:tcPr anchor="ctr"/>
                </a:tc>
                <a:tc>
                  <a:txBody>
                    <a:bodyPr/>
                    <a:lstStyle/>
                    <a:p>
                      <a:pPr algn="l"/>
                      <a:r>
                        <a:rPr lang="en-IN" sz="900" dirty="0">
                          <a:latin typeface="Times New Roman" panose="02020603050405020304" pitchFamily="18" charset="0"/>
                          <a:cs typeface="Times New Roman" panose="02020603050405020304" pitchFamily="18" charset="0"/>
                        </a:rPr>
                        <a:t>Year: 2023</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900" kern="1200" dirty="0" err="1">
                          <a:solidFill>
                            <a:schemeClr val="dk1"/>
                          </a:solidFill>
                          <a:effectLst/>
                          <a:latin typeface="Times New Roman" panose="02020603050405020304" pitchFamily="18" charset="0"/>
                          <a:ea typeface="+mn-ea"/>
                          <a:cs typeface="Times New Roman" panose="02020603050405020304" pitchFamily="18" charset="0"/>
                        </a:rPr>
                        <a:t>Authors:</a:t>
                      </a:r>
                      <a:r>
                        <a:rPr lang="en-IN" sz="900" u="sng" kern="1200" dirty="0" err="1">
                          <a:solidFill>
                            <a:srgbClr val="6EAC1C"/>
                          </a:solidFill>
                          <a:effectLst/>
                          <a:latin typeface="Times New Roman" panose="02020603050405020304" pitchFamily="18" charset="0"/>
                          <a:ea typeface="+mn-ea"/>
                          <a:cs typeface="Times New Roman" panose="02020603050405020304" pitchFamily="18" charset="0"/>
                          <a:hlinkClick r:id="rId2">
                            <a:extLst>
                              <a:ext uri="{A12FA001-AC4F-418D-AE19-62706E023703}">
                                <ahyp:hlinkClr xmlns:ahyp="http://schemas.microsoft.com/office/drawing/2018/hyperlinkcolor" val="tx"/>
                              </a:ext>
                            </a:extLst>
                          </a:hlinkClick>
                        </a:rPr>
                        <a:t>Antoine</a:t>
                      </a:r>
                      <a:r>
                        <a:rPr lang="en-IN" sz="900" u="sng" kern="1200" dirty="0">
                          <a:solidFill>
                            <a:schemeClr val="tx1"/>
                          </a:solidFill>
                          <a:effectLst/>
                          <a:latin typeface="Times New Roman" panose="02020603050405020304" pitchFamily="18" charset="0"/>
                          <a:ea typeface="+mn-ea"/>
                          <a:cs typeface="Times New Roman" panose="02020603050405020304" pitchFamily="18" charset="0"/>
                          <a:hlinkClick r:id="rId2">
                            <a:extLst>
                              <a:ext uri="{A12FA001-AC4F-418D-AE19-62706E023703}">
                                <ahyp:hlinkClr xmlns:ahyp="http://schemas.microsoft.com/office/drawing/2018/hyperlinkcolor" val="tx"/>
                              </a:ext>
                            </a:extLst>
                          </a:hlinkClick>
                        </a:rPr>
                        <a:t> Lemay</a:t>
                      </a:r>
                      <a:r>
                        <a:rPr lang="en-IN" sz="900" u="sng" kern="1200" dirty="0">
                          <a:solidFill>
                            <a:schemeClr val="tx1"/>
                          </a:solidFill>
                          <a:effectLst/>
                          <a:latin typeface="Times New Roman" panose="02020603050405020304" pitchFamily="18" charset="0"/>
                          <a:ea typeface="+mn-ea"/>
                          <a:cs typeface="Times New Roman" panose="02020603050405020304" pitchFamily="18" charset="0"/>
                        </a:rPr>
                        <a:t>; </a:t>
                      </a:r>
                      <a:r>
                        <a:rPr lang="en-IN" sz="900" u="sng" kern="1200" dirty="0">
                          <a:solidFill>
                            <a:schemeClr val="tx1"/>
                          </a:solidFill>
                          <a:effectLst/>
                          <a:latin typeface="Times New Roman" panose="02020603050405020304" pitchFamily="18" charset="0"/>
                          <a:ea typeface="+mn-ea"/>
                          <a:cs typeface="Times New Roman" panose="02020603050405020304" pitchFamily="18" charset="0"/>
                          <a:hlinkClick r:id="rId3">
                            <a:extLst>
                              <a:ext uri="{A12FA001-AC4F-418D-AE19-62706E023703}">
                                <ahyp:hlinkClr xmlns:ahyp="http://schemas.microsoft.com/office/drawing/2018/hyperlinkcolor" val="tx"/>
                              </a:ext>
                            </a:extLst>
                          </a:hlinkClick>
                        </a:rPr>
                        <a:t>Neeraj Katiyar</a:t>
                      </a:r>
                      <a:endParaRPr lang="en-IN" sz="900" u="sng"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l"/>
                      <a:r>
                        <a:rPr lang="en-US" sz="900" dirty="0">
                          <a:latin typeface="Times New Roman" panose="02020603050405020304" pitchFamily="18" charset="0"/>
                          <a:cs typeface="Times New Roman" panose="02020603050405020304" pitchFamily="18" charset="0"/>
                        </a:rPr>
                        <a:t>IEEE</a:t>
                      </a:r>
                      <a:endParaRPr lang="en-IN" sz="900" dirty="0">
                        <a:latin typeface="Times New Roman" panose="02020603050405020304" pitchFamily="18" charset="0"/>
                        <a:cs typeface="Times New Roman" panose="02020603050405020304" pitchFamily="18" charset="0"/>
                      </a:endParaRPr>
                    </a:p>
                  </a:txBody>
                  <a:tcPr anchor="ctr"/>
                </a:tc>
                <a:tc>
                  <a:txBody>
                    <a:bodyPr/>
                    <a:lstStyle/>
                    <a:p>
                      <a:pPr algn="l"/>
                      <a:r>
                        <a:rPr lang="en-IN" sz="900" kern="1200" dirty="0">
                          <a:solidFill>
                            <a:schemeClr val="dk1"/>
                          </a:solidFill>
                          <a:effectLst/>
                          <a:latin typeface="Times New Roman" panose="02020603050405020304" pitchFamily="18" charset="0"/>
                          <a:ea typeface="+mn-ea"/>
                          <a:cs typeface="Times New Roman" panose="02020603050405020304" pitchFamily="18" charset="0"/>
                        </a:rPr>
                        <a:t>The proposed approach enhances SBOM data with additional metadata such as vulnerability databases, dependency relationships, and supplier information. This enriched data is then used to perform risk analysis on software components and identify potential security issues within the supply chain.</a:t>
                      </a:r>
                    </a:p>
                  </a:txBody>
                  <a:tcPr anchor="ctr"/>
                </a:tc>
                <a:tc>
                  <a:txBody>
                    <a:bodyPr/>
                    <a:lstStyle/>
                    <a:p>
                      <a:pPr marL="228600" indent="-228600" algn="l">
                        <a:buAutoNum type="arabicPeriod"/>
                      </a:pPr>
                      <a:r>
                        <a:rPr lang="en-US" sz="900" dirty="0">
                          <a:latin typeface="Times New Roman" panose="02020603050405020304" pitchFamily="18" charset="0"/>
                          <a:cs typeface="Times New Roman" panose="02020603050405020304" pitchFamily="18" charset="0"/>
                        </a:rPr>
                        <a:t>Emphasized risk based on SBOM data for software analysis</a:t>
                      </a:r>
                    </a:p>
                    <a:p>
                      <a:pPr marL="228600" indent="-228600" algn="l">
                        <a:buAutoNum type="arabicPeriod"/>
                      </a:pPr>
                      <a:r>
                        <a:rPr lang="en-US" sz="900" dirty="0">
                          <a:latin typeface="Times New Roman" panose="02020603050405020304" pitchFamily="18" charset="0"/>
                          <a:cs typeface="Times New Roman" panose="02020603050405020304" pitchFamily="18" charset="0"/>
                        </a:rPr>
                        <a:t>Identifying Supply chain security issues </a:t>
                      </a:r>
                      <a:endParaRPr lang="en-IN" sz="900" dirty="0">
                        <a:latin typeface="Times New Roman" panose="02020603050405020304" pitchFamily="18" charset="0"/>
                        <a:cs typeface="Times New Roman" panose="02020603050405020304" pitchFamily="18" charset="0"/>
                      </a:endParaRPr>
                    </a:p>
                  </a:txBody>
                  <a:tcPr anchor="ctr"/>
                </a:tc>
                <a:tc>
                  <a:txBody>
                    <a:bodyPr/>
                    <a:lstStyle/>
                    <a:p>
                      <a:r>
                        <a:rPr lang="en-IN" sz="900" kern="1200" dirty="0">
                          <a:solidFill>
                            <a:schemeClr val="dk1"/>
                          </a:solidFill>
                          <a:effectLst/>
                          <a:latin typeface="Times New Roman" panose="02020603050405020304" pitchFamily="18" charset="0"/>
                          <a:ea typeface="+mn-ea"/>
                          <a:cs typeface="Times New Roman" panose="02020603050405020304" pitchFamily="18" charset="0"/>
                        </a:rPr>
                        <a:t>The framework enriches SBOM data but mainly relies on static analysis or rule-based risk evaluation and Context-Aware Vulnerability Prioritization</a:t>
                      </a:r>
                    </a:p>
                  </a:txBody>
                  <a:tcPr anchor="ctr"/>
                </a:tc>
                <a:extLst>
                  <a:ext uri="{0D108BD9-81ED-4DB2-BD59-A6C34878D82A}">
                    <a16:rowId xmlns:a16="http://schemas.microsoft.com/office/drawing/2014/main" val="4207836015"/>
                  </a:ext>
                </a:extLst>
              </a:tr>
            </a:tbl>
          </a:graphicData>
        </a:graphic>
      </p:graphicFrame>
    </p:spTree>
    <p:extLst>
      <p:ext uri="{BB962C8B-B14F-4D97-AF65-F5344CB8AC3E}">
        <p14:creationId xmlns:p14="http://schemas.microsoft.com/office/powerpoint/2010/main" val="6307400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a:bodyPr>
          <a:lstStyle/>
          <a:p>
            <a:r>
              <a:rPr lang="en-IN" dirty="0"/>
              <a:t>Problem Statement</a:t>
            </a:r>
          </a:p>
        </p:txBody>
      </p:sp>
      <p:sp>
        <p:nvSpPr>
          <p:cNvPr id="4" name="Date Placeholder 3">
            <a:extLst>
              <a:ext uri="{FF2B5EF4-FFF2-40B4-BE49-F238E27FC236}">
                <a16:creationId xmlns:a16="http://schemas.microsoft.com/office/drawing/2014/main" id="{701093FF-68FE-1A34-83ED-94CBF152C6E1}"/>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Roboto Slab"/>
                <a:ea typeface="+mn-ea"/>
                <a:cs typeface="+mn-cs"/>
              </a:rPr>
              <a:t>10th October 2026</a:t>
            </a:r>
            <a:endParaRPr kumimoji="0" lang="en-US" sz="1200" b="0" i="0" u="none" strike="noStrike" kern="1200" cap="none" spc="0" normalizeH="0" baseline="0" noProof="0">
              <a:ln>
                <a:noFill/>
              </a:ln>
              <a:solidFill>
                <a:prstClr val="black">
                  <a:tint val="75000"/>
                </a:prstClr>
              </a:solidFill>
              <a:effectLst/>
              <a:uLnTx/>
              <a:uFillTx/>
              <a:latin typeface="Roboto Slab"/>
              <a:ea typeface="+mn-ea"/>
              <a:cs typeface="+mn-cs"/>
            </a:endParaRPr>
          </a:p>
        </p:txBody>
      </p:sp>
      <p:sp>
        <p:nvSpPr>
          <p:cNvPr id="2" name="Footer Placeholder 1">
            <a:extLst>
              <a:ext uri="{FF2B5EF4-FFF2-40B4-BE49-F238E27FC236}">
                <a16:creationId xmlns:a16="http://schemas.microsoft.com/office/drawing/2014/main" id="{C05C1CE5-FC18-6472-E8D0-FDE5A3D14B6D}"/>
              </a:ext>
            </a:extLst>
          </p:cNvPr>
          <p:cNvSpPr>
            <a:spLocks noGrp="1"/>
          </p:cNvSpPr>
          <p:nvPr>
            <p:ph type="ftr" sz="quarter" idx="3"/>
          </p:nvPr>
        </p:nvSpPr>
        <p:spPr/>
        <p:txBody>
          <a:bodyPr/>
          <a:lstStyle/>
          <a:p>
            <a:pPr>
              <a:defRPr/>
            </a:pPr>
            <a:r>
              <a:rPr lang="en-US">
                <a:solidFill>
                  <a:prstClr val="black">
                    <a:tint val="75000"/>
                  </a:prstClr>
                </a:solidFill>
              </a:rPr>
              <a:t>REVA Academy for Corporate Excellence – RACE | race.reva.edu.in</a:t>
            </a:r>
            <a:endParaRPr lang="en-US" dirty="0">
              <a:solidFill>
                <a:prstClr val="black">
                  <a:tint val="75000"/>
                </a:prstClr>
              </a:solidFill>
            </a:endParaRPr>
          </a:p>
        </p:txBody>
      </p:sp>
      <p:sp>
        <p:nvSpPr>
          <p:cNvPr id="7" name="Slide Number Placeholder 5">
            <a:extLst>
              <a:ext uri="{FF2B5EF4-FFF2-40B4-BE49-F238E27FC236}">
                <a16:creationId xmlns:a16="http://schemas.microsoft.com/office/drawing/2014/main" id="{EFA32282-0253-0C86-D4DC-B461A5B742D3}"/>
              </a:ext>
            </a:extLst>
          </p:cNvPr>
          <p:cNvSpPr>
            <a:spLocks noGrp="1"/>
          </p:cNvSpPr>
          <p:nvPr>
            <p:ph type="sldNum" sz="quarter" idx="12"/>
          </p:nvPr>
        </p:nvSpPr>
        <p:spPr>
          <a:xfrm>
            <a:off x="9194324" y="6382786"/>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latin typeface="Roboto Slab"/>
              </a:rPr>
              <a:t>5/16</a:t>
            </a:r>
          </a:p>
        </p:txBody>
      </p:sp>
      <p:sp>
        <p:nvSpPr>
          <p:cNvPr id="6" name="TextBox 5">
            <a:extLst>
              <a:ext uri="{FF2B5EF4-FFF2-40B4-BE49-F238E27FC236}">
                <a16:creationId xmlns:a16="http://schemas.microsoft.com/office/drawing/2014/main" id="{2B431783-1EB9-A874-0D5D-A3FB37C6E871}"/>
              </a:ext>
            </a:extLst>
          </p:cNvPr>
          <p:cNvSpPr txBox="1"/>
          <p:nvPr/>
        </p:nvSpPr>
        <p:spPr>
          <a:xfrm>
            <a:off x="1038895" y="1659285"/>
            <a:ext cx="9769151" cy="3497689"/>
          </a:xfrm>
          <a:prstGeom prst="rect">
            <a:avLst/>
          </a:prstGeom>
          <a:noFill/>
        </p:spPr>
        <p:txBody>
          <a:bodyPr wrap="square">
            <a:spAutoFit/>
          </a:bodyPr>
          <a:lstStyle/>
          <a:p>
            <a:r>
              <a:rPr lang="en-US" b="1" dirty="0"/>
              <a:t>Problem Statement:</a:t>
            </a:r>
          </a:p>
          <a:p>
            <a:endParaRPr lang="en-US" sz="1600" b="1" dirty="0"/>
          </a:p>
          <a:p>
            <a:pPr marL="285750" lvl="0" indent="-285750">
              <a:lnSpc>
                <a:spcPct val="150000"/>
              </a:lnSpc>
              <a:buFont typeface="Arial" panose="020B0604020202020204" pitchFamily="34" charset="0"/>
              <a:buChar char="•"/>
            </a:pPr>
            <a:r>
              <a:rPr lang="en-US" sz="1600" dirty="0"/>
              <a:t>Vulnerability management processes depend on </a:t>
            </a:r>
            <a:r>
              <a:rPr lang="en-US" sz="1600" b="1" dirty="0"/>
              <a:t>static CVSS scores</a:t>
            </a:r>
            <a:r>
              <a:rPr lang="en-US" sz="1600" dirty="0"/>
              <a:t>, which do not account for real-time exploitability.</a:t>
            </a:r>
            <a:endParaRPr lang="en-IN" sz="1600" dirty="0"/>
          </a:p>
          <a:p>
            <a:pPr marL="285750" lvl="0" indent="-285750">
              <a:lnSpc>
                <a:spcPct val="150000"/>
              </a:lnSpc>
              <a:buFont typeface="Arial" panose="020B0604020202020204" pitchFamily="34" charset="0"/>
              <a:buChar char="•"/>
            </a:pPr>
            <a:r>
              <a:rPr lang="en-US" sz="1600" b="1" dirty="0"/>
              <a:t>Asset criticality and business impact </a:t>
            </a:r>
            <a:r>
              <a:rPr lang="en-US" sz="1600" dirty="0"/>
              <a:t>are often overlooked in prioritizing vulnerabilities.</a:t>
            </a:r>
            <a:endParaRPr lang="en-IN" sz="1600" dirty="0"/>
          </a:p>
          <a:p>
            <a:pPr marL="285750" lvl="0" indent="-285750">
              <a:lnSpc>
                <a:spcPct val="150000"/>
              </a:lnSpc>
              <a:buFont typeface="Arial" panose="020B0604020202020204" pitchFamily="34" charset="0"/>
              <a:buChar char="•"/>
            </a:pPr>
            <a:r>
              <a:rPr lang="en-US" sz="1600" b="1" dirty="0"/>
              <a:t>Security teams struggle</a:t>
            </a:r>
            <a:r>
              <a:rPr lang="en-US" sz="1600" dirty="0"/>
              <a:t> to choose which critical vulnerabilities to patch first when many share the same CVSS score.</a:t>
            </a:r>
            <a:endParaRPr lang="en-IN" sz="1600" dirty="0"/>
          </a:p>
          <a:p>
            <a:pPr marL="285750" lvl="0" indent="-285750">
              <a:lnSpc>
                <a:spcPct val="150000"/>
              </a:lnSpc>
              <a:buFont typeface="Arial" panose="020B0604020202020204" pitchFamily="34" charset="0"/>
              <a:buChar char="•"/>
            </a:pPr>
            <a:r>
              <a:rPr lang="en-US" sz="1600" b="1" dirty="0"/>
              <a:t>Delayed remediation</a:t>
            </a:r>
            <a:r>
              <a:rPr lang="en-US" sz="1600" dirty="0"/>
              <a:t> of high-risk vulnerabilities increases exposure to cyberattacks.</a:t>
            </a:r>
            <a:endParaRPr lang="en-IN" sz="1600" dirty="0"/>
          </a:p>
          <a:p>
            <a:pPr marL="285750" lvl="0" indent="-285750">
              <a:lnSpc>
                <a:spcPct val="150000"/>
              </a:lnSpc>
              <a:buFont typeface="Arial" panose="020B0604020202020204" pitchFamily="34" charset="0"/>
              <a:buChar char="•"/>
            </a:pPr>
            <a:r>
              <a:rPr lang="en-US" sz="1600" b="1" dirty="0"/>
              <a:t>There is a need</a:t>
            </a:r>
            <a:r>
              <a:rPr lang="en-US" sz="1600" dirty="0"/>
              <a:t> for a dynamic risk-based model that incorporates EPSS, SBOM component data, asset exposure to generate context aware risk scores</a:t>
            </a:r>
            <a:endParaRPr lang="en-IN" sz="1600" dirty="0"/>
          </a:p>
        </p:txBody>
      </p:sp>
    </p:spTree>
    <p:extLst>
      <p:ext uri="{BB962C8B-B14F-4D97-AF65-F5344CB8AC3E}">
        <p14:creationId xmlns:p14="http://schemas.microsoft.com/office/powerpoint/2010/main" val="7921592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a:bodyPr>
          <a:lstStyle/>
          <a:p>
            <a:r>
              <a:rPr lang="en-IN" dirty="0"/>
              <a:t>Project Objectives</a:t>
            </a:r>
          </a:p>
        </p:txBody>
      </p:sp>
      <p:sp>
        <p:nvSpPr>
          <p:cNvPr id="4" name="Date Placeholder 3">
            <a:extLst>
              <a:ext uri="{FF2B5EF4-FFF2-40B4-BE49-F238E27FC236}">
                <a16:creationId xmlns:a16="http://schemas.microsoft.com/office/drawing/2014/main" id="{701093FF-68FE-1A34-83ED-94CBF152C6E1}"/>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Roboto Slab"/>
                <a:ea typeface="+mn-ea"/>
                <a:cs typeface="+mn-cs"/>
              </a:rPr>
              <a:t>10th October 2026</a:t>
            </a:r>
            <a:endParaRPr kumimoji="0" lang="en-US" sz="1200" b="0" i="0" u="none" strike="noStrike" kern="1200" cap="none" spc="0" normalizeH="0" baseline="0" noProof="0">
              <a:ln>
                <a:noFill/>
              </a:ln>
              <a:solidFill>
                <a:prstClr val="black">
                  <a:tint val="75000"/>
                </a:prstClr>
              </a:solidFill>
              <a:effectLst/>
              <a:uLnTx/>
              <a:uFillTx/>
              <a:latin typeface="Roboto Slab"/>
              <a:ea typeface="+mn-ea"/>
              <a:cs typeface="+mn-cs"/>
            </a:endParaRPr>
          </a:p>
        </p:txBody>
      </p:sp>
      <p:sp>
        <p:nvSpPr>
          <p:cNvPr id="2" name="Footer Placeholder 1">
            <a:extLst>
              <a:ext uri="{FF2B5EF4-FFF2-40B4-BE49-F238E27FC236}">
                <a16:creationId xmlns:a16="http://schemas.microsoft.com/office/drawing/2014/main" id="{C6FC11D2-400C-A9DD-49A8-4A6636086D7F}"/>
              </a:ext>
            </a:extLst>
          </p:cNvPr>
          <p:cNvSpPr>
            <a:spLocks noGrp="1"/>
          </p:cNvSpPr>
          <p:nvPr>
            <p:ph type="ftr" sz="quarter" idx="3"/>
          </p:nvPr>
        </p:nvSpPr>
        <p:spPr/>
        <p:txBody>
          <a:bodyPr/>
          <a:lstStyle/>
          <a:p>
            <a:pPr>
              <a:defRPr/>
            </a:pPr>
            <a:r>
              <a:rPr lang="en-US">
                <a:solidFill>
                  <a:prstClr val="black">
                    <a:tint val="75000"/>
                  </a:prstClr>
                </a:solidFill>
              </a:rPr>
              <a:t>REVA Academy for Corporate Excellence – RACE | race.reva.edu.in</a:t>
            </a:r>
            <a:endParaRPr lang="en-US" dirty="0">
              <a:solidFill>
                <a:prstClr val="black">
                  <a:tint val="75000"/>
                </a:prstClr>
              </a:solidFill>
            </a:endParaRPr>
          </a:p>
        </p:txBody>
      </p:sp>
      <p:sp>
        <p:nvSpPr>
          <p:cNvPr id="9" name="Slide Number Placeholder 5">
            <a:extLst>
              <a:ext uri="{FF2B5EF4-FFF2-40B4-BE49-F238E27FC236}">
                <a16:creationId xmlns:a16="http://schemas.microsoft.com/office/drawing/2014/main" id="{2B28B806-AAC6-5C82-AFDF-3E839577A2CD}"/>
              </a:ext>
            </a:extLst>
          </p:cNvPr>
          <p:cNvSpPr>
            <a:spLocks noGrp="1"/>
          </p:cNvSpPr>
          <p:nvPr>
            <p:ph type="sldNum" sz="quarter" idx="12"/>
          </p:nvPr>
        </p:nvSpPr>
        <p:spPr>
          <a:xfrm>
            <a:off x="9194324" y="6382786"/>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latin typeface="Roboto Slab"/>
              </a:rPr>
              <a:t>6/16</a:t>
            </a:r>
          </a:p>
        </p:txBody>
      </p:sp>
      <p:sp>
        <p:nvSpPr>
          <p:cNvPr id="10" name="TextBox 9"/>
          <p:cNvSpPr txBox="1"/>
          <p:nvPr/>
        </p:nvSpPr>
        <p:spPr>
          <a:xfrm>
            <a:off x="548640" y="1188720"/>
            <a:ext cx="11064240" cy="457200"/>
          </a:xfrm>
          <a:prstGeom prst="rect">
            <a:avLst/>
          </a:prstGeom>
          <a:noFill/>
        </p:spPr>
        <p:txBody>
          <a:bodyPr wrap="square" anchor="t" lIns="45720" rIns="45720">
            <a:spAutoFit/>
          </a:bodyPr>
          <a:lstStyle/>
          <a:p>
            <a:pPr algn="l">
              <a:spcAft>
                <a:spcPts val="400"/>
              </a:spcAft>
            </a:pPr>
            <a:r>
              <a:rPr sz="1500" b="0" i="0">
                <a:solidFill>
                  <a:srgbClr val="6B6B6B"/>
                </a:solidFill>
                <a:latin typeface="Arial"/>
              </a:rPr>
              <a:t>Cap-1 proposed a context-aware score; Cap-2 had to make the "AI" real, measure it against CVSS and deploy it.</a:t>
            </a:r>
          </a:p>
        </p:txBody>
      </p:sp>
      <p:sp>
        <p:nvSpPr>
          <p:cNvPr id="11" name="Rounded Rectangle 10"/>
          <p:cNvSpPr/>
          <p:nvPr/>
        </p:nvSpPr>
        <p:spPr>
          <a:xfrm>
            <a:off x="548640" y="1874519"/>
            <a:ext cx="3520440" cy="393192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731520" y="2057400"/>
            <a:ext cx="384048" cy="384048"/>
          </a:xfrm>
          <a:prstGeom prst="ellipse">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Arial"/>
              </a:rPr>
              <a:t>1</a:t>
            </a:r>
          </a:p>
        </p:txBody>
      </p:sp>
      <p:sp>
        <p:nvSpPr>
          <p:cNvPr id="13" name="TextBox 12"/>
          <p:cNvSpPr txBox="1"/>
          <p:nvPr/>
        </p:nvSpPr>
        <p:spPr>
          <a:xfrm>
            <a:off x="1234440" y="2011679"/>
            <a:ext cx="2697480" cy="640080"/>
          </a:xfrm>
          <a:prstGeom prst="rect">
            <a:avLst/>
          </a:prstGeom>
          <a:noFill/>
        </p:spPr>
        <p:txBody>
          <a:bodyPr wrap="square" anchor="ctr" lIns="45720" rIns="45720">
            <a:spAutoFit/>
          </a:bodyPr>
          <a:lstStyle/>
          <a:p>
            <a:pPr algn="l">
              <a:spcAft>
                <a:spcPts val="400"/>
              </a:spcAft>
            </a:pPr>
            <a:r>
              <a:rPr sz="1600" b="1" i="0">
                <a:solidFill>
                  <a:srgbClr val="333333"/>
                </a:solidFill>
                <a:latin typeface="Arial"/>
              </a:rPr>
              <a:t>Learned exploitation likelihood</a:t>
            </a:r>
          </a:p>
        </p:txBody>
      </p:sp>
      <p:sp>
        <p:nvSpPr>
          <p:cNvPr id="14" name="TextBox 13"/>
          <p:cNvSpPr txBox="1"/>
          <p:nvPr/>
        </p:nvSpPr>
        <p:spPr>
          <a:xfrm>
            <a:off x="731520" y="2743200"/>
            <a:ext cx="3154680" cy="2971800"/>
          </a:xfrm>
          <a:prstGeom prst="rect">
            <a:avLst/>
          </a:prstGeom>
          <a:noFill/>
        </p:spPr>
        <p:txBody>
          <a:bodyPr wrap="square" anchor="t" lIns="45720" rIns="45720">
            <a:spAutoFit/>
          </a:bodyPr>
          <a:lstStyle/>
          <a:p>
            <a:pPr algn="l">
              <a:spcAft>
                <a:spcPts val="1000"/>
              </a:spcAft>
            </a:pPr>
            <a:r>
              <a:rPr sz="1400" b="0" i="0">
                <a:solidFill>
                  <a:srgbClr val="333333"/>
                </a:solidFill>
                <a:latin typeface="Arial"/>
              </a:rPr>
              <a:t>Gradient-boosted classifier trained on NVD CVEs with CISA KEV as the label.</a:t>
            </a:r>
          </a:p>
          <a:p>
            <a:pPr algn="l">
              <a:spcAft>
                <a:spcPts val="1000"/>
              </a:spcAft>
            </a:pPr>
            <a:r>
              <a:rPr sz="1400" b="0" i="0">
                <a:solidFill>
                  <a:srgbClr val="333333"/>
                </a:solidFill>
                <a:latin typeface="Arial"/>
              </a:rPr>
              <a:t>Time split: train 2019–2023, validate 2024, test 2025.</a:t>
            </a:r>
          </a:p>
          <a:p>
            <a:pPr algn="l">
              <a:spcAft>
                <a:spcPts val="1000"/>
              </a:spcAft>
            </a:pPr>
            <a:r>
              <a:rPr sz="1400" b="0" i="0">
                <a:solidFill>
                  <a:srgbClr val="333333"/>
                </a:solidFill>
                <a:latin typeface="Arial"/>
              </a:rPr>
              <a:t>Compared with CVSS-only and EPSS-only baselines (Table 1).</a:t>
            </a:r>
          </a:p>
        </p:txBody>
      </p:sp>
      <p:sp>
        <p:nvSpPr>
          <p:cNvPr id="15" name="Rounded Rectangle 14"/>
          <p:cNvSpPr/>
          <p:nvPr/>
        </p:nvSpPr>
        <p:spPr>
          <a:xfrm>
            <a:off x="4297679" y="1874519"/>
            <a:ext cx="3520440" cy="393192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4480559" y="2057400"/>
            <a:ext cx="384048" cy="384048"/>
          </a:xfrm>
          <a:prstGeom prst="ellipse">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Arial"/>
              </a:rPr>
              <a:t>2</a:t>
            </a:r>
          </a:p>
        </p:txBody>
      </p:sp>
      <p:sp>
        <p:nvSpPr>
          <p:cNvPr id="17" name="TextBox 16"/>
          <p:cNvSpPr txBox="1"/>
          <p:nvPr/>
        </p:nvSpPr>
        <p:spPr>
          <a:xfrm>
            <a:off x="4983479" y="2011679"/>
            <a:ext cx="2697480" cy="640080"/>
          </a:xfrm>
          <a:prstGeom prst="rect">
            <a:avLst/>
          </a:prstGeom>
          <a:noFill/>
        </p:spPr>
        <p:txBody>
          <a:bodyPr wrap="square" anchor="ctr" lIns="45720" rIns="45720">
            <a:spAutoFit/>
          </a:bodyPr>
          <a:lstStyle/>
          <a:p>
            <a:pPr algn="l">
              <a:spcAft>
                <a:spcPts val="400"/>
              </a:spcAft>
            </a:pPr>
            <a:r>
              <a:rPr sz="1600" b="1" i="0">
                <a:solidFill>
                  <a:srgbClr val="333333"/>
                </a:solidFill>
                <a:latin typeface="Arial"/>
              </a:rPr>
              <a:t>Context-aware ranking</a:t>
            </a:r>
          </a:p>
        </p:txBody>
      </p:sp>
      <p:sp>
        <p:nvSpPr>
          <p:cNvPr id="18" name="TextBox 17"/>
          <p:cNvSpPr txBox="1"/>
          <p:nvPr/>
        </p:nvSpPr>
        <p:spPr>
          <a:xfrm>
            <a:off x="4480559" y="2743200"/>
            <a:ext cx="3154680" cy="2971800"/>
          </a:xfrm>
          <a:prstGeom prst="rect">
            <a:avLst/>
          </a:prstGeom>
          <a:noFill/>
        </p:spPr>
        <p:txBody>
          <a:bodyPr wrap="square" anchor="t" lIns="45720" rIns="45720">
            <a:spAutoFit/>
          </a:bodyPr>
          <a:lstStyle/>
          <a:p>
            <a:pPr algn="l">
              <a:spcAft>
                <a:spcPts val="1000"/>
              </a:spcAft>
            </a:pPr>
            <a:r>
              <a:rPr sz="1400" b="0" i="0">
                <a:solidFill>
                  <a:srgbClr val="333333"/>
                </a:solidFill>
                <a:latin typeface="Arial"/>
              </a:rPr>
              <a:t>Five signals: model probability, EPSS, KEV, SBOM fan-in with asset criticality, CVSS scope.</a:t>
            </a:r>
          </a:p>
          <a:p>
            <a:pPr algn="l">
              <a:spcAft>
                <a:spcPts val="1000"/>
              </a:spcAft>
            </a:pPr>
            <a:r>
              <a:rPr sz="1400" b="0" i="0">
                <a:solidFill>
                  <a:srgbClr val="333333"/>
                </a:solidFill>
                <a:latin typeface="Arial"/>
              </a:rPr>
              <a:t>Three rankings side by side: CVSS-only, Cap-1 formula, Formula + ML.</a:t>
            </a:r>
          </a:p>
          <a:p>
            <a:pPr algn="l">
              <a:spcAft>
                <a:spcPts val="1000"/>
              </a:spcAft>
            </a:pPr>
            <a:r>
              <a:rPr sz="1400" b="0" i="0">
                <a:solidFill>
                  <a:srgbClr val="333333"/>
                </a:solidFill>
                <a:latin typeface="Arial"/>
              </a:rPr>
              <a:t>Business context from an optional asset-context file.</a:t>
            </a:r>
          </a:p>
        </p:txBody>
      </p:sp>
      <p:sp>
        <p:nvSpPr>
          <p:cNvPr id="19" name="Rounded Rectangle 18"/>
          <p:cNvSpPr/>
          <p:nvPr/>
        </p:nvSpPr>
        <p:spPr>
          <a:xfrm>
            <a:off x="8046719" y="1874519"/>
            <a:ext cx="3520440" cy="393192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8229599" y="2057400"/>
            <a:ext cx="384048" cy="384048"/>
          </a:xfrm>
          <a:prstGeom prst="ellipse">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Arial"/>
              </a:rPr>
              <a:t>3</a:t>
            </a:r>
          </a:p>
        </p:txBody>
      </p:sp>
      <p:sp>
        <p:nvSpPr>
          <p:cNvPr id="21" name="TextBox 20"/>
          <p:cNvSpPr txBox="1"/>
          <p:nvPr/>
        </p:nvSpPr>
        <p:spPr>
          <a:xfrm>
            <a:off x="8732519" y="2011679"/>
            <a:ext cx="2697480" cy="640080"/>
          </a:xfrm>
          <a:prstGeom prst="rect">
            <a:avLst/>
          </a:prstGeom>
          <a:noFill/>
        </p:spPr>
        <p:txBody>
          <a:bodyPr wrap="square" anchor="ctr" lIns="45720" rIns="45720">
            <a:spAutoFit/>
          </a:bodyPr>
          <a:lstStyle/>
          <a:p>
            <a:pPr algn="l">
              <a:spcAft>
                <a:spcPts val="400"/>
              </a:spcAft>
            </a:pPr>
            <a:r>
              <a:rPr sz="1600" b="1" i="0">
                <a:solidFill>
                  <a:srgbClr val="333333"/>
                </a:solidFill>
                <a:latin typeface="Arial"/>
              </a:rPr>
              <a:t>Evidence and deployment</a:t>
            </a:r>
          </a:p>
        </p:txBody>
      </p:sp>
      <p:sp>
        <p:nvSpPr>
          <p:cNvPr id="22" name="TextBox 21"/>
          <p:cNvSpPr txBox="1"/>
          <p:nvPr/>
        </p:nvSpPr>
        <p:spPr>
          <a:xfrm>
            <a:off x="8229599" y="2743200"/>
            <a:ext cx="3154680" cy="2971800"/>
          </a:xfrm>
          <a:prstGeom prst="rect">
            <a:avLst/>
          </a:prstGeom>
          <a:noFill/>
        </p:spPr>
        <p:txBody>
          <a:bodyPr wrap="square" anchor="t" lIns="45720" rIns="45720">
            <a:spAutoFit/>
          </a:bodyPr>
          <a:lstStyle/>
          <a:p>
            <a:pPr algn="l">
              <a:spcAft>
                <a:spcPts val="1000"/>
              </a:spcAft>
            </a:pPr>
            <a:r>
              <a:rPr sz="1400" b="0" i="0">
                <a:solidFill>
                  <a:srgbClr val="333333"/>
                </a:solidFill>
                <a:latin typeface="Arial"/>
              </a:rPr>
              <a:t>Time-frozen backtest: patch effort to cover 90% of later-exploited CVEs (Tables 2–3).</a:t>
            </a:r>
          </a:p>
          <a:p>
            <a:pPr algn="l">
              <a:spcAft>
                <a:spcPts val="1000"/>
              </a:spcAft>
            </a:pPr>
            <a:r>
              <a:rPr sz="1400" b="0" i="0">
                <a:solidFill>
                  <a:srgbClr val="333333"/>
                </a:solidFill>
                <a:latin typeface="Arial"/>
              </a:rPr>
              <a:t>Nightly retrain with a regression gate, public dashboard, REST API.</a:t>
            </a:r>
          </a:p>
        </p:txBody>
      </p:sp>
    </p:spTree>
    <p:extLst>
      <p:ext uri="{BB962C8B-B14F-4D97-AF65-F5344CB8AC3E}">
        <p14:creationId xmlns:p14="http://schemas.microsoft.com/office/powerpoint/2010/main" val="21259712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AAEC98-9F5D-57A1-359A-44EAEF3B4E1C}"/>
              </a:ext>
            </a:extLst>
          </p:cNvPr>
          <p:cNvSpPr>
            <a:spLocks noGrp="1"/>
          </p:cNvSpPr>
          <p:nvPr>
            <p:ph type="title"/>
          </p:nvPr>
        </p:nvSpPr>
        <p:spPr/>
        <p:txBody>
          <a:bodyPr/>
          <a:lstStyle/>
          <a:p>
            <a:r>
              <a:rPr lang="en-IN" dirty="0"/>
              <a:t>Architecture and Methodology</a:t>
            </a:r>
          </a:p>
        </p:txBody>
      </p:sp>
      <p:sp>
        <p:nvSpPr>
          <p:cNvPr id="3" name="Date Placeholder 2">
            <a:extLst>
              <a:ext uri="{FF2B5EF4-FFF2-40B4-BE49-F238E27FC236}">
                <a16:creationId xmlns:a16="http://schemas.microsoft.com/office/drawing/2014/main" id="{91A1F721-B5F5-098C-8F83-02B74829FBF5}"/>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Roboto Slab"/>
                <a:ea typeface="+mn-ea"/>
                <a:cs typeface="+mn-cs"/>
              </a:rPr>
              <a:t>10th October 2026</a:t>
            </a:r>
            <a:endParaRPr kumimoji="0" lang="en-US" sz="1200" b="0" i="0" u="none" strike="noStrike" kern="1200" cap="none" spc="0" normalizeH="0" baseline="0" noProof="0">
              <a:ln>
                <a:noFill/>
              </a:ln>
              <a:solidFill>
                <a:prstClr val="black">
                  <a:tint val="75000"/>
                </a:prstClr>
              </a:solidFill>
              <a:effectLst/>
              <a:uLnTx/>
              <a:uFillTx/>
              <a:latin typeface="Roboto Slab"/>
              <a:ea typeface="+mn-ea"/>
              <a:cs typeface="+mn-cs"/>
            </a:endParaRPr>
          </a:p>
        </p:txBody>
      </p:sp>
      <p:sp>
        <p:nvSpPr>
          <p:cNvPr id="5" name="Footer Placeholder 4">
            <a:extLst>
              <a:ext uri="{FF2B5EF4-FFF2-40B4-BE49-F238E27FC236}">
                <a16:creationId xmlns:a16="http://schemas.microsoft.com/office/drawing/2014/main" id="{5037AF53-6640-9841-D930-5DC78170D4A1}"/>
              </a:ext>
            </a:extLst>
          </p:cNvPr>
          <p:cNvSpPr>
            <a:spLocks noGrp="1"/>
          </p:cNvSpPr>
          <p:nvPr>
            <p:ph type="ftr" sz="quarter" idx="3"/>
          </p:nvPr>
        </p:nvSpPr>
        <p:spPr/>
        <p:txBody>
          <a:bodyPr/>
          <a:lstStyle/>
          <a:p>
            <a:pPr>
              <a:defRPr/>
            </a:pPr>
            <a:r>
              <a:rPr lang="en-US">
                <a:solidFill>
                  <a:prstClr val="black">
                    <a:tint val="75000"/>
                  </a:prstClr>
                </a:solidFill>
              </a:rPr>
              <a:t>REVA Academy for Corporate Excellence – RACE | race.reva.edu.in</a:t>
            </a:r>
            <a:endParaRPr lang="en-US" dirty="0">
              <a:solidFill>
                <a:prstClr val="black">
                  <a:tint val="75000"/>
                </a:prstClr>
              </a:solidFill>
            </a:endParaRPr>
          </a:p>
        </p:txBody>
      </p:sp>
      <p:sp>
        <p:nvSpPr>
          <p:cNvPr id="8" name="Slide Number Placeholder 5">
            <a:extLst>
              <a:ext uri="{FF2B5EF4-FFF2-40B4-BE49-F238E27FC236}">
                <a16:creationId xmlns:a16="http://schemas.microsoft.com/office/drawing/2014/main" id="{464B88E2-1C07-A91D-9717-6A06119AB1AF}"/>
              </a:ext>
            </a:extLst>
          </p:cNvPr>
          <p:cNvSpPr>
            <a:spLocks noGrp="1"/>
          </p:cNvSpPr>
          <p:nvPr>
            <p:ph type="sldNum" sz="quarter" idx="12"/>
          </p:nvPr>
        </p:nvSpPr>
        <p:spPr>
          <a:xfrm>
            <a:off x="9194324" y="6382786"/>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latin typeface="Roboto Slab"/>
              </a:rPr>
              <a:t>7/16</a:t>
            </a:r>
          </a:p>
        </p:txBody>
      </p:sp>
      <p:sp>
        <p:nvSpPr>
          <p:cNvPr id="9" name="TextBox 8"/>
          <p:cNvSpPr txBox="1"/>
          <p:nvPr/>
        </p:nvSpPr>
        <p:spPr>
          <a:xfrm>
            <a:off x="457200" y="6199632"/>
            <a:ext cx="11292840" cy="320040"/>
          </a:xfrm>
          <a:prstGeom prst="rect">
            <a:avLst/>
          </a:prstGeom>
          <a:noFill/>
        </p:spPr>
        <p:txBody>
          <a:bodyPr wrap="square" anchor="t" lIns="45720" rIns="45720">
            <a:spAutoFit/>
          </a:bodyPr>
          <a:lstStyle/>
          <a:p>
            <a:pPr algn="l">
              <a:spcAft>
                <a:spcPts val="400"/>
              </a:spcAft>
            </a:pPr>
            <a:r>
              <a:rPr sz="1100" b="1" i="0">
                <a:solidFill>
                  <a:srgbClr val="E07B24"/>
                </a:solidFill>
                <a:latin typeface="Arial"/>
              </a:rPr>
              <a:t>Live system: https://akilkumarmn.github.io/sbom-risk-engine/</a:t>
            </a:r>
          </a:p>
        </p:txBody>
      </p:sp>
      <p:sp>
        <p:nvSpPr>
          <p:cNvPr id="10" name="Rounded Rectangle 9"/>
          <p:cNvSpPr/>
          <p:nvPr/>
        </p:nvSpPr>
        <p:spPr>
          <a:xfrm>
            <a:off x="457200" y="1188720"/>
            <a:ext cx="2926080" cy="342900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594360" y="1261872"/>
            <a:ext cx="2651760" cy="320040"/>
          </a:xfrm>
          <a:prstGeom prst="rect">
            <a:avLst/>
          </a:prstGeom>
          <a:noFill/>
        </p:spPr>
        <p:txBody>
          <a:bodyPr wrap="square" anchor="t" lIns="45720" rIns="45720">
            <a:spAutoFit/>
          </a:bodyPr>
          <a:lstStyle/>
          <a:p>
            <a:pPr algn="l">
              <a:spcAft>
                <a:spcPts val="400"/>
              </a:spcAft>
            </a:pPr>
            <a:r>
              <a:rPr sz="1200" b="1" i="0">
                <a:solidFill>
                  <a:srgbClr val="6B6B6B"/>
                </a:solidFill>
                <a:latin typeface="Arial"/>
              </a:rPr>
              <a:t>Public sources</a:t>
            </a:r>
          </a:p>
        </p:txBody>
      </p:sp>
      <p:sp>
        <p:nvSpPr>
          <p:cNvPr id="12" name="Rounded Rectangle 11"/>
          <p:cNvSpPr/>
          <p:nvPr/>
        </p:nvSpPr>
        <p:spPr>
          <a:xfrm>
            <a:off x="3703320" y="1188720"/>
            <a:ext cx="3749039" cy="342900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840480" y="1261872"/>
            <a:ext cx="3474720" cy="320040"/>
          </a:xfrm>
          <a:prstGeom prst="rect">
            <a:avLst/>
          </a:prstGeom>
          <a:noFill/>
        </p:spPr>
        <p:txBody>
          <a:bodyPr wrap="square" anchor="t" lIns="45720" rIns="45720">
            <a:spAutoFit/>
          </a:bodyPr>
          <a:lstStyle/>
          <a:p>
            <a:pPr algn="l">
              <a:spcAft>
                <a:spcPts val="400"/>
              </a:spcAft>
            </a:pPr>
            <a:r>
              <a:rPr sz="1200" b="1" i="0">
                <a:solidFill>
                  <a:srgbClr val="6B6B6B"/>
                </a:solidFill>
                <a:latin typeface="Arial"/>
              </a:rPr>
              <a:t>Nightly pipeline (GitHub Actions)</a:t>
            </a:r>
          </a:p>
        </p:txBody>
      </p:sp>
      <p:sp>
        <p:nvSpPr>
          <p:cNvPr id="14" name="Rounded Rectangle 13"/>
          <p:cNvSpPr/>
          <p:nvPr/>
        </p:nvSpPr>
        <p:spPr>
          <a:xfrm>
            <a:off x="7818120" y="1188720"/>
            <a:ext cx="3931920" cy="342900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955280" y="1261872"/>
            <a:ext cx="3657600" cy="320040"/>
          </a:xfrm>
          <a:prstGeom prst="rect">
            <a:avLst/>
          </a:prstGeom>
          <a:noFill/>
        </p:spPr>
        <p:txBody>
          <a:bodyPr wrap="square" anchor="t" lIns="45720" rIns="45720">
            <a:spAutoFit/>
          </a:bodyPr>
          <a:lstStyle/>
          <a:p>
            <a:pPr algn="l">
              <a:spcAft>
                <a:spcPts val="400"/>
              </a:spcAft>
            </a:pPr>
            <a:r>
              <a:rPr sz="1200" b="1" i="0">
                <a:solidFill>
                  <a:srgbClr val="6B6B6B"/>
                </a:solidFill>
                <a:latin typeface="Arial"/>
              </a:rPr>
              <a:t>Dashboard (GitHub Pages) / API</a:t>
            </a:r>
          </a:p>
        </p:txBody>
      </p:sp>
      <p:sp>
        <p:nvSpPr>
          <p:cNvPr id="16" name="Rounded Rectangle 15"/>
          <p:cNvSpPr/>
          <p:nvPr/>
        </p:nvSpPr>
        <p:spPr>
          <a:xfrm>
            <a:off x="640080" y="1691640"/>
            <a:ext cx="2560320" cy="548640"/>
          </a:xfrm>
          <a:prstGeom prst="roundRect">
            <a:avLst>
              <a:gd name="adj" fmla="val 8000"/>
            </a:avLst>
          </a:prstGeom>
          <a:solidFill>
            <a:srgbClr val="FFFFFF"/>
          </a:solidFill>
          <a:ln w="1270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85800" y="1737360"/>
            <a:ext cx="2468880" cy="457200"/>
          </a:xfrm>
          <a:prstGeom prst="rect">
            <a:avLst/>
          </a:prstGeom>
          <a:noFill/>
        </p:spPr>
        <p:txBody>
          <a:bodyPr wrap="square" anchor="ctr" lIns="45720" rIns="45720">
            <a:spAutoFit/>
          </a:bodyPr>
          <a:lstStyle/>
          <a:p>
            <a:pPr algn="l">
              <a:spcAft>
                <a:spcPts val="400"/>
              </a:spcAft>
            </a:pPr>
            <a:r>
              <a:rPr sz="1100" b="0" i="0">
                <a:solidFill>
                  <a:srgbClr val="333333"/>
                </a:solidFill>
                <a:latin typeface="Arial"/>
              </a:rPr>
              <a:t>NVD CVE feed (fkie-cad mirror)</a:t>
            </a:r>
          </a:p>
        </p:txBody>
      </p:sp>
      <p:sp>
        <p:nvSpPr>
          <p:cNvPr id="18" name="Rounded Rectangle 17"/>
          <p:cNvSpPr/>
          <p:nvPr/>
        </p:nvSpPr>
        <p:spPr>
          <a:xfrm>
            <a:off x="640080" y="2404872"/>
            <a:ext cx="2560320" cy="548640"/>
          </a:xfrm>
          <a:prstGeom prst="roundRect">
            <a:avLst>
              <a:gd name="adj" fmla="val 8000"/>
            </a:avLst>
          </a:prstGeom>
          <a:solidFill>
            <a:srgbClr val="FFFFFF"/>
          </a:solidFill>
          <a:ln w="1270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685800" y="2450591"/>
            <a:ext cx="2468880" cy="457200"/>
          </a:xfrm>
          <a:prstGeom prst="rect">
            <a:avLst/>
          </a:prstGeom>
          <a:noFill/>
        </p:spPr>
        <p:txBody>
          <a:bodyPr wrap="square" anchor="ctr" lIns="45720" rIns="45720">
            <a:spAutoFit/>
          </a:bodyPr>
          <a:lstStyle/>
          <a:p>
            <a:pPr algn="l">
              <a:spcAft>
                <a:spcPts val="400"/>
              </a:spcAft>
            </a:pPr>
            <a:r>
              <a:rPr sz="1100" b="0" i="0">
                <a:solidFill>
                  <a:srgbClr val="333333"/>
                </a:solidFill>
                <a:latin typeface="Arial"/>
              </a:rPr>
              <a:t>CISA KEV catalogue</a:t>
            </a:r>
          </a:p>
        </p:txBody>
      </p:sp>
      <p:sp>
        <p:nvSpPr>
          <p:cNvPr id="20" name="Rounded Rectangle 19"/>
          <p:cNvSpPr/>
          <p:nvPr/>
        </p:nvSpPr>
        <p:spPr>
          <a:xfrm>
            <a:off x="640080" y="3118104"/>
            <a:ext cx="2560320" cy="548640"/>
          </a:xfrm>
          <a:prstGeom prst="roundRect">
            <a:avLst>
              <a:gd name="adj" fmla="val 8000"/>
            </a:avLst>
          </a:prstGeom>
          <a:solidFill>
            <a:srgbClr val="FFFFFF"/>
          </a:solidFill>
          <a:ln w="1270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85800" y="3163824"/>
            <a:ext cx="2468880" cy="457200"/>
          </a:xfrm>
          <a:prstGeom prst="rect">
            <a:avLst/>
          </a:prstGeom>
          <a:noFill/>
        </p:spPr>
        <p:txBody>
          <a:bodyPr wrap="square" anchor="ctr" lIns="45720" rIns="45720">
            <a:spAutoFit/>
          </a:bodyPr>
          <a:lstStyle/>
          <a:p>
            <a:pPr algn="l">
              <a:spcAft>
                <a:spcPts val="400"/>
              </a:spcAft>
            </a:pPr>
            <a:r>
              <a:rPr sz="1100" b="0" i="0">
                <a:solidFill>
                  <a:srgbClr val="333333"/>
                </a:solidFill>
                <a:latin typeface="Arial"/>
              </a:rPr>
              <a:t>FIRST EPSS (current + 2025-01-01)</a:t>
            </a:r>
          </a:p>
        </p:txBody>
      </p:sp>
      <p:sp>
        <p:nvSpPr>
          <p:cNvPr id="22" name="Rounded Rectangle 21"/>
          <p:cNvSpPr/>
          <p:nvPr/>
        </p:nvSpPr>
        <p:spPr>
          <a:xfrm>
            <a:off x="640080" y="3831335"/>
            <a:ext cx="2560320" cy="548640"/>
          </a:xfrm>
          <a:prstGeom prst="roundRect">
            <a:avLst>
              <a:gd name="adj" fmla="val 8000"/>
            </a:avLst>
          </a:prstGeom>
          <a:solidFill>
            <a:srgbClr val="FFFFFF"/>
          </a:solidFill>
          <a:ln w="1270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85800" y="3877056"/>
            <a:ext cx="2468880" cy="457200"/>
          </a:xfrm>
          <a:prstGeom prst="rect">
            <a:avLst/>
          </a:prstGeom>
          <a:noFill/>
        </p:spPr>
        <p:txBody>
          <a:bodyPr wrap="square" anchor="ctr" lIns="45720" rIns="45720">
            <a:spAutoFit/>
          </a:bodyPr>
          <a:lstStyle/>
          <a:p>
            <a:pPr algn="l">
              <a:spcAft>
                <a:spcPts val="400"/>
              </a:spcAft>
            </a:pPr>
            <a:r>
              <a:rPr sz="1100" b="0" i="0">
                <a:solidFill>
                  <a:srgbClr val="333333"/>
                </a:solidFill>
                <a:latin typeface="Arial"/>
              </a:rPr>
              <a:t>PoC-in-GitHub + Exploit-DB</a:t>
            </a:r>
          </a:p>
        </p:txBody>
      </p:sp>
      <p:sp>
        <p:nvSpPr>
          <p:cNvPr id="24" name="Rounded Rectangle 23"/>
          <p:cNvSpPr/>
          <p:nvPr/>
        </p:nvSpPr>
        <p:spPr>
          <a:xfrm>
            <a:off x="3886200" y="1691640"/>
            <a:ext cx="3383280" cy="777240"/>
          </a:xfrm>
          <a:prstGeom prst="roundRect">
            <a:avLst>
              <a:gd name="adj" fmla="val 8000"/>
            </a:avLst>
          </a:prstGeom>
          <a:solidFill>
            <a:srgbClr val="FFFFFF"/>
          </a:solidFill>
          <a:ln w="1270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3959352" y="1719072"/>
            <a:ext cx="3246120" cy="731520"/>
          </a:xfrm>
          <a:prstGeom prst="rect">
            <a:avLst/>
          </a:prstGeom>
          <a:noFill/>
        </p:spPr>
        <p:txBody>
          <a:bodyPr wrap="square" anchor="t" lIns="45720" rIns="45720">
            <a:spAutoFit/>
          </a:bodyPr>
          <a:lstStyle/>
          <a:p>
            <a:pPr algn="l">
              <a:spcAft>
                <a:spcPts val="400"/>
              </a:spcAft>
            </a:pPr>
            <a:r>
              <a:rPr sz="1200" b="1" i="0">
                <a:solidFill>
                  <a:srgbClr val="333333"/>
                </a:solidFill>
                <a:latin typeface="Arial"/>
              </a:rPr>
              <a:t>Feature builder</a:t>
            </a:r>
          </a:p>
          <a:p>
            <a:pPr algn="l">
              <a:spcAft>
                <a:spcPts val="400"/>
              </a:spcAft>
            </a:pPr>
            <a:r>
              <a:rPr sz="1000" b="0" i="0">
                <a:solidFill>
                  <a:srgbClr val="6B6B6B"/>
                </a:solidFill>
                <a:latin typeface="Arial"/>
              </a:rPr>
              <a:t>CVSS vector, CWE, vendor KEV rate, references, keywords, PoC ≤30 days</a:t>
            </a:r>
          </a:p>
        </p:txBody>
      </p:sp>
      <p:sp>
        <p:nvSpPr>
          <p:cNvPr id="26" name="Rounded Rectangle 25"/>
          <p:cNvSpPr/>
          <p:nvPr/>
        </p:nvSpPr>
        <p:spPr>
          <a:xfrm>
            <a:off x="3886200" y="2633472"/>
            <a:ext cx="3383280" cy="777240"/>
          </a:xfrm>
          <a:prstGeom prst="roundRect">
            <a:avLst>
              <a:gd name="adj" fmla="val 8000"/>
            </a:avLst>
          </a:prstGeom>
          <a:solidFill>
            <a:srgbClr val="FFFFFF"/>
          </a:solidFill>
          <a:ln w="1270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3959352" y="2660904"/>
            <a:ext cx="3246120" cy="731520"/>
          </a:xfrm>
          <a:prstGeom prst="rect">
            <a:avLst/>
          </a:prstGeom>
          <a:noFill/>
        </p:spPr>
        <p:txBody>
          <a:bodyPr wrap="square" anchor="t" lIns="45720" rIns="45720">
            <a:spAutoFit/>
          </a:bodyPr>
          <a:lstStyle/>
          <a:p>
            <a:pPr algn="l">
              <a:spcAft>
                <a:spcPts val="400"/>
              </a:spcAft>
            </a:pPr>
            <a:r>
              <a:rPr sz="1200" b="1" i="0">
                <a:solidFill>
                  <a:srgbClr val="333333"/>
                </a:solidFill>
                <a:latin typeface="Arial"/>
              </a:rPr>
              <a:t>KEV classifier</a:t>
            </a:r>
          </a:p>
          <a:p>
            <a:pPr algn="l">
              <a:spcAft>
                <a:spcPts val="400"/>
              </a:spcAft>
            </a:pPr>
            <a:r>
              <a:rPr sz="1000" b="0" i="0">
                <a:solidFill>
                  <a:srgbClr val="6B6B6B"/>
                </a:solidFill>
                <a:latin typeface="Arial"/>
              </a:rPr>
              <a:t>LightGBM, time split, Platt-calibrated</a:t>
            </a:r>
          </a:p>
        </p:txBody>
      </p:sp>
      <p:sp>
        <p:nvSpPr>
          <p:cNvPr id="28" name="Rounded Rectangle 27"/>
          <p:cNvSpPr/>
          <p:nvPr/>
        </p:nvSpPr>
        <p:spPr>
          <a:xfrm>
            <a:off x="3886200" y="3575304"/>
            <a:ext cx="3383280" cy="777240"/>
          </a:xfrm>
          <a:prstGeom prst="roundRect">
            <a:avLst>
              <a:gd name="adj" fmla="val 8000"/>
            </a:avLst>
          </a:prstGeom>
          <a:solidFill>
            <a:srgbClr val="FFFFFF"/>
          </a:solidFill>
          <a:ln w="1270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3959352" y="3602736"/>
            <a:ext cx="3246120" cy="731520"/>
          </a:xfrm>
          <a:prstGeom prst="rect">
            <a:avLst/>
          </a:prstGeom>
          <a:noFill/>
        </p:spPr>
        <p:txBody>
          <a:bodyPr wrap="square" anchor="t" lIns="45720" rIns="45720">
            <a:spAutoFit/>
          </a:bodyPr>
          <a:lstStyle/>
          <a:p>
            <a:pPr algn="l">
              <a:spcAft>
                <a:spcPts val="400"/>
              </a:spcAft>
            </a:pPr>
            <a:r>
              <a:rPr sz="1200" b="1" i="0">
                <a:solidFill>
                  <a:srgbClr val="333333"/>
                </a:solidFill>
                <a:latin typeface="Arial"/>
              </a:rPr>
              <a:t>Export + backtest</a:t>
            </a:r>
          </a:p>
          <a:p>
            <a:pPr algn="l">
              <a:spcAft>
                <a:spcPts val="400"/>
              </a:spcAft>
            </a:pPr>
            <a:r>
              <a:rPr sz="1000" b="0" i="0">
                <a:solidFill>
                  <a:srgbClr val="6B6B6B"/>
                </a:solidFill>
                <a:latin typeface="Arial"/>
              </a:rPr>
              <a:t>per-CVE probability + top-3 reasons; Tables 1–3; AUC gate &gt; 0.80</a:t>
            </a:r>
          </a:p>
        </p:txBody>
      </p:sp>
      <p:sp>
        <p:nvSpPr>
          <p:cNvPr id="30" name="Rounded Rectangle 29"/>
          <p:cNvSpPr/>
          <p:nvPr/>
        </p:nvSpPr>
        <p:spPr>
          <a:xfrm>
            <a:off x="8001000" y="1691640"/>
            <a:ext cx="3566160" cy="777240"/>
          </a:xfrm>
          <a:prstGeom prst="roundRect">
            <a:avLst>
              <a:gd name="adj" fmla="val 8000"/>
            </a:avLst>
          </a:prstGeom>
          <a:solidFill>
            <a:srgbClr val="FFFFFF"/>
          </a:solidFill>
          <a:ln w="1270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8074152" y="1719072"/>
            <a:ext cx="3429000" cy="731520"/>
          </a:xfrm>
          <a:prstGeom prst="rect">
            <a:avLst/>
          </a:prstGeom>
          <a:noFill/>
        </p:spPr>
        <p:txBody>
          <a:bodyPr wrap="square" anchor="t" lIns="45720" rIns="45720">
            <a:spAutoFit/>
          </a:bodyPr>
          <a:lstStyle/>
          <a:p>
            <a:pPr algn="l">
              <a:spcAft>
                <a:spcPts val="400"/>
              </a:spcAft>
            </a:pPr>
            <a:r>
              <a:rPr sz="1200" b="1" i="0">
                <a:solidFill>
                  <a:srgbClr val="333333"/>
                </a:solidFill>
                <a:latin typeface="Arial"/>
              </a:rPr>
              <a:t>Inputs (stay in the browser)</a:t>
            </a:r>
          </a:p>
          <a:p>
            <a:pPr algn="l">
              <a:spcAft>
                <a:spcPts val="400"/>
              </a:spcAft>
            </a:pPr>
            <a:r>
              <a:rPr sz="1000" b="0" i="0">
                <a:solidFill>
                  <a:srgbClr val="6B6B6B"/>
                </a:solidFill>
                <a:latin typeface="Arial"/>
              </a:rPr>
              <a:t>CycloneDX SBOM · Trivy / Nessus / CSV · asset-context.json</a:t>
            </a:r>
          </a:p>
        </p:txBody>
      </p:sp>
      <p:sp>
        <p:nvSpPr>
          <p:cNvPr id="32" name="Rounded Rectangle 31"/>
          <p:cNvSpPr/>
          <p:nvPr/>
        </p:nvSpPr>
        <p:spPr>
          <a:xfrm>
            <a:off x="8001000" y="2633472"/>
            <a:ext cx="3566160" cy="777240"/>
          </a:xfrm>
          <a:prstGeom prst="roundRect">
            <a:avLst>
              <a:gd name="adj" fmla="val 8000"/>
            </a:avLst>
          </a:prstGeom>
          <a:solidFill>
            <a:srgbClr val="FFFFFF"/>
          </a:solidFill>
          <a:ln w="1270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8074152" y="2660904"/>
            <a:ext cx="3429000" cy="731520"/>
          </a:xfrm>
          <a:prstGeom prst="rect">
            <a:avLst/>
          </a:prstGeom>
          <a:noFill/>
        </p:spPr>
        <p:txBody>
          <a:bodyPr wrap="square" anchor="t" lIns="45720" rIns="45720">
            <a:spAutoFit/>
          </a:bodyPr>
          <a:lstStyle/>
          <a:p>
            <a:pPr algn="l">
              <a:spcAft>
                <a:spcPts val="400"/>
              </a:spcAft>
            </a:pPr>
            <a:r>
              <a:rPr sz="1200" b="1" i="0">
                <a:solidFill>
                  <a:srgbClr val="333333"/>
                </a:solidFill>
                <a:latin typeface="Arial"/>
              </a:rPr>
              <a:t>SBOM enrichment</a:t>
            </a:r>
          </a:p>
          <a:p>
            <a:pPr algn="l">
              <a:spcAft>
                <a:spcPts val="400"/>
              </a:spcAft>
            </a:pPr>
            <a:r>
              <a:rPr sz="1000" b="0" i="0">
                <a:solidFill>
                  <a:srgbClr val="6B6B6B"/>
                </a:solidFill>
                <a:latin typeface="Arial"/>
              </a:rPr>
              <a:t>correlation by bom-ref / purl; dependency depth and fan-in</a:t>
            </a:r>
          </a:p>
        </p:txBody>
      </p:sp>
      <p:sp>
        <p:nvSpPr>
          <p:cNvPr id="34" name="Rounded Rectangle 33"/>
          <p:cNvSpPr/>
          <p:nvPr/>
        </p:nvSpPr>
        <p:spPr>
          <a:xfrm>
            <a:off x="8001000" y="3575304"/>
            <a:ext cx="3566160" cy="777240"/>
          </a:xfrm>
          <a:prstGeom prst="roundRect">
            <a:avLst>
              <a:gd name="adj" fmla="val 8000"/>
            </a:avLst>
          </a:prstGeom>
          <a:solidFill>
            <a:srgbClr val="FFFFFF"/>
          </a:solidFill>
          <a:ln w="1270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8074152" y="3602736"/>
            <a:ext cx="3429000" cy="731520"/>
          </a:xfrm>
          <a:prstGeom prst="rect">
            <a:avLst/>
          </a:prstGeom>
          <a:noFill/>
        </p:spPr>
        <p:txBody>
          <a:bodyPr wrap="square" anchor="t" lIns="45720" rIns="45720">
            <a:spAutoFit/>
          </a:bodyPr>
          <a:lstStyle/>
          <a:p>
            <a:pPr algn="l">
              <a:spcAft>
                <a:spcPts val="400"/>
              </a:spcAft>
            </a:pPr>
            <a:r>
              <a:rPr sz="1200" b="1" i="0">
                <a:solidFill>
                  <a:srgbClr val="333333"/>
                </a:solidFill>
                <a:latin typeface="Arial"/>
              </a:rPr>
              <a:t>Live intel</a:t>
            </a:r>
          </a:p>
          <a:p>
            <a:pPr algn="l">
              <a:spcAft>
                <a:spcPts val="400"/>
              </a:spcAft>
            </a:pPr>
            <a:r>
              <a:rPr sz="1000" b="0" i="0">
                <a:solidFill>
                  <a:srgbClr val="6B6B6B"/>
                </a:solidFill>
                <a:latin typeface="Arial"/>
              </a:rPr>
              <a:t>EPSS and KEV fetched live, cached 24 h, dated snapshot fallback</a:t>
            </a:r>
          </a:p>
        </p:txBody>
      </p:sp>
      <p:cxnSp>
        <p:nvCxnSpPr>
          <p:cNvPr id="36" name="Connector 35"/>
          <p:cNvCxnSpPr/>
          <p:nvPr/>
        </p:nvCxnSpPr>
        <p:spPr>
          <a:xfrm>
            <a:off x="3401568" y="2926080"/>
            <a:ext cx="274319" cy="0"/>
          </a:xfrm>
          <a:prstGeom prst="line">
            <a:avLst/>
          </a:prstGeom>
          <a:ln w="22225">
            <a:solidFill>
              <a:srgbClr val="6B6B6B"/>
            </a:solidFill>
            <a:tailEnd type="triangle"/>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7251192" y="2926080"/>
            <a:ext cx="548639" cy="0"/>
          </a:xfrm>
          <a:prstGeom prst="line">
            <a:avLst/>
          </a:prstGeom>
          <a:ln w="22225">
            <a:solidFill>
              <a:srgbClr val="6B6B6B"/>
            </a:solidFill>
            <a:tailEnd type="triangle"/>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457200" y="4754880"/>
            <a:ext cx="11292840" cy="1417320"/>
          </a:xfrm>
          <a:prstGeom prst="roundRect">
            <a:avLst>
              <a:gd name="adj" fmla="val 8000"/>
            </a:avLst>
          </a:prstGeom>
          <a:solidFill>
            <a:srgbClr val="4040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640080" y="4828032"/>
            <a:ext cx="10972800" cy="1325880"/>
          </a:xfrm>
          <a:prstGeom prst="rect">
            <a:avLst/>
          </a:prstGeom>
          <a:noFill/>
        </p:spPr>
        <p:txBody>
          <a:bodyPr wrap="square" anchor="t" lIns="45720" rIns="45720">
            <a:spAutoFit/>
          </a:bodyPr>
          <a:lstStyle/>
          <a:p>
            <a:pPr algn="l">
              <a:spcAft>
                <a:spcPts val="400"/>
              </a:spcAft>
            </a:pPr>
            <a:r>
              <a:rPr sz="1300" b="1" i="0">
                <a:solidFill>
                  <a:srgbClr val="E07B24"/>
                </a:solidFill>
                <a:latin typeface="Arial"/>
              </a:rPr>
              <a:t>Formula + ML risk score</a:t>
            </a:r>
          </a:p>
          <a:p>
            <a:pPr algn="l">
              <a:spcAft>
                <a:spcPts val="400"/>
              </a:spcAft>
            </a:pPr>
            <a:r>
              <a:rPr sz="1400" b="1" i="0">
                <a:solidFill>
                  <a:srgbClr val="FFFFFF"/>
                </a:solidFill>
                <a:latin typeface="Arial"/>
              </a:rPr>
              <a:t>Risk = 100 × (0.5·P_model + 0.3·EPSS + 0.2·KEV) × (0.5·CVSS impact/6 + 0.5·fan-in/max fan-in) × Crit_asset × Scope</a:t>
            </a:r>
          </a:p>
          <a:p>
            <a:pPr algn="l">
              <a:spcAft>
                <a:spcPts val="400"/>
              </a:spcAft>
            </a:pPr>
            <a:r>
              <a:rPr sz="1100" b="0" i="0">
                <a:solidFill>
                  <a:srgbClr val="DDDDDD"/>
                </a:solidFill>
                <a:latin typeface="Arial"/>
              </a:rPr>
              <a:t>Crit_asset = 1.5 / 1.25 / 1.0 for tier 1 / 2 / 3, ×1.2 if internet-facing · Scope = 1.15 if CVSS scope changed · SBOM depth and fan-in are not reachability</a:t>
            </a:r>
          </a:p>
        </p:txBody>
      </p:sp>
    </p:spTree>
    <p:extLst>
      <p:ext uri="{BB962C8B-B14F-4D97-AF65-F5344CB8AC3E}">
        <p14:creationId xmlns:p14="http://schemas.microsoft.com/office/powerpoint/2010/main" val="11513515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1AFB0D-B6BF-17A1-5083-D53D1C7FC77C}"/>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BA7B6815-C78F-C537-5A38-1CF8A9D56589}"/>
              </a:ext>
            </a:extLst>
          </p:cNvPr>
          <p:cNvSpPr>
            <a:spLocks noGrp="1"/>
          </p:cNvSpPr>
          <p:nvPr>
            <p:ph type="title"/>
          </p:nvPr>
        </p:nvSpPr>
        <p:spPr/>
        <p:txBody>
          <a:bodyPr>
            <a:normAutofit/>
          </a:bodyPr>
          <a:lstStyle/>
          <a:p>
            <a:r>
              <a:rPr lang="en-US" sz="3600" dirty="0">
                <a:cs typeface="Arial" panose="020B0604020202020204" pitchFamily="34" charset="0"/>
              </a:rPr>
              <a:t>Dataset, Features and Split</a:t>
            </a:r>
            <a:endParaRPr lang="en-IN" dirty="0"/>
          </a:p>
        </p:txBody>
      </p:sp>
      <p:sp>
        <p:nvSpPr>
          <p:cNvPr id="4" name="Date Placeholder 3">
            <a:extLst>
              <a:ext uri="{FF2B5EF4-FFF2-40B4-BE49-F238E27FC236}">
                <a16:creationId xmlns:a16="http://schemas.microsoft.com/office/drawing/2014/main" id="{B81F57BA-F00B-F8C5-25C8-23E2885C9E24}"/>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schemeClr val="tx1"/>
                </a:solidFill>
                <a:effectLst/>
                <a:uLnTx/>
                <a:uFillTx/>
                <a:latin typeface="Roboto Slab"/>
                <a:ea typeface="+mn-ea"/>
                <a:cs typeface="+mn-cs"/>
              </a:rPr>
              <a:t>10th October 2026</a:t>
            </a:r>
            <a:endParaRPr kumimoji="0" lang="en-US" sz="1200" b="0" i="0" u="none" strike="noStrike" kern="1200" cap="none" spc="0" normalizeH="0" baseline="0" noProof="0" dirty="0">
              <a:ln>
                <a:noFill/>
              </a:ln>
              <a:solidFill>
                <a:schemeClr val="tx1"/>
              </a:solidFill>
              <a:effectLst/>
              <a:uLnTx/>
              <a:uFillTx/>
              <a:latin typeface="Roboto Slab"/>
              <a:ea typeface="+mn-ea"/>
              <a:cs typeface="+mn-cs"/>
            </a:endParaRPr>
          </a:p>
        </p:txBody>
      </p:sp>
      <p:sp>
        <p:nvSpPr>
          <p:cNvPr id="6" name="Slide Number Placeholder 5">
            <a:extLst>
              <a:ext uri="{FF2B5EF4-FFF2-40B4-BE49-F238E27FC236}">
                <a16:creationId xmlns:a16="http://schemas.microsoft.com/office/drawing/2014/main" id="{0F793F2A-7EE2-ED4A-3A00-B6A8A492B5A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latin typeface="Roboto Slab"/>
              </a:rPr>
              <a:t>8/16</a:t>
            </a:r>
          </a:p>
        </p:txBody>
      </p:sp>
      <p:sp>
        <p:nvSpPr>
          <p:cNvPr id="2" name="Footer Placeholder 1">
            <a:extLst>
              <a:ext uri="{FF2B5EF4-FFF2-40B4-BE49-F238E27FC236}">
                <a16:creationId xmlns:a16="http://schemas.microsoft.com/office/drawing/2014/main" id="{38C9784C-F8E2-45C6-7051-69C00F20FDA3}"/>
              </a:ext>
            </a:extLst>
          </p:cNvPr>
          <p:cNvSpPr>
            <a:spLocks noGrp="1"/>
          </p:cNvSpPr>
          <p:nvPr>
            <p:ph type="ftr" sz="quarter" idx="3"/>
          </p:nvPr>
        </p:nvSpPr>
        <p:spPr/>
        <p:txBody>
          <a:bodyPr/>
          <a:lstStyle/>
          <a:p>
            <a:pPr algn="r">
              <a:defRPr/>
            </a:pPr>
            <a:r>
              <a:rPr lang="en-US">
                <a:solidFill>
                  <a:schemeClr val="tx1"/>
                </a:solidFill>
              </a:rPr>
              <a:t>REVA Academy for Corporate Excellence – RACE | race.reva.edu.in</a:t>
            </a:r>
            <a:endParaRPr lang="en-US" dirty="0">
              <a:solidFill>
                <a:schemeClr val="tx1"/>
              </a:solidFill>
            </a:endParaRPr>
          </a:p>
        </p:txBody>
      </p:sp>
      <p:graphicFrame>
        <p:nvGraphicFramePr>
          <p:cNvPr id="7" name="Table 6"/>
          <p:cNvGraphicFramePr>
            <a:graphicFrameLocks noGrp="1"/>
          </p:cNvGraphicFramePr>
          <p:nvPr/>
        </p:nvGraphicFramePr>
        <p:xfrm>
          <a:off x="457200" y="1554480"/>
          <a:ext cx="6035040" cy="1920240"/>
        </p:xfrm>
        <a:graphic>
          <a:graphicData uri="http://schemas.openxmlformats.org/drawingml/2006/table">
            <a:tbl>
              <a:tblPr firstRow="1" bandRow="1">
                <a:tableStyleId>{5C22544A-7EE6-4342-B048-85BDC9FD1C3A}</a:tableStyleId>
              </a:tblPr>
              <a:tblGrid>
                <a:gridCol w="2377440"/>
                <a:gridCol w="3657600"/>
              </a:tblGrid>
              <a:tr h="384048">
                <a:tc>
                  <a:txBody>
                    <a:bodyPr wrap="square"/>
                    <a:lstStyle/>
                    <a:p>
                      <a:pPr algn="l"/>
                      <a:r>
                        <a:rPr sz="1100" b="1">
                          <a:solidFill>
                            <a:srgbClr val="FFFFFF"/>
                          </a:solidFill>
                          <a:latin typeface="Arial"/>
                        </a:rPr>
                        <a:t>Source</a:t>
                      </a:r>
                    </a:p>
                  </a:txBody>
                  <a:tcPr marL="73152" marR="73152" marT="27432" marB="27432" anchor="ctr">
                    <a:solidFill>
                      <a:srgbClr val="404040"/>
                    </a:solidFill>
                  </a:tcPr>
                </a:tc>
                <a:tc>
                  <a:txBody>
                    <a:bodyPr wrap="square"/>
                    <a:lstStyle/>
                    <a:p>
                      <a:pPr algn="ctr"/>
                      <a:r>
                        <a:rPr sz="1100" b="1">
                          <a:solidFill>
                            <a:srgbClr val="FFFFFF"/>
                          </a:solidFill>
                          <a:latin typeface="Arial"/>
                        </a:rPr>
                        <a:t>Used for</a:t>
                      </a:r>
                    </a:p>
                  </a:txBody>
                  <a:tcPr marL="73152" marR="73152" marT="27432" marB="27432" anchor="ctr">
                    <a:solidFill>
                      <a:srgbClr val="404040"/>
                    </a:solidFill>
                  </a:tcPr>
                </a:tc>
              </a:tr>
              <a:tr h="384048">
                <a:tc>
                  <a:txBody>
                    <a:bodyPr wrap="square"/>
                    <a:lstStyle/>
                    <a:p>
                      <a:pPr algn="l"/>
                      <a:r>
                        <a:rPr sz="1100" b="0">
                          <a:solidFill>
                            <a:srgbClr val="333333"/>
                          </a:solidFill>
                          <a:latin typeface="Arial"/>
                        </a:rPr>
                        <a:t>NVD CVE feed (fkie-cad mirror)</a:t>
                      </a:r>
                    </a:p>
                  </a:txBody>
                  <a:tcPr marL="73152" marR="73152" marT="27432" marB="27432" anchor="ctr">
                    <a:solidFill>
                      <a:srgbClr val="FFFFFF"/>
                    </a:solidFill>
                  </a:tcPr>
                </a:tc>
                <a:tc>
                  <a:txBody>
                    <a:bodyPr wrap="square"/>
                    <a:lstStyle/>
                    <a:p>
                      <a:pPr algn="ctr"/>
                      <a:r>
                        <a:rPr sz="1100" b="0">
                          <a:solidFill>
                            <a:srgbClr val="333333"/>
                          </a:solidFill>
                          <a:latin typeface="Arial"/>
                        </a:rPr>
                        <a:t>CVSS vector, CWE, CPE vendor, references, dates</a:t>
                      </a:r>
                    </a:p>
                  </a:txBody>
                  <a:tcPr marL="73152" marR="73152" marT="27432" marB="27432" anchor="ctr">
                    <a:solidFill>
                      <a:srgbClr val="FFFFFF"/>
                    </a:solidFill>
                  </a:tcPr>
                </a:tc>
              </a:tr>
              <a:tr h="384048">
                <a:tc>
                  <a:txBody>
                    <a:bodyPr wrap="square"/>
                    <a:lstStyle/>
                    <a:p>
                      <a:pPr algn="l"/>
                      <a:r>
                        <a:rPr sz="1100" b="0">
                          <a:solidFill>
                            <a:srgbClr val="333333"/>
                          </a:solidFill>
                          <a:latin typeface="Arial"/>
                        </a:rPr>
                        <a:t>CISA KEV catalogue</a:t>
                      </a:r>
                    </a:p>
                  </a:txBody>
                  <a:tcPr marL="73152" marR="73152" marT="27432" marB="27432" anchor="ctr">
                    <a:solidFill>
                      <a:srgbClr val="F2F2F2"/>
                    </a:solidFill>
                  </a:tcPr>
                </a:tc>
                <a:tc>
                  <a:txBody>
                    <a:bodyPr wrap="square"/>
                    <a:lstStyle/>
                    <a:p>
                      <a:pPr algn="ctr"/>
                      <a:r>
                        <a:rPr sz="1100" b="0">
                          <a:solidFill>
                            <a:srgbClr val="333333"/>
                          </a:solidFill>
                          <a:latin typeface="Arial"/>
                        </a:rPr>
                        <a:t>label; dateAdded rebuilds KEV at any past date</a:t>
                      </a:r>
                    </a:p>
                  </a:txBody>
                  <a:tcPr marL="73152" marR="73152" marT="27432" marB="27432" anchor="ctr">
                    <a:solidFill>
                      <a:srgbClr val="F2F2F2"/>
                    </a:solidFill>
                  </a:tcPr>
                </a:tc>
              </a:tr>
              <a:tr h="384048">
                <a:tc>
                  <a:txBody>
                    <a:bodyPr wrap="square"/>
                    <a:lstStyle/>
                    <a:p>
                      <a:pPr algn="l"/>
                      <a:r>
                        <a:rPr sz="1100" b="0">
                          <a:solidFill>
                            <a:srgbClr val="333333"/>
                          </a:solidFill>
                          <a:latin typeface="Arial"/>
                        </a:rPr>
                        <a:t>FIRST EPSS</a:t>
                      </a:r>
                    </a:p>
                  </a:txBody>
                  <a:tcPr marL="73152" marR="73152" marT="27432" marB="27432" anchor="ctr">
                    <a:solidFill>
                      <a:srgbClr val="FFFFFF"/>
                    </a:solidFill>
                  </a:tcPr>
                </a:tc>
                <a:tc>
                  <a:txBody>
                    <a:bodyPr wrap="square"/>
                    <a:lstStyle/>
                    <a:p>
                      <a:pPr algn="ctr"/>
                      <a:r>
                        <a:rPr sz="1100" b="0">
                          <a:solidFill>
                            <a:srgbClr val="333333"/>
                          </a:solidFill>
                          <a:latin typeface="Arial"/>
                        </a:rPr>
                        <a:t>baseline, model variant, backtest input</a:t>
                      </a:r>
                    </a:p>
                  </a:txBody>
                  <a:tcPr marL="73152" marR="73152" marT="27432" marB="27432" anchor="ctr">
                    <a:solidFill>
                      <a:srgbClr val="FFFFFF"/>
                    </a:solidFill>
                  </a:tcPr>
                </a:tc>
              </a:tr>
              <a:tr h="384048">
                <a:tc>
                  <a:txBody>
                    <a:bodyPr wrap="square"/>
                    <a:lstStyle/>
                    <a:p>
                      <a:pPr algn="l"/>
                      <a:r>
                        <a:rPr sz="1100" b="0">
                          <a:solidFill>
                            <a:srgbClr val="333333"/>
                          </a:solidFill>
                          <a:latin typeface="Arial"/>
                        </a:rPr>
                        <a:t>PoC-in-GitHub, Exploit-DB</a:t>
                      </a:r>
                    </a:p>
                  </a:txBody>
                  <a:tcPr marL="73152" marR="73152" marT="27432" marB="27432" anchor="ctr">
                    <a:solidFill>
                      <a:srgbClr val="F2F2F2"/>
                    </a:solidFill>
                  </a:tcPr>
                </a:tc>
                <a:tc>
                  <a:txBody>
                    <a:bodyPr wrap="square"/>
                    <a:lstStyle/>
                    <a:p>
                      <a:pPr algn="ctr"/>
                      <a:r>
                        <a:rPr sz="1100" b="0">
                          <a:solidFill>
                            <a:srgbClr val="333333"/>
                          </a:solidFill>
                          <a:latin typeface="Arial"/>
                        </a:rPr>
                        <a:t>first public-PoC dates</a:t>
                      </a:r>
                    </a:p>
                  </a:txBody>
                  <a:tcPr marL="73152" marR="73152" marT="27432" marB="27432" anchor="ctr">
                    <a:solidFill>
                      <a:srgbClr val="F2F2F2"/>
                    </a:solidFill>
                  </a:tcPr>
                </a:tc>
              </a:tr>
            </a:tbl>
          </a:graphicData>
        </a:graphic>
      </p:graphicFrame>
      <p:sp>
        <p:nvSpPr>
          <p:cNvPr id="8" name="TextBox 7"/>
          <p:cNvSpPr txBox="1"/>
          <p:nvPr/>
        </p:nvSpPr>
        <p:spPr>
          <a:xfrm>
            <a:off x="457200" y="3657600"/>
            <a:ext cx="6035040" cy="2468880"/>
          </a:xfrm>
          <a:prstGeom prst="rect">
            <a:avLst/>
          </a:prstGeom>
          <a:noFill/>
        </p:spPr>
        <p:txBody>
          <a:bodyPr wrap="square" anchor="t" lIns="45720" rIns="45720">
            <a:spAutoFit/>
          </a:bodyPr>
          <a:lstStyle/>
          <a:p>
            <a:pPr algn="l">
              <a:spcAft>
                <a:spcPts val="400"/>
              </a:spcAft>
            </a:pPr>
            <a:r>
              <a:rPr sz="1400" b="1" i="0">
                <a:solidFill>
                  <a:srgbClr val="333333"/>
                </a:solidFill>
                <a:latin typeface="Arial"/>
              </a:rPr>
              <a:t>Features (knowable at publication)</a:t>
            </a:r>
          </a:p>
          <a:p>
            <a:pPr algn="l">
              <a:spcAft>
                <a:spcPts val="400"/>
              </a:spcAft>
            </a:pPr>
            <a:r>
              <a:rPr sz="1200" b="0" i="0">
                <a:solidFill>
                  <a:srgbClr val="333333"/>
                </a:solidFill>
                <a:latin typeface="Arial"/>
              </a:rPr>
              <a:t>CVSS base + one-hot vector · top-30 CWE · vendor/product KEV rate (target-encoded on training years, out-of-fold) · reference counts and exploit-site domains · description keywords (RCE, unauthenticated, deserialization, SSRF, auth bypass) · public PoC within 30 days of publication</a:t>
            </a:r>
          </a:p>
          <a:p>
            <a:pPr algn="l">
              <a:spcAft>
                <a:spcPts val="400"/>
              </a:spcAft>
            </a:pPr>
            <a:r>
              <a:rPr sz="1200" b="0" i="0">
                <a:solidFill>
                  <a:srgbClr val="6B6B6B"/>
                </a:solidFill>
                <a:latin typeface="Arial"/>
              </a:rPr>
              <a:t>Leakage guards: KEV-derived NVD fields and KEV-catalogue links are ignored; tested with planted traps.</a:t>
            </a:r>
          </a:p>
        </p:txBody>
      </p:sp>
      <p:sp>
        <p:nvSpPr>
          <p:cNvPr id="9" name="TextBox 8"/>
          <p:cNvSpPr txBox="1"/>
          <p:nvPr/>
        </p:nvSpPr>
        <p:spPr>
          <a:xfrm>
            <a:off x="6949440" y="1554480"/>
            <a:ext cx="4754880" cy="365760"/>
          </a:xfrm>
          <a:prstGeom prst="rect">
            <a:avLst/>
          </a:prstGeom>
          <a:noFill/>
        </p:spPr>
        <p:txBody>
          <a:bodyPr wrap="square" anchor="t" lIns="45720" rIns="45720">
            <a:spAutoFit/>
          </a:bodyPr>
          <a:lstStyle/>
          <a:p>
            <a:pPr algn="l">
              <a:spcAft>
                <a:spcPts val="400"/>
              </a:spcAft>
            </a:pPr>
            <a:r>
              <a:rPr sz="1400" b="1" i="0">
                <a:solidFill>
                  <a:srgbClr val="333333"/>
                </a:solidFill>
                <a:latin typeface="Arial"/>
              </a:rPr>
              <a:t>Time-based split (NVD published date)</a:t>
            </a:r>
          </a:p>
        </p:txBody>
      </p:sp>
      <p:sp>
        <p:nvSpPr>
          <p:cNvPr id="10" name="Rectangle 9"/>
          <p:cNvSpPr/>
          <p:nvPr/>
        </p:nvSpPr>
        <p:spPr>
          <a:xfrm>
            <a:off x="6949440" y="2057400"/>
            <a:ext cx="2011680" cy="685800"/>
          </a:xfrm>
          <a:prstGeom prst="rect">
            <a:avLst/>
          </a:prstGeom>
          <a:solidFill>
            <a:srgbClr val="4040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949440" y="2075688"/>
            <a:ext cx="2011680" cy="658368"/>
          </a:xfrm>
          <a:prstGeom prst="rect">
            <a:avLst/>
          </a:prstGeom>
          <a:noFill/>
        </p:spPr>
        <p:txBody>
          <a:bodyPr wrap="square" anchor="ctr" lIns="45720" rIns="45720">
            <a:spAutoFit/>
          </a:bodyPr>
          <a:lstStyle/>
          <a:p>
            <a:pPr algn="ctr">
              <a:spcAft>
                <a:spcPts val="400"/>
              </a:spcAft>
            </a:pPr>
            <a:r>
              <a:rPr sz="1100" b="1" i="0">
                <a:solidFill>
                  <a:srgbClr val="FFFFFF"/>
                </a:solidFill>
                <a:latin typeface="Arial"/>
              </a:rPr>
              <a:t>Train 2019–2023</a:t>
            </a:r>
          </a:p>
          <a:p>
            <a:pPr algn="ctr">
              <a:spcAft>
                <a:spcPts val="400"/>
              </a:spcAft>
            </a:pPr>
            <a:r>
              <a:rPr sz="950" b="0" i="0">
                <a:solidFill>
                  <a:srgbClr val="FFFFFF"/>
                </a:solidFill>
                <a:latin typeface="Arial"/>
              </a:rPr>
              <a:t>108,024 CVEs · 784 KEV</a:t>
            </a:r>
          </a:p>
        </p:txBody>
      </p:sp>
      <p:sp>
        <p:nvSpPr>
          <p:cNvPr id="12" name="Rectangle 11"/>
          <p:cNvSpPr/>
          <p:nvPr/>
        </p:nvSpPr>
        <p:spPr>
          <a:xfrm>
            <a:off x="9034272" y="2057400"/>
            <a:ext cx="1234440" cy="685800"/>
          </a:xfrm>
          <a:prstGeom prst="rect">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034272" y="2075688"/>
            <a:ext cx="1234440" cy="658368"/>
          </a:xfrm>
          <a:prstGeom prst="rect">
            <a:avLst/>
          </a:prstGeom>
          <a:noFill/>
        </p:spPr>
        <p:txBody>
          <a:bodyPr wrap="square" anchor="ctr" lIns="45720" rIns="45720">
            <a:spAutoFit/>
          </a:bodyPr>
          <a:lstStyle/>
          <a:p>
            <a:pPr algn="ctr">
              <a:spcAft>
                <a:spcPts val="400"/>
              </a:spcAft>
            </a:pPr>
            <a:r>
              <a:rPr sz="1100" b="1" i="0">
                <a:solidFill>
                  <a:srgbClr val="FFFFFF"/>
                </a:solidFill>
                <a:latin typeface="Arial"/>
              </a:rPr>
              <a:t>Validate 2024</a:t>
            </a:r>
          </a:p>
          <a:p>
            <a:pPr algn="ctr">
              <a:spcAft>
                <a:spcPts val="400"/>
              </a:spcAft>
            </a:pPr>
            <a:r>
              <a:rPr sz="950" b="0" i="0">
                <a:solidFill>
                  <a:srgbClr val="FFFFFF"/>
                </a:solidFill>
                <a:latin typeface="Arial"/>
              </a:rPr>
              <a:t>39,944 CVEs · 160 KEV</a:t>
            </a:r>
          </a:p>
        </p:txBody>
      </p:sp>
      <p:sp>
        <p:nvSpPr>
          <p:cNvPr id="14" name="Rectangle 13"/>
          <p:cNvSpPr/>
          <p:nvPr/>
        </p:nvSpPr>
        <p:spPr>
          <a:xfrm>
            <a:off x="10341863" y="2057400"/>
            <a:ext cx="1234440" cy="68580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341863" y="2075688"/>
            <a:ext cx="1234440" cy="658368"/>
          </a:xfrm>
          <a:prstGeom prst="rect">
            <a:avLst/>
          </a:prstGeom>
          <a:noFill/>
        </p:spPr>
        <p:txBody>
          <a:bodyPr wrap="square" anchor="ctr" lIns="45720" rIns="45720">
            <a:spAutoFit/>
          </a:bodyPr>
          <a:lstStyle/>
          <a:p>
            <a:pPr algn="ctr">
              <a:spcAft>
                <a:spcPts val="400"/>
              </a:spcAft>
            </a:pPr>
            <a:r>
              <a:rPr sz="1100" b="1" i="0">
                <a:solidFill>
                  <a:srgbClr val="FFFFFF"/>
                </a:solidFill>
                <a:latin typeface="Arial"/>
              </a:rPr>
              <a:t>Test 2025</a:t>
            </a:r>
          </a:p>
          <a:p>
            <a:pPr algn="ctr">
              <a:spcAft>
                <a:spcPts val="400"/>
              </a:spcAft>
            </a:pPr>
            <a:r>
              <a:rPr sz="950" b="0" i="0">
                <a:solidFill>
                  <a:srgbClr val="FFFFFF"/>
                </a:solidFill>
                <a:latin typeface="Arial"/>
              </a:rPr>
              <a:t>47,969 CVEs · 197 KEV</a:t>
            </a:r>
          </a:p>
        </p:txBody>
      </p:sp>
      <p:sp>
        <p:nvSpPr>
          <p:cNvPr id="16" name="TextBox 15"/>
          <p:cNvSpPr txBox="1"/>
          <p:nvPr/>
        </p:nvSpPr>
        <p:spPr>
          <a:xfrm>
            <a:off x="6949440" y="3108960"/>
            <a:ext cx="1554480" cy="1097280"/>
          </a:xfrm>
          <a:prstGeom prst="rect">
            <a:avLst/>
          </a:prstGeom>
          <a:noFill/>
        </p:spPr>
        <p:txBody>
          <a:bodyPr wrap="square" anchor="t" lIns="45720" rIns="45720">
            <a:spAutoFit/>
          </a:bodyPr>
          <a:lstStyle/>
          <a:p>
            <a:pPr algn="l">
              <a:spcAft>
                <a:spcPts val="400"/>
              </a:spcAft>
            </a:pPr>
            <a:r>
              <a:rPr sz="2600" b="1" i="0">
                <a:solidFill>
                  <a:srgbClr val="E07B24"/>
                </a:solidFill>
                <a:latin typeface="Arial"/>
              </a:rPr>
              <a:t>195,937</a:t>
            </a:r>
          </a:p>
          <a:p>
            <a:pPr algn="l">
              <a:spcAft>
                <a:spcPts val="400"/>
              </a:spcAft>
            </a:pPr>
            <a:r>
              <a:rPr sz="1100" b="0" i="0">
                <a:solidFill>
                  <a:srgbClr val="6B6B6B"/>
                </a:solidFill>
                <a:latin typeface="Arial"/>
              </a:rPr>
              <a:t>CVEs in the split</a:t>
            </a:r>
          </a:p>
        </p:txBody>
      </p:sp>
      <p:sp>
        <p:nvSpPr>
          <p:cNvPr id="17" name="TextBox 16"/>
          <p:cNvSpPr txBox="1"/>
          <p:nvPr/>
        </p:nvSpPr>
        <p:spPr>
          <a:xfrm>
            <a:off x="8549640" y="3108960"/>
            <a:ext cx="1554480" cy="1097280"/>
          </a:xfrm>
          <a:prstGeom prst="rect">
            <a:avLst/>
          </a:prstGeom>
          <a:noFill/>
        </p:spPr>
        <p:txBody>
          <a:bodyPr wrap="square" anchor="t" lIns="45720" rIns="45720">
            <a:spAutoFit/>
          </a:bodyPr>
          <a:lstStyle/>
          <a:p>
            <a:pPr algn="l">
              <a:spcAft>
                <a:spcPts val="400"/>
              </a:spcAft>
            </a:pPr>
            <a:r>
              <a:rPr sz="2600" b="1" i="0">
                <a:solidFill>
                  <a:srgbClr val="E07B24"/>
                </a:solidFill>
                <a:latin typeface="Arial"/>
              </a:rPr>
              <a:t>1,141</a:t>
            </a:r>
          </a:p>
          <a:p>
            <a:pPr algn="l">
              <a:spcAft>
                <a:spcPts val="400"/>
              </a:spcAft>
            </a:pPr>
            <a:r>
              <a:rPr sz="1100" b="0" i="0">
                <a:solidFill>
                  <a:srgbClr val="6B6B6B"/>
                </a:solidFill>
                <a:latin typeface="Arial"/>
              </a:rPr>
              <a:t>in CISA KEV</a:t>
            </a:r>
          </a:p>
        </p:txBody>
      </p:sp>
      <p:sp>
        <p:nvSpPr>
          <p:cNvPr id="18" name="TextBox 17"/>
          <p:cNvSpPr txBox="1"/>
          <p:nvPr/>
        </p:nvSpPr>
        <p:spPr>
          <a:xfrm>
            <a:off x="10149840" y="3108960"/>
            <a:ext cx="1554480" cy="1097280"/>
          </a:xfrm>
          <a:prstGeom prst="rect">
            <a:avLst/>
          </a:prstGeom>
          <a:noFill/>
        </p:spPr>
        <p:txBody>
          <a:bodyPr wrap="square" anchor="t" lIns="45720" rIns="45720">
            <a:spAutoFit/>
          </a:bodyPr>
          <a:lstStyle/>
          <a:p>
            <a:pPr algn="l">
              <a:spcAft>
                <a:spcPts val="400"/>
              </a:spcAft>
            </a:pPr>
            <a:r>
              <a:rPr sz="2600" b="1" i="0">
                <a:solidFill>
                  <a:srgbClr val="E07B24"/>
                </a:solidFill>
                <a:latin typeface="Arial"/>
              </a:rPr>
              <a:t>0.6%</a:t>
            </a:r>
          </a:p>
          <a:p>
            <a:pPr algn="l">
              <a:spcAft>
                <a:spcPts val="400"/>
              </a:spcAft>
            </a:pPr>
            <a:r>
              <a:rPr sz="1100" b="0" i="0">
                <a:solidFill>
                  <a:srgbClr val="6B6B6B"/>
                </a:solidFill>
                <a:latin typeface="Arial"/>
              </a:rPr>
              <a:t>positive rate</a:t>
            </a:r>
          </a:p>
        </p:txBody>
      </p:sp>
      <p:sp>
        <p:nvSpPr>
          <p:cNvPr id="19" name="TextBox 18"/>
          <p:cNvSpPr txBox="1"/>
          <p:nvPr/>
        </p:nvSpPr>
        <p:spPr>
          <a:xfrm>
            <a:off x="6949440" y="4343400"/>
            <a:ext cx="4754880" cy="1737360"/>
          </a:xfrm>
          <a:prstGeom prst="rect">
            <a:avLst/>
          </a:prstGeom>
          <a:noFill/>
        </p:spPr>
        <p:txBody>
          <a:bodyPr wrap="square" anchor="t" lIns="45720" rIns="45720">
            <a:spAutoFit/>
          </a:bodyPr>
          <a:lstStyle/>
          <a:p>
            <a:pPr algn="l">
              <a:spcAft>
                <a:spcPts val="400"/>
              </a:spcAft>
            </a:pPr>
            <a:r>
              <a:rPr sz="1300" b="1" i="0">
                <a:solidFill>
                  <a:srgbClr val="333333"/>
                </a:solidFill>
                <a:latin typeface="Arial"/>
              </a:rPr>
              <a:t>Why not a random split?</a:t>
            </a:r>
          </a:p>
          <a:p>
            <a:pPr algn="l">
              <a:spcAft>
                <a:spcPts val="400"/>
              </a:spcAft>
            </a:pPr>
            <a:r>
              <a:rPr sz="1200" b="0" i="0">
                <a:solidFill>
                  <a:srgbClr val="333333"/>
                </a:solidFill>
                <a:latin typeface="Arial"/>
              </a:rPr>
              <a:t>A random split lets 2025 CVEs learn from their own vendors' later history. Splitting by date mimics deployment: the model only ever scores CVEs newer than everything it trained on.</a:t>
            </a:r>
          </a:p>
        </p:txBody>
      </p:sp>
    </p:spTree>
    <p:extLst>
      <p:ext uri="{BB962C8B-B14F-4D97-AF65-F5344CB8AC3E}">
        <p14:creationId xmlns:p14="http://schemas.microsoft.com/office/powerpoint/2010/main" val="1564373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1AFB0D-B6BF-17A1-5083-D53D1C7FC77C}"/>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BA7B6815-C78F-C537-5A38-1CF8A9D56589}"/>
              </a:ext>
            </a:extLst>
          </p:cNvPr>
          <p:cNvSpPr>
            <a:spLocks noGrp="1"/>
          </p:cNvSpPr>
          <p:nvPr>
            <p:ph type="title"/>
          </p:nvPr>
        </p:nvSpPr>
        <p:spPr/>
        <p:txBody>
          <a:bodyPr>
            <a:normAutofit/>
          </a:bodyPr>
          <a:lstStyle/>
          <a:p>
            <a:r>
              <a:rPr lang="en-US" sz="3600" dirty="0">
                <a:cs typeface="Arial" panose="020B0604020202020204" pitchFamily="34" charset="0"/>
              </a:rPr>
              <a:t>Model Results — Table 1</a:t>
            </a:r>
            <a:endParaRPr lang="en-IN" dirty="0"/>
          </a:p>
        </p:txBody>
      </p:sp>
      <p:sp>
        <p:nvSpPr>
          <p:cNvPr id="4" name="Date Placeholder 3">
            <a:extLst>
              <a:ext uri="{FF2B5EF4-FFF2-40B4-BE49-F238E27FC236}">
                <a16:creationId xmlns:a16="http://schemas.microsoft.com/office/drawing/2014/main" id="{B81F57BA-F00B-F8C5-25C8-23E2885C9E24}"/>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schemeClr val="tx1"/>
                </a:solidFill>
                <a:effectLst/>
                <a:uLnTx/>
                <a:uFillTx/>
                <a:latin typeface="Roboto Slab"/>
                <a:ea typeface="+mn-ea"/>
                <a:cs typeface="+mn-cs"/>
              </a:rPr>
              <a:t>10th October 2026</a:t>
            </a:r>
            <a:endParaRPr kumimoji="0" lang="en-US" sz="1200" b="0" i="0" u="none" strike="noStrike" kern="1200" cap="none" spc="0" normalizeH="0" baseline="0" noProof="0" dirty="0">
              <a:ln>
                <a:noFill/>
              </a:ln>
              <a:solidFill>
                <a:schemeClr val="tx1"/>
              </a:solidFill>
              <a:effectLst/>
              <a:uLnTx/>
              <a:uFillTx/>
              <a:latin typeface="Roboto Slab"/>
              <a:ea typeface="+mn-ea"/>
              <a:cs typeface="+mn-cs"/>
            </a:endParaRPr>
          </a:p>
        </p:txBody>
      </p:sp>
      <p:sp>
        <p:nvSpPr>
          <p:cNvPr id="6" name="Slide Number Placeholder 5">
            <a:extLst>
              <a:ext uri="{FF2B5EF4-FFF2-40B4-BE49-F238E27FC236}">
                <a16:creationId xmlns:a16="http://schemas.microsoft.com/office/drawing/2014/main" id="{0F793F2A-7EE2-ED4A-3A00-B6A8A492B5A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latin typeface="Roboto Slab"/>
              </a:rPr>
              <a:t>9/16</a:t>
            </a:r>
          </a:p>
        </p:txBody>
      </p:sp>
      <p:sp>
        <p:nvSpPr>
          <p:cNvPr id="2" name="Footer Placeholder 1">
            <a:extLst>
              <a:ext uri="{FF2B5EF4-FFF2-40B4-BE49-F238E27FC236}">
                <a16:creationId xmlns:a16="http://schemas.microsoft.com/office/drawing/2014/main" id="{38C9784C-F8E2-45C6-7051-69C00F20FDA3}"/>
              </a:ext>
            </a:extLst>
          </p:cNvPr>
          <p:cNvSpPr>
            <a:spLocks noGrp="1"/>
          </p:cNvSpPr>
          <p:nvPr>
            <p:ph type="ftr" sz="quarter" idx="3"/>
          </p:nvPr>
        </p:nvSpPr>
        <p:spPr/>
        <p:txBody>
          <a:bodyPr/>
          <a:lstStyle/>
          <a:p>
            <a:pPr algn="r">
              <a:defRPr/>
            </a:pPr>
            <a:r>
              <a:rPr lang="en-US">
                <a:solidFill>
                  <a:schemeClr val="tx1"/>
                </a:solidFill>
              </a:rPr>
              <a:t>REVA Academy for Corporate Excellence – RACE | race.reva.edu.in</a:t>
            </a:r>
            <a:endParaRPr lang="en-US" dirty="0">
              <a:solidFill>
                <a:schemeClr val="tx1"/>
              </a:solidFill>
            </a:endParaRPr>
          </a:p>
        </p:txBody>
      </p:sp>
      <p:sp>
        <p:nvSpPr>
          <p:cNvPr id="7" name="TextBox 6"/>
          <p:cNvSpPr txBox="1"/>
          <p:nvPr/>
        </p:nvSpPr>
        <p:spPr>
          <a:xfrm>
            <a:off x="457200" y="1508760"/>
            <a:ext cx="6583680" cy="365760"/>
          </a:xfrm>
          <a:prstGeom prst="rect">
            <a:avLst/>
          </a:prstGeom>
          <a:noFill/>
        </p:spPr>
        <p:txBody>
          <a:bodyPr wrap="square" anchor="t" lIns="45720" rIns="45720">
            <a:spAutoFit/>
          </a:bodyPr>
          <a:lstStyle/>
          <a:p>
            <a:pPr algn="l">
              <a:spcAft>
                <a:spcPts val="400"/>
              </a:spcAft>
            </a:pPr>
            <a:r>
              <a:rPr sz="1200" b="0" i="0">
                <a:solidFill>
                  <a:srgbClr val="6B6B6B"/>
                </a:solidFill>
                <a:latin typeface="Arial"/>
              </a:rPr>
              <a:t>2025 test year: n = 47,969 CVEs, k = 197 in KEV (0.4%)</a:t>
            </a:r>
          </a:p>
        </p:txBody>
      </p:sp>
      <p:graphicFrame>
        <p:nvGraphicFramePr>
          <p:cNvPr id="8" name="Table 7"/>
          <p:cNvGraphicFramePr>
            <a:graphicFrameLocks noGrp="1"/>
          </p:cNvGraphicFramePr>
          <p:nvPr/>
        </p:nvGraphicFramePr>
        <p:xfrm>
          <a:off x="457200" y="1874519"/>
          <a:ext cx="6583680" cy="2194560"/>
        </p:xfrm>
        <a:graphic>
          <a:graphicData uri="http://schemas.openxmlformats.org/drawingml/2006/table">
            <a:tbl>
              <a:tblPr firstRow="1" bandRow="1">
                <a:tableStyleId>{5C22544A-7EE6-4342-B048-85BDC9FD1C3A}</a:tableStyleId>
              </a:tblPr>
              <a:tblGrid>
                <a:gridCol w="1920240"/>
                <a:gridCol w="749808"/>
                <a:gridCol w="749808"/>
                <a:gridCol w="749808"/>
                <a:gridCol w="749808"/>
                <a:gridCol w="786384"/>
                <a:gridCol w="877824"/>
              </a:tblGrid>
              <a:tr h="365760">
                <a:tc>
                  <a:txBody>
                    <a:bodyPr wrap="square"/>
                    <a:lstStyle/>
                    <a:p>
                      <a:pPr algn="l"/>
                      <a:r>
                        <a:rPr sz="1050" b="1">
                          <a:solidFill>
                            <a:srgbClr val="FFFFFF"/>
                          </a:solidFill>
                          <a:latin typeface="Arial"/>
                        </a:rPr>
                        <a:t>Ranker</a:t>
                      </a:r>
                    </a:p>
                  </a:txBody>
                  <a:tcPr marL="73152" marR="73152" marT="27432" marB="27432" anchor="ctr">
                    <a:solidFill>
                      <a:srgbClr val="404040"/>
                    </a:solidFill>
                  </a:tcPr>
                </a:tc>
                <a:tc>
                  <a:txBody>
                    <a:bodyPr wrap="square"/>
                    <a:lstStyle/>
                    <a:p>
                      <a:pPr algn="ctr"/>
                      <a:r>
                        <a:rPr sz="1050" b="1">
                          <a:solidFill>
                            <a:srgbClr val="FFFFFF"/>
                          </a:solidFill>
                          <a:latin typeface="Arial"/>
                        </a:rPr>
                        <a:t>AUC-ROC</a:t>
                      </a:r>
                    </a:p>
                  </a:txBody>
                  <a:tcPr marL="73152" marR="73152" marT="27432" marB="27432" anchor="ctr">
                    <a:solidFill>
                      <a:srgbClr val="404040"/>
                    </a:solidFill>
                  </a:tcPr>
                </a:tc>
                <a:tc>
                  <a:txBody>
                    <a:bodyPr wrap="square"/>
                    <a:lstStyle/>
                    <a:p>
                      <a:pPr algn="ctr"/>
                      <a:r>
                        <a:rPr sz="1050" b="1">
                          <a:solidFill>
                            <a:srgbClr val="FFFFFF"/>
                          </a:solidFill>
                          <a:latin typeface="Arial"/>
                        </a:rPr>
                        <a:t>PR-AUC</a:t>
                      </a:r>
                    </a:p>
                  </a:txBody>
                  <a:tcPr marL="73152" marR="73152" marT="27432" marB="27432" anchor="ctr">
                    <a:solidFill>
                      <a:srgbClr val="404040"/>
                    </a:solidFill>
                  </a:tcPr>
                </a:tc>
                <a:tc>
                  <a:txBody>
                    <a:bodyPr wrap="square"/>
                    <a:lstStyle/>
                    <a:p>
                      <a:pPr algn="ctr"/>
                      <a:r>
                        <a:rPr sz="1050" b="1">
                          <a:solidFill>
                            <a:srgbClr val="FFFFFF"/>
                          </a:solidFill>
                          <a:latin typeface="Arial"/>
                        </a:rPr>
                        <a:t>P@100</a:t>
                      </a:r>
                    </a:p>
                  </a:txBody>
                  <a:tcPr marL="73152" marR="73152" marT="27432" marB="27432" anchor="ctr">
                    <a:solidFill>
                      <a:srgbClr val="404040"/>
                    </a:solidFill>
                  </a:tcPr>
                </a:tc>
                <a:tc>
                  <a:txBody>
                    <a:bodyPr wrap="square"/>
                    <a:lstStyle/>
                    <a:p>
                      <a:pPr algn="ctr"/>
                      <a:r>
                        <a:rPr sz="1050" b="1">
                          <a:solidFill>
                            <a:srgbClr val="FFFFFF"/>
                          </a:solidFill>
                          <a:latin typeface="Arial"/>
                        </a:rPr>
                        <a:t>P@500</a:t>
                      </a:r>
                    </a:p>
                  </a:txBody>
                  <a:tcPr marL="73152" marR="73152" marT="27432" marB="27432" anchor="ctr">
                    <a:solidFill>
                      <a:srgbClr val="404040"/>
                    </a:solidFill>
                  </a:tcPr>
                </a:tc>
                <a:tc>
                  <a:txBody>
                    <a:bodyPr wrap="square"/>
                    <a:lstStyle/>
                    <a:p>
                      <a:pPr algn="ctr"/>
                      <a:r>
                        <a:rPr sz="1050" b="1">
                          <a:solidFill>
                            <a:srgbClr val="FFFFFF"/>
                          </a:solidFill>
                          <a:latin typeface="Arial"/>
                        </a:rPr>
                        <a:t>R@1000</a:t>
                      </a:r>
                    </a:p>
                  </a:txBody>
                  <a:tcPr marL="73152" marR="73152" marT="27432" marB="27432" anchor="ctr">
                    <a:solidFill>
                      <a:srgbClr val="404040"/>
                    </a:solidFill>
                  </a:tcPr>
                </a:tc>
                <a:tc>
                  <a:txBody>
                    <a:bodyPr wrap="square"/>
                    <a:lstStyle/>
                    <a:p>
                      <a:pPr algn="ctr"/>
                      <a:r>
                        <a:rPr sz="1050" b="1">
                          <a:solidFill>
                            <a:srgbClr val="FFFFFF"/>
                          </a:solidFill>
                          <a:latin typeface="Arial"/>
                        </a:rPr>
                        <a:t>Effort 90%</a:t>
                      </a:r>
                    </a:p>
                  </a:txBody>
                  <a:tcPr marL="73152" marR="73152" marT="27432" marB="27432" anchor="ctr">
                    <a:solidFill>
                      <a:srgbClr val="404040"/>
                    </a:solidFill>
                  </a:tcPr>
                </a:tc>
              </a:tr>
              <a:tr h="365760">
                <a:tc>
                  <a:txBody>
                    <a:bodyPr wrap="square"/>
                    <a:lstStyle/>
                    <a:p>
                      <a:pPr algn="l"/>
                      <a:r>
                        <a:rPr sz="1050" b="0">
                          <a:solidFill>
                            <a:srgbClr val="333333"/>
                          </a:solidFill>
                          <a:latin typeface="Arial"/>
                        </a:rPr>
                        <a:t>CVSS base score</a:t>
                      </a:r>
                    </a:p>
                  </a:txBody>
                  <a:tcPr marL="73152" marR="73152" marT="27432" marB="27432" anchor="ctr">
                    <a:solidFill>
                      <a:srgbClr val="FFFFFF"/>
                    </a:solidFill>
                  </a:tcPr>
                </a:tc>
                <a:tc>
                  <a:txBody>
                    <a:bodyPr wrap="square"/>
                    <a:lstStyle/>
                    <a:p>
                      <a:pPr algn="ctr"/>
                      <a:r>
                        <a:rPr sz="1050" b="0">
                          <a:solidFill>
                            <a:srgbClr val="333333"/>
                          </a:solidFill>
                          <a:latin typeface="Arial"/>
                        </a:rPr>
                        <a:t>0.765</a:t>
                      </a:r>
                    </a:p>
                  </a:txBody>
                  <a:tcPr marL="73152" marR="73152" marT="27432" marB="27432" anchor="ctr">
                    <a:solidFill>
                      <a:srgbClr val="FFFFFF"/>
                    </a:solidFill>
                  </a:tcPr>
                </a:tc>
                <a:tc>
                  <a:txBody>
                    <a:bodyPr wrap="square"/>
                    <a:lstStyle/>
                    <a:p>
                      <a:pPr algn="ctr"/>
                      <a:r>
                        <a:rPr sz="1050" b="0">
                          <a:solidFill>
                            <a:srgbClr val="333333"/>
                          </a:solidFill>
                          <a:latin typeface="Arial"/>
                        </a:rPr>
                        <a:t>0.017</a:t>
                      </a:r>
                    </a:p>
                  </a:txBody>
                  <a:tcPr marL="73152" marR="73152" marT="27432" marB="27432" anchor="ctr">
                    <a:solidFill>
                      <a:srgbClr val="FFFFFF"/>
                    </a:solidFill>
                  </a:tcPr>
                </a:tc>
                <a:tc>
                  <a:txBody>
                    <a:bodyPr wrap="square"/>
                    <a:lstStyle/>
                    <a:p>
                      <a:pPr algn="ctr"/>
                      <a:r>
                        <a:rPr sz="1050" b="0">
                          <a:solidFill>
                            <a:srgbClr val="333333"/>
                          </a:solidFill>
                          <a:latin typeface="Arial"/>
                        </a:rPr>
                        <a:t>0.086</a:t>
                      </a:r>
                    </a:p>
                  </a:txBody>
                  <a:tcPr marL="73152" marR="73152" marT="27432" marB="27432" anchor="ctr">
                    <a:solidFill>
                      <a:srgbClr val="FFFFFF"/>
                    </a:solidFill>
                  </a:tcPr>
                </a:tc>
                <a:tc>
                  <a:txBody>
                    <a:bodyPr wrap="square"/>
                    <a:lstStyle/>
                    <a:p>
                      <a:pPr algn="ctr"/>
                      <a:r>
                        <a:rPr sz="1050" b="0">
                          <a:solidFill>
                            <a:srgbClr val="333333"/>
                          </a:solidFill>
                          <a:latin typeface="Arial"/>
                        </a:rPr>
                        <a:t>0.038</a:t>
                      </a:r>
                    </a:p>
                  </a:txBody>
                  <a:tcPr marL="73152" marR="73152" marT="27432" marB="27432" anchor="ctr">
                    <a:solidFill>
                      <a:srgbClr val="FFFFFF"/>
                    </a:solidFill>
                  </a:tcPr>
                </a:tc>
                <a:tc>
                  <a:txBody>
                    <a:bodyPr wrap="square"/>
                    <a:lstStyle/>
                    <a:p>
                      <a:pPr algn="ctr"/>
                      <a:r>
                        <a:rPr sz="1050" b="0">
                          <a:solidFill>
                            <a:srgbClr val="333333"/>
                          </a:solidFill>
                          <a:latin typeface="Arial"/>
                        </a:rPr>
                        <a:t>0.125</a:t>
                      </a:r>
                    </a:p>
                  </a:txBody>
                  <a:tcPr marL="73152" marR="73152" marT="27432" marB="27432" anchor="ctr">
                    <a:solidFill>
                      <a:srgbClr val="FFFFFF"/>
                    </a:solidFill>
                  </a:tcPr>
                </a:tc>
                <a:tc>
                  <a:txBody>
                    <a:bodyPr wrap="square"/>
                    <a:lstStyle/>
                    <a:p>
                      <a:pPr algn="ctr"/>
                      <a:r>
                        <a:rPr sz="1050" b="0">
                          <a:solidFill>
                            <a:srgbClr val="333333"/>
                          </a:solidFill>
                          <a:latin typeface="Arial"/>
                        </a:rPr>
                        <a:t>60.0%</a:t>
                      </a:r>
                    </a:p>
                  </a:txBody>
                  <a:tcPr marL="73152" marR="73152" marT="27432" marB="27432" anchor="ctr">
                    <a:solidFill>
                      <a:srgbClr val="FFFFFF"/>
                    </a:solidFill>
                  </a:tcPr>
                </a:tc>
              </a:tr>
              <a:tr h="365760">
                <a:tc>
                  <a:txBody>
                    <a:bodyPr wrap="square"/>
                    <a:lstStyle/>
                    <a:p>
                      <a:pPr algn="l"/>
                      <a:r>
                        <a:rPr sz="1050" b="0">
                          <a:solidFill>
                            <a:srgbClr val="333333"/>
                          </a:solidFill>
                          <a:latin typeface="Arial"/>
                        </a:rPr>
                        <a:t>EPSS (FIRST)*</a:t>
                      </a:r>
                    </a:p>
                  </a:txBody>
                  <a:tcPr marL="73152" marR="73152" marT="27432" marB="27432" anchor="ctr">
                    <a:solidFill>
                      <a:srgbClr val="F2F2F2"/>
                    </a:solidFill>
                  </a:tcPr>
                </a:tc>
                <a:tc>
                  <a:txBody>
                    <a:bodyPr wrap="square"/>
                    <a:lstStyle/>
                    <a:p>
                      <a:pPr algn="ctr"/>
                      <a:r>
                        <a:rPr sz="1050" b="0">
                          <a:solidFill>
                            <a:srgbClr val="333333"/>
                          </a:solidFill>
                          <a:latin typeface="Arial"/>
                        </a:rPr>
                        <a:t>0.972</a:t>
                      </a:r>
                    </a:p>
                  </a:txBody>
                  <a:tcPr marL="73152" marR="73152" marT="27432" marB="27432" anchor="ctr">
                    <a:solidFill>
                      <a:srgbClr val="F2F2F2"/>
                    </a:solidFill>
                  </a:tcPr>
                </a:tc>
                <a:tc>
                  <a:txBody>
                    <a:bodyPr wrap="square"/>
                    <a:lstStyle/>
                    <a:p>
                      <a:pPr algn="ctr"/>
                      <a:r>
                        <a:rPr sz="1050" b="0">
                          <a:solidFill>
                            <a:srgbClr val="333333"/>
                          </a:solidFill>
                          <a:latin typeface="Arial"/>
                        </a:rPr>
                        <a:t>0.464</a:t>
                      </a:r>
                    </a:p>
                  </a:txBody>
                  <a:tcPr marL="73152" marR="73152" marT="27432" marB="27432" anchor="ctr">
                    <a:solidFill>
                      <a:srgbClr val="F2F2F2"/>
                    </a:solidFill>
                  </a:tcPr>
                </a:tc>
                <a:tc>
                  <a:txBody>
                    <a:bodyPr wrap="square"/>
                    <a:lstStyle/>
                    <a:p>
                      <a:pPr algn="ctr"/>
                      <a:r>
                        <a:rPr sz="1050" b="0">
                          <a:solidFill>
                            <a:srgbClr val="333333"/>
                          </a:solidFill>
                          <a:latin typeface="Arial"/>
                        </a:rPr>
                        <a:t>0.690</a:t>
                      </a:r>
                    </a:p>
                  </a:txBody>
                  <a:tcPr marL="73152" marR="73152" marT="27432" marB="27432" anchor="ctr">
                    <a:solidFill>
                      <a:srgbClr val="F2F2F2"/>
                    </a:solidFill>
                  </a:tcPr>
                </a:tc>
                <a:tc>
                  <a:txBody>
                    <a:bodyPr wrap="square"/>
                    <a:lstStyle/>
                    <a:p>
                      <a:pPr algn="ctr"/>
                      <a:r>
                        <a:rPr sz="1050" b="0">
                          <a:solidFill>
                            <a:srgbClr val="333333"/>
                          </a:solidFill>
                          <a:latin typeface="Arial"/>
                        </a:rPr>
                        <a:t>0.230</a:t>
                      </a:r>
                    </a:p>
                  </a:txBody>
                  <a:tcPr marL="73152" marR="73152" marT="27432" marB="27432" anchor="ctr">
                    <a:solidFill>
                      <a:srgbClr val="F2F2F2"/>
                    </a:solidFill>
                  </a:tcPr>
                </a:tc>
                <a:tc>
                  <a:txBody>
                    <a:bodyPr wrap="square"/>
                    <a:lstStyle/>
                    <a:p>
                      <a:pPr algn="ctr"/>
                      <a:r>
                        <a:rPr sz="1050" b="0">
                          <a:solidFill>
                            <a:srgbClr val="333333"/>
                          </a:solidFill>
                          <a:latin typeface="Arial"/>
                        </a:rPr>
                        <a:t>0.665</a:t>
                      </a:r>
                    </a:p>
                  </a:txBody>
                  <a:tcPr marL="73152" marR="73152" marT="27432" marB="27432" anchor="ctr">
                    <a:solidFill>
                      <a:srgbClr val="F2F2F2"/>
                    </a:solidFill>
                  </a:tcPr>
                </a:tc>
                <a:tc>
                  <a:txBody>
                    <a:bodyPr wrap="square"/>
                    <a:lstStyle/>
                    <a:p>
                      <a:pPr algn="ctr"/>
                      <a:r>
                        <a:rPr sz="1050" b="0">
                          <a:solidFill>
                            <a:srgbClr val="333333"/>
                          </a:solidFill>
                          <a:latin typeface="Arial"/>
                        </a:rPr>
                        <a:t>5.0%</a:t>
                      </a:r>
                    </a:p>
                  </a:txBody>
                  <a:tcPr marL="73152" marR="73152" marT="27432" marB="27432" anchor="ctr">
                    <a:solidFill>
                      <a:srgbClr val="F2F2F2"/>
                    </a:solidFill>
                  </a:tcPr>
                </a:tc>
              </a:tr>
              <a:tr h="365760">
                <a:tc>
                  <a:txBody>
                    <a:bodyPr wrap="square"/>
                    <a:lstStyle/>
                    <a:p>
                      <a:pPr algn="l"/>
                      <a:r>
                        <a:rPr sz="1050" b="1">
                          <a:solidFill>
                            <a:srgbClr val="333333"/>
                          </a:solidFill>
                          <a:latin typeface="Arial"/>
                        </a:rPr>
                        <a:t>Our model, without EPSS</a:t>
                      </a:r>
                    </a:p>
                  </a:txBody>
                  <a:tcPr marL="73152" marR="73152" marT="27432" marB="27432" anchor="ctr">
                    <a:solidFill>
                      <a:srgbClr val="E3F4F1"/>
                    </a:solidFill>
                  </a:tcPr>
                </a:tc>
                <a:tc>
                  <a:txBody>
                    <a:bodyPr wrap="square"/>
                    <a:lstStyle/>
                    <a:p>
                      <a:pPr algn="ctr"/>
                      <a:r>
                        <a:rPr sz="1050" b="1">
                          <a:solidFill>
                            <a:srgbClr val="333333"/>
                          </a:solidFill>
                          <a:latin typeface="Arial"/>
                        </a:rPr>
                        <a:t>0.915</a:t>
                      </a:r>
                    </a:p>
                  </a:txBody>
                  <a:tcPr marL="73152" marR="73152" marT="27432" marB="27432" anchor="ctr">
                    <a:solidFill>
                      <a:srgbClr val="E3F4F1"/>
                    </a:solidFill>
                  </a:tcPr>
                </a:tc>
                <a:tc>
                  <a:txBody>
                    <a:bodyPr wrap="square"/>
                    <a:lstStyle/>
                    <a:p>
                      <a:pPr algn="ctr"/>
                      <a:r>
                        <a:rPr sz="1050" b="1">
                          <a:solidFill>
                            <a:srgbClr val="333333"/>
                          </a:solidFill>
                          <a:latin typeface="Arial"/>
                        </a:rPr>
                        <a:t>0.200</a:t>
                      </a:r>
                    </a:p>
                  </a:txBody>
                  <a:tcPr marL="73152" marR="73152" marT="27432" marB="27432" anchor="ctr">
                    <a:solidFill>
                      <a:srgbClr val="E3F4F1"/>
                    </a:solidFill>
                  </a:tcPr>
                </a:tc>
                <a:tc>
                  <a:txBody>
                    <a:bodyPr wrap="square"/>
                    <a:lstStyle/>
                    <a:p>
                      <a:pPr algn="ctr"/>
                      <a:r>
                        <a:rPr sz="1050" b="1">
                          <a:solidFill>
                            <a:srgbClr val="333333"/>
                          </a:solidFill>
                          <a:latin typeface="Arial"/>
                        </a:rPr>
                        <a:t>0.380</a:t>
                      </a:r>
                    </a:p>
                  </a:txBody>
                  <a:tcPr marL="73152" marR="73152" marT="27432" marB="27432" anchor="ctr">
                    <a:solidFill>
                      <a:srgbClr val="E3F4F1"/>
                    </a:solidFill>
                  </a:tcPr>
                </a:tc>
                <a:tc>
                  <a:txBody>
                    <a:bodyPr wrap="square"/>
                    <a:lstStyle/>
                    <a:p>
                      <a:pPr algn="ctr"/>
                      <a:r>
                        <a:rPr sz="1050" b="1">
                          <a:solidFill>
                            <a:srgbClr val="333333"/>
                          </a:solidFill>
                          <a:latin typeface="Arial"/>
                        </a:rPr>
                        <a:t>0.148</a:t>
                      </a:r>
                    </a:p>
                  </a:txBody>
                  <a:tcPr marL="73152" marR="73152" marT="27432" marB="27432" anchor="ctr">
                    <a:solidFill>
                      <a:srgbClr val="E3F4F1"/>
                    </a:solidFill>
                  </a:tcPr>
                </a:tc>
                <a:tc>
                  <a:txBody>
                    <a:bodyPr wrap="square"/>
                    <a:lstStyle/>
                    <a:p>
                      <a:pPr algn="ctr"/>
                      <a:r>
                        <a:rPr sz="1050" b="1">
                          <a:solidFill>
                            <a:srgbClr val="333333"/>
                          </a:solidFill>
                          <a:latin typeface="Arial"/>
                        </a:rPr>
                        <a:t>0.467</a:t>
                      </a:r>
                    </a:p>
                  </a:txBody>
                  <a:tcPr marL="73152" marR="73152" marT="27432" marB="27432" anchor="ctr">
                    <a:solidFill>
                      <a:srgbClr val="E3F4F1"/>
                    </a:solidFill>
                  </a:tcPr>
                </a:tc>
                <a:tc>
                  <a:txBody>
                    <a:bodyPr wrap="square"/>
                    <a:lstStyle/>
                    <a:p>
                      <a:pPr algn="ctr"/>
                      <a:r>
                        <a:rPr sz="1050" b="1">
                          <a:solidFill>
                            <a:srgbClr val="333333"/>
                          </a:solidFill>
                          <a:latin typeface="Arial"/>
                        </a:rPr>
                        <a:t>25.6%</a:t>
                      </a:r>
                    </a:p>
                  </a:txBody>
                  <a:tcPr marL="73152" marR="73152" marT="27432" marB="27432" anchor="ctr">
                    <a:solidFill>
                      <a:srgbClr val="E3F4F1"/>
                    </a:solidFill>
                  </a:tcPr>
                </a:tc>
              </a:tr>
              <a:tr h="365760">
                <a:tc>
                  <a:txBody>
                    <a:bodyPr wrap="square"/>
                    <a:lstStyle/>
                    <a:p>
                      <a:pPr algn="l"/>
                      <a:r>
                        <a:rPr sz="1050" b="0">
                          <a:solidFill>
                            <a:srgbClr val="333333"/>
                          </a:solidFill>
                          <a:latin typeface="Arial"/>
                        </a:rPr>
                        <a:t>Our model, with EPSS*</a:t>
                      </a:r>
                    </a:p>
                  </a:txBody>
                  <a:tcPr marL="73152" marR="73152" marT="27432" marB="27432" anchor="ctr">
                    <a:solidFill>
                      <a:srgbClr val="F2F2F2"/>
                    </a:solidFill>
                  </a:tcPr>
                </a:tc>
                <a:tc>
                  <a:txBody>
                    <a:bodyPr wrap="square"/>
                    <a:lstStyle/>
                    <a:p>
                      <a:pPr algn="ctr"/>
                      <a:r>
                        <a:rPr sz="1050" b="0">
                          <a:solidFill>
                            <a:srgbClr val="333333"/>
                          </a:solidFill>
                          <a:latin typeface="Arial"/>
                        </a:rPr>
                        <a:t>0.983</a:t>
                      </a:r>
                    </a:p>
                  </a:txBody>
                  <a:tcPr marL="73152" marR="73152" marT="27432" marB="27432" anchor="ctr">
                    <a:solidFill>
                      <a:srgbClr val="F2F2F2"/>
                    </a:solidFill>
                  </a:tcPr>
                </a:tc>
                <a:tc>
                  <a:txBody>
                    <a:bodyPr wrap="square"/>
                    <a:lstStyle/>
                    <a:p>
                      <a:pPr algn="ctr"/>
                      <a:r>
                        <a:rPr sz="1050" b="0">
                          <a:solidFill>
                            <a:srgbClr val="333333"/>
                          </a:solidFill>
                          <a:latin typeface="Arial"/>
                        </a:rPr>
                        <a:t>0.548</a:t>
                      </a:r>
                    </a:p>
                  </a:txBody>
                  <a:tcPr marL="73152" marR="73152" marT="27432" marB="27432" anchor="ctr">
                    <a:solidFill>
                      <a:srgbClr val="F2F2F2"/>
                    </a:solidFill>
                  </a:tcPr>
                </a:tc>
                <a:tc>
                  <a:txBody>
                    <a:bodyPr wrap="square"/>
                    <a:lstStyle/>
                    <a:p>
                      <a:pPr algn="ctr"/>
                      <a:r>
                        <a:rPr sz="1050" b="0">
                          <a:solidFill>
                            <a:srgbClr val="333333"/>
                          </a:solidFill>
                          <a:latin typeface="Arial"/>
                        </a:rPr>
                        <a:t>0.720</a:t>
                      </a:r>
                    </a:p>
                  </a:txBody>
                  <a:tcPr marL="73152" marR="73152" marT="27432" marB="27432" anchor="ctr">
                    <a:solidFill>
                      <a:srgbClr val="F2F2F2"/>
                    </a:solidFill>
                  </a:tcPr>
                </a:tc>
                <a:tc>
                  <a:txBody>
                    <a:bodyPr wrap="square"/>
                    <a:lstStyle/>
                    <a:p>
                      <a:pPr algn="ctr"/>
                      <a:r>
                        <a:rPr sz="1050" b="0">
                          <a:solidFill>
                            <a:srgbClr val="333333"/>
                          </a:solidFill>
                          <a:latin typeface="Arial"/>
                        </a:rPr>
                        <a:t>0.286</a:t>
                      </a:r>
                    </a:p>
                  </a:txBody>
                  <a:tcPr marL="73152" marR="73152" marT="27432" marB="27432" anchor="ctr">
                    <a:solidFill>
                      <a:srgbClr val="F2F2F2"/>
                    </a:solidFill>
                  </a:tcPr>
                </a:tc>
                <a:tc>
                  <a:txBody>
                    <a:bodyPr wrap="square"/>
                    <a:lstStyle/>
                    <a:p>
                      <a:pPr algn="ctr"/>
                      <a:r>
                        <a:rPr sz="1050" b="0">
                          <a:solidFill>
                            <a:srgbClr val="333333"/>
                          </a:solidFill>
                          <a:latin typeface="Arial"/>
                        </a:rPr>
                        <a:t>0.807</a:t>
                      </a:r>
                    </a:p>
                  </a:txBody>
                  <a:tcPr marL="73152" marR="73152" marT="27432" marB="27432" anchor="ctr">
                    <a:solidFill>
                      <a:srgbClr val="F2F2F2"/>
                    </a:solidFill>
                  </a:tcPr>
                </a:tc>
                <a:tc>
                  <a:txBody>
                    <a:bodyPr wrap="square"/>
                    <a:lstStyle/>
                    <a:p>
                      <a:pPr algn="ctr"/>
                      <a:r>
                        <a:rPr sz="1050" b="0">
                          <a:solidFill>
                            <a:srgbClr val="333333"/>
                          </a:solidFill>
                          <a:latin typeface="Arial"/>
                        </a:rPr>
                        <a:t>3.8%</a:t>
                      </a:r>
                    </a:p>
                  </a:txBody>
                  <a:tcPr marL="73152" marR="73152" marT="27432" marB="27432" anchor="ctr">
                    <a:solidFill>
                      <a:srgbClr val="F2F2F2"/>
                    </a:solidFill>
                  </a:tcPr>
                </a:tc>
              </a:tr>
              <a:tr h="365760">
                <a:tc>
                  <a:txBody>
                    <a:bodyPr wrap="square"/>
                    <a:lstStyle/>
                    <a:p>
                      <a:pPr algn="l"/>
                      <a:r>
                        <a:rPr sz="1050" b="0">
                          <a:solidFill>
                            <a:srgbClr val="333333"/>
                          </a:solidFill>
                          <a:latin typeface="Arial"/>
                        </a:rPr>
                        <a:t>Logistic regression</a:t>
                      </a:r>
                    </a:p>
                  </a:txBody>
                  <a:tcPr marL="73152" marR="73152" marT="27432" marB="27432" anchor="ctr">
                    <a:solidFill>
                      <a:srgbClr val="FFFFFF"/>
                    </a:solidFill>
                  </a:tcPr>
                </a:tc>
                <a:tc>
                  <a:txBody>
                    <a:bodyPr wrap="square"/>
                    <a:lstStyle/>
                    <a:p>
                      <a:pPr algn="ctr"/>
                      <a:r>
                        <a:rPr sz="1050" b="0">
                          <a:solidFill>
                            <a:srgbClr val="333333"/>
                          </a:solidFill>
                          <a:latin typeface="Arial"/>
                        </a:rPr>
                        <a:t>0.920</a:t>
                      </a:r>
                    </a:p>
                  </a:txBody>
                  <a:tcPr marL="73152" marR="73152" marT="27432" marB="27432" anchor="ctr">
                    <a:solidFill>
                      <a:srgbClr val="FFFFFF"/>
                    </a:solidFill>
                  </a:tcPr>
                </a:tc>
                <a:tc>
                  <a:txBody>
                    <a:bodyPr wrap="square"/>
                    <a:lstStyle/>
                    <a:p>
                      <a:pPr algn="ctr"/>
                      <a:r>
                        <a:rPr sz="1050" b="0">
                          <a:solidFill>
                            <a:srgbClr val="333333"/>
                          </a:solidFill>
                          <a:latin typeface="Arial"/>
                        </a:rPr>
                        <a:t>0.128</a:t>
                      </a:r>
                    </a:p>
                  </a:txBody>
                  <a:tcPr marL="73152" marR="73152" marT="27432" marB="27432" anchor="ctr">
                    <a:solidFill>
                      <a:srgbClr val="FFFFFF"/>
                    </a:solidFill>
                  </a:tcPr>
                </a:tc>
                <a:tc>
                  <a:txBody>
                    <a:bodyPr wrap="square"/>
                    <a:lstStyle/>
                    <a:p>
                      <a:pPr algn="ctr"/>
                      <a:r>
                        <a:rPr sz="1050" b="0">
                          <a:solidFill>
                            <a:srgbClr val="333333"/>
                          </a:solidFill>
                          <a:latin typeface="Arial"/>
                        </a:rPr>
                        <a:t>0.260</a:t>
                      </a:r>
                    </a:p>
                  </a:txBody>
                  <a:tcPr marL="73152" marR="73152" marT="27432" marB="27432" anchor="ctr">
                    <a:solidFill>
                      <a:srgbClr val="FFFFFF"/>
                    </a:solidFill>
                  </a:tcPr>
                </a:tc>
                <a:tc>
                  <a:txBody>
                    <a:bodyPr wrap="square"/>
                    <a:lstStyle/>
                    <a:p>
                      <a:pPr algn="ctr"/>
                      <a:r>
                        <a:rPr sz="1050" b="0">
                          <a:solidFill>
                            <a:srgbClr val="333333"/>
                          </a:solidFill>
                          <a:latin typeface="Arial"/>
                        </a:rPr>
                        <a:t>0.094</a:t>
                      </a:r>
                    </a:p>
                  </a:txBody>
                  <a:tcPr marL="73152" marR="73152" marT="27432" marB="27432" anchor="ctr">
                    <a:solidFill>
                      <a:srgbClr val="FFFFFF"/>
                    </a:solidFill>
                  </a:tcPr>
                </a:tc>
                <a:tc>
                  <a:txBody>
                    <a:bodyPr wrap="square"/>
                    <a:lstStyle/>
                    <a:p>
                      <a:pPr algn="ctr"/>
                      <a:r>
                        <a:rPr sz="1050" b="0">
                          <a:solidFill>
                            <a:srgbClr val="333333"/>
                          </a:solidFill>
                          <a:latin typeface="Arial"/>
                        </a:rPr>
                        <a:t>0.442</a:t>
                      </a:r>
                    </a:p>
                  </a:txBody>
                  <a:tcPr marL="73152" marR="73152" marT="27432" marB="27432" anchor="ctr">
                    <a:solidFill>
                      <a:srgbClr val="FFFFFF"/>
                    </a:solidFill>
                  </a:tcPr>
                </a:tc>
                <a:tc>
                  <a:txBody>
                    <a:bodyPr wrap="square"/>
                    <a:lstStyle/>
                    <a:p>
                      <a:pPr algn="ctr"/>
                      <a:r>
                        <a:rPr sz="1050" b="0">
                          <a:solidFill>
                            <a:srgbClr val="333333"/>
                          </a:solidFill>
                          <a:latin typeface="Arial"/>
                        </a:rPr>
                        <a:t>20.7%</a:t>
                      </a:r>
                    </a:p>
                  </a:txBody>
                  <a:tcPr marL="73152" marR="73152" marT="27432" marB="27432" anchor="ctr">
                    <a:solidFill>
                      <a:srgbClr val="FFFFFF"/>
                    </a:solidFill>
                  </a:tcPr>
                </a:tc>
              </a:tr>
            </a:tbl>
          </a:graphicData>
        </a:graphic>
      </p:graphicFrame>
      <p:sp>
        <p:nvSpPr>
          <p:cNvPr id="9" name="TextBox 8"/>
          <p:cNvSpPr txBox="1"/>
          <p:nvPr/>
        </p:nvSpPr>
        <p:spPr>
          <a:xfrm>
            <a:off x="457200" y="4206240"/>
            <a:ext cx="6583680" cy="2011680"/>
          </a:xfrm>
          <a:prstGeom prst="rect">
            <a:avLst/>
          </a:prstGeom>
          <a:noFill/>
        </p:spPr>
        <p:txBody>
          <a:bodyPr wrap="square" anchor="t" lIns="45720" rIns="45720">
            <a:spAutoFit/>
          </a:bodyPr>
          <a:lstStyle/>
          <a:p>
            <a:pPr algn="l">
              <a:spcAft>
                <a:spcPts val="400"/>
              </a:spcAft>
            </a:pPr>
            <a:r>
              <a:rPr sz="1100" b="0" i="0">
                <a:solidFill>
                  <a:srgbClr val="6B6B6B"/>
                </a:solidFill>
                <a:latin typeface="Arial"/>
              </a:rPr>
              <a:t>Learner: lightgbm · Platt-calibrated on 2024 · metrics are expected values under random tie-breaking (CVSS ties thousands of CVEs).</a:t>
            </a:r>
          </a:p>
          <a:p>
            <a:pPr algn="l">
              <a:spcAft>
                <a:spcPts val="400"/>
              </a:spcAft>
            </a:pPr>
            <a:r>
              <a:rPr sz="1100" b="0" i="0">
                <a:solidFill>
                  <a:srgbClr val="6B6B6B"/>
                </a:solidFill>
                <a:latin typeface="Arial"/>
              </a:rPr>
              <a:t>* EPSS rows use today's EPSS file, which already reflects post-publication exploitation: an optimistic upper bound. The time-frozen comparison is the backtest.</a:t>
            </a:r>
          </a:p>
          <a:p>
            <a:pPr algn="l">
              <a:spcAft>
                <a:spcPts val="400"/>
              </a:spcAft>
            </a:pPr>
            <a:r>
              <a:rPr sz="1100" b="0" i="0">
                <a:solidFill>
                  <a:srgbClr val="6B6B6B"/>
                </a:solidFill>
                <a:latin typeface="Arial"/>
              </a:rPr>
              <a:t>Highlighted row = the project's own contribution, independent of EPSS.</a:t>
            </a:r>
          </a:p>
        </p:txBody>
      </p:sp>
      <p:graphicFrame>
        <p:nvGraphicFramePr>
          <p:cNvPr id="10" name="Chart 9"/>
          <p:cNvGraphicFramePr>
            <a:graphicFrameLocks noGrp="1"/>
          </p:cNvGraphicFramePr>
          <p:nvPr/>
        </p:nvGraphicFramePr>
        <p:xfrm>
          <a:off x="7269480" y="1463040"/>
          <a:ext cx="4526280" cy="4754880"/>
        </p:xfrm>
        <a:graphic>
          <a:graphicData uri="http://schemas.openxmlformats.org/drawingml/2006/chart">
            <c:chart xmlns:c="http://schemas.openxmlformats.org/drawingml/2006/chart" r:id="rId2"/>
          </a:graphicData>
        </a:graphic>
      </p:graphicFrame>
    </p:spTree>
    <p:extLst>
      <p:ext uri="{BB962C8B-B14F-4D97-AF65-F5344CB8AC3E}">
        <p14:creationId xmlns:p14="http://schemas.microsoft.com/office/powerpoint/2010/main" val="1564373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1AFB0D-B6BF-17A1-5083-D53D1C7FC77C}"/>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BA7B6815-C78F-C537-5A38-1CF8A9D56589}"/>
              </a:ext>
            </a:extLst>
          </p:cNvPr>
          <p:cNvSpPr>
            <a:spLocks noGrp="1"/>
          </p:cNvSpPr>
          <p:nvPr>
            <p:ph type="title"/>
          </p:nvPr>
        </p:nvSpPr>
        <p:spPr/>
        <p:txBody>
          <a:bodyPr>
            <a:normAutofit/>
          </a:bodyPr>
          <a:lstStyle/>
          <a:p>
            <a:r>
              <a:rPr lang="en-US" sz="3600" dirty="0">
                <a:cs typeface="Arial" panose="020B0604020202020204" pitchFamily="34" charset="0"/>
              </a:rPr>
              <a:t>Backtest - Table 2</a:t>
            </a:r>
            <a:endParaRPr lang="en-IN" dirty="0"/>
          </a:p>
        </p:txBody>
      </p:sp>
      <p:sp>
        <p:nvSpPr>
          <p:cNvPr id="4" name="Date Placeholder 3">
            <a:extLst>
              <a:ext uri="{FF2B5EF4-FFF2-40B4-BE49-F238E27FC236}">
                <a16:creationId xmlns:a16="http://schemas.microsoft.com/office/drawing/2014/main" id="{B81F57BA-F00B-F8C5-25C8-23E2885C9E24}"/>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schemeClr val="tx1"/>
                </a:solidFill>
                <a:effectLst/>
                <a:uLnTx/>
                <a:uFillTx/>
                <a:latin typeface="Roboto Slab"/>
                <a:ea typeface="+mn-ea"/>
                <a:cs typeface="+mn-cs"/>
              </a:rPr>
              <a:t>10th October 2026</a:t>
            </a:r>
            <a:endParaRPr kumimoji="0" lang="en-US" sz="1200" b="0" i="0" u="none" strike="noStrike" kern="1200" cap="none" spc="0" normalizeH="0" baseline="0" noProof="0" dirty="0">
              <a:ln>
                <a:noFill/>
              </a:ln>
              <a:solidFill>
                <a:schemeClr val="tx1"/>
              </a:solidFill>
              <a:effectLst/>
              <a:uLnTx/>
              <a:uFillTx/>
              <a:latin typeface="Roboto Slab"/>
              <a:ea typeface="+mn-ea"/>
              <a:cs typeface="+mn-cs"/>
            </a:endParaRPr>
          </a:p>
        </p:txBody>
      </p:sp>
      <p:sp>
        <p:nvSpPr>
          <p:cNvPr id="6" name="Slide Number Placeholder 5">
            <a:extLst>
              <a:ext uri="{FF2B5EF4-FFF2-40B4-BE49-F238E27FC236}">
                <a16:creationId xmlns:a16="http://schemas.microsoft.com/office/drawing/2014/main" id="{0F793F2A-7EE2-ED4A-3A00-B6A8A492B5A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latin typeface="Roboto Slab"/>
              </a:rPr>
              <a:t>10/16</a:t>
            </a:r>
          </a:p>
        </p:txBody>
      </p:sp>
      <p:sp>
        <p:nvSpPr>
          <p:cNvPr id="2" name="Footer Placeholder 1">
            <a:extLst>
              <a:ext uri="{FF2B5EF4-FFF2-40B4-BE49-F238E27FC236}">
                <a16:creationId xmlns:a16="http://schemas.microsoft.com/office/drawing/2014/main" id="{38C9784C-F8E2-45C6-7051-69C00F20FDA3}"/>
              </a:ext>
            </a:extLst>
          </p:cNvPr>
          <p:cNvSpPr>
            <a:spLocks noGrp="1"/>
          </p:cNvSpPr>
          <p:nvPr>
            <p:ph type="ftr" sz="quarter" idx="3"/>
          </p:nvPr>
        </p:nvSpPr>
        <p:spPr/>
        <p:txBody>
          <a:bodyPr/>
          <a:lstStyle/>
          <a:p>
            <a:pPr algn="r">
              <a:defRPr/>
            </a:pPr>
            <a:r>
              <a:rPr lang="en-US">
                <a:solidFill>
                  <a:schemeClr val="tx1"/>
                </a:solidFill>
              </a:rPr>
              <a:t>REVA Academy for Corporate Excellence – RACE | race.reva.edu.in</a:t>
            </a:r>
            <a:endParaRPr lang="en-US" dirty="0">
              <a:solidFill>
                <a:schemeClr val="tx1"/>
              </a:solidFill>
            </a:endParaRPr>
          </a:p>
        </p:txBody>
      </p:sp>
      <p:sp>
        <p:nvSpPr>
          <p:cNvPr id="7" name="Rounded Rectangle 6"/>
          <p:cNvSpPr/>
          <p:nvPr/>
        </p:nvSpPr>
        <p:spPr>
          <a:xfrm>
            <a:off x="457200" y="1554480"/>
            <a:ext cx="3657600" cy="1600200"/>
          </a:xfrm>
          <a:prstGeom prst="roundRect">
            <a:avLst>
              <a:gd name="adj" fmla="val 8000"/>
            </a:avLst>
          </a:prstGeom>
          <a:solidFill>
            <a:srgbClr val="4040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94360" y="1627632"/>
            <a:ext cx="3383280" cy="1508760"/>
          </a:xfrm>
          <a:prstGeom prst="rect">
            <a:avLst/>
          </a:prstGeom>
          <a:noFill/>
        </p:spPr>
        <p:txBody>
          <a:bodyPr wrap="square" anchor="t" lIns="45720" rIns="45720">
            <a:spAutoFit/>
          </a:bodyPr>
          <a:lstStyle/>
          <a:p>
            <a:pPr algn="l">
              <a:spcAft>
                <a:spcPts val="400"/>
              </a:spcAft>
            </a:pPr>
            <a:r>
              <a:rPr sz="3000" b="1" i="0">
                <a:solidFill>
                  <a:srgbClr val="1B998B"/>
                </a:solidFill>
                <a:latin typeface="Arial"/>
              </a:rPr>
              <a:t>19.3k</a:t>
            </a:r>
            <a:r>
              <a:rPr sz="1500" b="0" i="0">
                <a:solidFill>
                  <a:srgbClr val="FFFFFF"/>
                </a:solidFill>
                <a:latin typeface="Arial"/>
              </a:rPr>
              <a:t>  vs  </a:t>
            </a:r>
            <a:r>
              <a:rPr sz="3000" b="1" i="0">
                <a:solidFill>
                  <a:srgbClr val="F06A6E"/>
                </a:solidFill>
                <a:latin typeface="Arial"/>
              </a:rPr>
              <a:t>42.1k</a:t>
            </a:r>
          </a:p>
          <a:p>
            <a:pPr algn="l">
              <a:spcAft>
                <a:spcPts val="400"/>
              </a:spcAft>
            </a:pPr>
            <a:r>
              <a:rPr sz="1100" b="0" i="0">
                <a:solidFill>
                  <a:srgbClr val="FFFFFF"/>
                </a:solidFill>
                <a:latin typeface="Arial"/>
              </a:rPr>
              <a:t>mean rank of the later-exploited CVEs, Formula + ML vs CVSS-only (population case, N = 150,296, lower is better)</a:t>
            </a:r>
          </a:p>
        </p:txBody>
      </p:sp>
      <p:sp>
        <p:nvSpPr>
          <p:cNvPr id="9" name="TextBox 8"/>
          <p:cNvSpPr txBox="1"/>
          <p:nvPr/>
        </p:nvSpPr>
        <p:spPr>
          <a:xfrm>
            <a:off x="457200" y="3063240"/>
            <a:ext cx="3657600" cy="2011680"/>
          </a:xfrm>
          <a:prstGeom prst="rect">
            <a:avLst/>
          </a:prstGeom>
          <a:noFill/>
        </p:spPr>
        <p:txBody>
          <a:bodyPr wrap="square" anchor="t" lIns="45720" rIns="45720">
            <a:spAutoFit/>
          </a:bodyPr>
          <a:lstStyle/>
          <a:p>
            <a:pPr algn="l">
              <a:spcAft>
                <a:spcPts val="400"/>
              </a:spcAft>
            </a:pPr>
            <a:r>
              <a:rPr sz="1200" b="1" i="0">
                <a:solidFill>
                  <a:srgbClr val="333333"/>
                </a:solidFill>
                <a:latin typeface="Arial"/>
              </a:rPr>
              <a:t>Effort to cover 90% of later-exploited CVEs</a:t>
            </a:r>
          </a:p>
          <a:p>
            <a:pPr algn="l">
              <a:spcAft>
                <a:spcPts val="400"/>
              </a:spcAft>
            </a:pPr>
            <a:r>
              <a:rPr sz="1150" b="0" i="0">
                <a:solidFill>
                  <a:srgbClr val="333333"/>
                </a:solidFill>
                <a:latin typeface="Arial"/>
              </a:rPr>
              <a:t>population: Formula + ML 36.7% · Formula 48.4% · CVSS 53.1% · EPSS 72.8%</a:t>
            </a:r>
          </a:p>
          <a:p>
            <a:pPr algn="l">
              <a:spcAft>
                <a:spcPts val="400"/>
              </a:spcAft>
            </a:pPr>
            <a:r>
              <a:rPr sz="1100" b="0" i="0">
                <a:solidFill>
                  <a:srgbClr val="333333"/>
                </a:solidFill>
                <a:latin typeface="Arial"/>
              </a:rPr>
              <a:t>Removing the ML probability costs +19.2 pp of patch effort (ablation).</a:t>
            </a:r>
          </a:p>
          <a:p>
            <a:pPr algn="l">
              <a:spcAft>
                <a:spcPts val="400"/>
              </a:spcAft>
            </a:pPr>
            <a:r>
              <a:rPr sz="1000" b="0" i="0">
                <a:solidFill>
                  <a:srgbClr val="6B6B6B"/>
                </a:solidFill>
                <a:latin typeface="Arial"/>
              </a:rPr>
              <a:t>50% / 75% coverage: ours 4% / 15% · CVSS 24% / 44% · EPSS 12% / 43%</a:t>
            </a:r>
          </a:p>
          <a:p>
            <a:pPr algn="l">
              <a:spcAft>
                <a:spcPts val="400"/>
              </a:spcAft>
            </a:pPr>
            <a:r>
              <a:rPr sz="1000" b="0" i="0">
                <a:solidFill>
                  <a:srgbClr val="D63B40"/>
                </a:solidFill>
                <a:latin typeface="Arial"/>
              </a:rPr>
              <a:t>SBOM case below: constructed validation fixture, not an application. The population case carries the claim.</a:t>
            </a:r>
          </a:p>
        </p:txBody>
      </p:sp>
      <p:graphicFrame>
        <p:nvGraphicFramePr>
          <p:cNvPr id="10" name="Table 9"/>
          <p:cNvGraphicFramePr>
            <a:graphicFrameLocks noGrp="1"/>
          </p:cNvGraphicFramePr>
          <p:nvPr/>
        </p:nvGraphicFramePr>
        <p:xfrm>
          <a:off x="457200" y="5166360"/>
          <a:ext cx="3657600" cy="1188720"/>
        </p:xfrm>
        <a:graphic>
          <a:graphicData uri="http://schemas.openxmlformats.org/drawingml/2006/table">
            <a:tbl>
              <a:tblPr firstRow="1" bandRow="1">
                <a:tableStyleId>{5C22544A-7EE6-4342-B048-85BDC9FD1C3A}</a:tableStyleId>
              </a:tblPr>
              <a:tblGrid>
                <a:gridCol w="1417320"/>
                <a:gridCol w="777240"/>
                <a:gridCol w="777240"/>
                <a:gridCol w="685800"/>
              </a:tblGrid>
              <a:tr h="237744">
                <a:tc>
                  <a:txBody>
                    <a:bodyPr wrap="square"/>
                    <a:lstStyle/>
                    <a:p>
                      <a:pPr algn="l"/>
                      <a:r>
                        <a:rPr sz="950" b="1">
                          <a:solidFill>
                            <a:srgbClr val="FFFFFF"/>
                          </a:solidFill>
                          <a:latin typeface="Arial"/>
                        </a:rPr>
                        <a:t>kev-app (fixture): N=150, M=4</a:t>
                      </a:r>
                    </a:p>
                  </a:txBody>
                  <a:tcPr marL="73152" marR="73152" marT="27432" marB="27432" anchor="ctr">
                    <a:solidFill>
                      <a:srgbClr val="404040"/>
                    </a:solidFill>
                  </a:tcPr>
                </a:tc>
                <a:tc>
                  <a:txBody>
                    <a:bodyPr wrap="square"/>
                    <a:lstStyle/>
                    <a:p>
                      <a:pPr algn="ctr"/>
                      <a:r>
                        <a:rPr sz="950" b="1">
                          <a:solidFill>
                            <a:srgbClr val="FFFFFF"/>
                          </a:solidFill>
                          <a:latin typeface="Arial"/>
                        </a:rPr>
                        <a:t>Mean rank</a:t>
                      </a:r>
                    </a:p>
                  </a:txBody>
                  <a:tcPr marL="73152" marR="73152" marT="27432" marB="27432" anchor="ctr">
                    <a:solidFill>
                      <a:srgbClr val="404040"/>
                    </a:solidFill>
                  </a:tcPr>
                </a:tc>
                <a:tc>
                  <a:txBody>
                    <a:bodyPr wrap="square"/>
                    <a:lstStyle/>
                    <a:p>
                      <a:pPr algn="ctr"/>
                      <a:r>
                        <a:rPr sz="950" b="1">
                          <a:solidFill>
                            <a:srgbClr val="FFFFFF"/>
                          </a:solidFill>
                          <a:latin typeface="Arial"/>
                        </a:rPr>
                        <a:t>P@10 open</a:t>
                      </a:r>
                    </a:p>
                  </a:txBody>
                  <a:tcPr marL="73152" marR="73152" marT="27432" marB="27432" anchor="ctr">
                    <a:solidFill>
                      <a:srgbClr val="404040"/>
                    </a:solidFill>
                  </a:tcPr>
                </a:tc>
                <a:tc>
                  <a:txBody>
                    <a:bodyPr wrap="square"/>
                    <a:lstStyle/>
                    <a:p>
                      <a:pPr algn="ctr"/>
                      <a:r>
                        <a:rPr sz="950" b="1">
                          <a:solidFill>
                            <a:srgbClr val="FFFFFF"/>
                          </a:solidFill>
                          <a:latin typeface="Arial"/>
                        </a:rPr>
                        <a:t>Effort 90%</a:t>
                      </a:r>
                    </a:p>
                  </a:txBody>
                  <a:tcPr marL="73152" marR="73152" marT="27432" marB="27432" anchor="ctr">
                    <a:solidFill>
                      <a:srgbClr val="404040"/>
                    </a:solidFill>
                  </a:tcPr>
                </a:tc>
              </a:tr>
              <a:tr h="237744">
                <a:tc>
                  <a:txBody>
                    <a:bodyPr wrap="square"/>
                    <a:lstStyle/>
                    <a:p>
                      <a:pPr algn="l"/>
                      <a:r>
                        <a:rPr sz="950" b="0">
                          <a:solidFill>
                            <a:srgbClr val="333333"/>
                          </a:solidFill>
                          <a:latin typeface="Arial"/>
                        </a:rPr>
                        <a:t>CVSS-only</a:t>
                      </a:r>
                    </a:p>
                  </a:txBody>
                  <a:tcPr marL="73152" marR="73152" marT="27432" marB="27432" anchor="ctr">
                    <a:solidFill>
                      <a:srgbClr val="FFFFFF"/>
                    </a:solidFill>
                  </a:tcPr>
                </a:tc>
                <a:tc>
                  <a:txBody>
                    <a:bodyPr wrap="square"/>
                    <a:lstStyle/>
                    <a:p>
                      <a:pPr algn="ctr"/>
                      <a:r>
                        <a:rPr sz="950" b="0">
                          <a:solidFill>
                            <a:srgbClr val="333333"/>
                          </a:solidFill>
                          <a:latin typeface="Arial"/>
                        </a:rPr>
                        <a:t>30.6</a:t>
                      </a:r>
                    </a:p>
                  </a:txBody>
                  <a:tcPr marL="73152" marR="73152" marT="27432" marB="27432" anchor="ctr">
                    <a:solidFill>
                      <a:srgbClr val="FFFFFF"/>
                    </a:solidFill>
                  </a:tcPr>
                </a:tc>
                <a:tc>
                  <a:txBody>
                    <a:bodyPr wrap="square"/>
                    <a:lstStyle/>
                    <a:p>
                      <a:pPr algn="ctr"/>
                      <a:r>
                        <a:rPr sz="950" b="0">
                          <a:solidFill>
                            <a:srgbClr val="333333"/>
                          </a:solidFill>
                          <a:latin typeface="Arial"/>
                        </a:rPr>
                        <a:t>0.200</a:t>
                      </a:r>
                    </a:p>
                  </a:txBody>
                  <a:tcPr marL="73152" marR="73152" marT="27432" marB="27432" anchor="ctr">
                    <a:solidFill>
                      <a:srgbClr val="FFFFFF"/>
                    </a:solidFill>
                  </a:tcPr>
                </a:tc>
                <a:tc>
                  <a:txBody>
                    <a:bodyPr wrap="square"/>
                    <a:lstStyle/>
                    <a:p>
                      <a:pPr algn="ctr"/>
                      <a:r>
                        <a:rPr sz="950" b="0">
                          <a:solidFill>
                            <a:srgbClr val="333333"/>
                          </a:solidFill>
                          <a:latin typeface="Arial"/>
                        </a:rPr>
                        <a:t>47.7%</a:t>
                      </a:r>
                    </a:p>
                  </a:txBody>
                  <a:tcPr marL="73152" marR="73152" marT="27432" marB="27432" anchor="ctr">
                    <a:solidFill>
                      <a:srgbClr val="FFFFFF"/>
                    </a:solidFill>
                  </a:tcPr>
                </a:tc>
              </a:tr>
              <a:tr h="237744">
                <a:tc>
                  <a:txBody>
                    <a:bodyPr wrap="square"/>
                    <a:lstStyle/>
                    <a:p>
                      <a:pPr algn="l"/>
                      <a:r>
                        <a:rPr sz="950" b="0">
                          <a:solidFill>
                            <a:srgbClr val="333333"/>
                          </a:solidFill>
                          <a:latin typeface="Arial"/>
                        </a:rPr>
                        <a:t>Formula</a:t>
                      </a:r>
                    </a:p>
                  </a:txBody>
                  <a:tcPr marL="73152" marR="73152" marT="27432" marB="27432" anchor="ctr">
                    <a:solidFill>
                      <a:srgbClr val="F2F2F2"/>
                    </a:solidFill>
                  </a:tcPr>
                </a:tc>
                <a:tc>
                  <a:txBody>
                    <a:bodyPr wrap="square"/>
                    <a:lstStyle/>
                    <a:p>
                      <a:pPr algn="ctr"/>
                      <a:r>
                        <a:rPr sz="950" b="0">
                          <a:solidFill>
                            <a:srgbClr val="333333"/>
                          </a:solidFill>
                          <a:latin typeface="Arial"/>
                        </a:rPr>
                        <a:t>4.2</a:t>
                      </a:r>
                    </a:p>
                  </a:txBody>
                  <a:tcPr marL="73152" marR="73152" marT="27432" marB="27432" anchor="ctr">
                    <a:solidFill>
                      <a:srgbClr val="F2F2F2"/>
                    </a:solidFill>
                  </a:tcPr>
                </a:tc>
                <a:tc>
                  <a:txBody>
                    <a:bodyPr wrap="square"/>
                    <a:lstStyle/>
                    <a:p>
                      <a:pPr algn="ctr"/>
                      <a:r>
                        <a:rPr sz="950" b="0">
                          <a:solidFill>
                            <a:srgbClr val="333333"/>
                          </a:solidFill>
                          <a:latin typeface="Arial"/>
                        </a:rPr>
                        <a:t>0.400</a:t>
                      </a:r>
                    </a:p>
                  </a:txBody>
                  <a:tcPr marL="73152" marR="73152" marT="27432" marB="27432" anchor="ctr">
                    <a:solidFill>
                      <a:srgbClr val="F2F2F2"/>
                    </a:solidFill>
                  </a:tcPr>
                </a:tc>
                <a:tc>
                  <a:txBody>
                    <a:bodyPr wrap="square"/>
                    <a:lstStyle/>
                    <a:p>
                      <a:pPr algn="ctr"/>
                      <a:r>
                        <a:rPr sz="950" b="0">
                          <a:solidFill>
                            <a:srgbClr val="333333"/>
                          </a:solidFill>
                          <a:latin typeface="Arial"/>
                        </a:rPr>
                        <a:t>5.3%</a:t>
                      </a:r>
                    </a:p>
                  </a:txBody>
                  <a:tcPr marL="73152" marR="73152" marT="27432" marB="27432" anchor="ctr">
                    <a:solidFill>
                      <a:srgbClr val="F2F2F2"/>
                    </a:solidFill>
                  </a:tcPr>
                </a:tc>
              </a:tr>
              <a:tr h="237744">
                <a:tc>
                  <a:txBody>
                    <a:bodyPr wrap="square"/>
                    <a:lstStyle/>
                    <a:p>
                      <a:pPr algn="l"/>
                      <a:r>
                        <a:rPr sz="950" b="1">
                          <a:solidFill>
                            <a:srgbClr val="333333"/>
                          </a:solidFill>
                          <a:latin typeface="Arial"/>
                        </a:rPr>
                        <a:t>Formula + ML</a:t>
                      </a:r>
                    </a:p>
                  </a:txBody>
                  <a:tcPr marL="73152" marR="73152" marT="27432" marB="27432" anchor="ctr">
                    <a:solidFill>
                      <a:srgbClr val="E3F4F1"/>
                    </a:solidFill>
                  </a:tcPr>
                </a:tc>
                <a:tc>
                  <a:txBody>
                    <a:bodyPr wrap="square"/>
                    <a:lstStyle/>
                    <a:p>
                      <a:pPr algn="ctr"/>
                      <a:r>
                        <a:rPr sz="950" b="1">
                          <a:solidFill>
                            <a:srgbClr val="333333"/>
                          </a:solidFill>
                          <a:latin typeface="Arial"/>
                        </a:rPr>
                        <a:t>6.2</a:t>
                      </a:r>
                    </a:p>
                  </a:txBody>
                  <a:tcPr marL="73152" marR="73152" marT="27432" marB="27432" anchor="ctr">
                    <a:solidFill>
                      <a:srgbClr val="E3F4F1"/>
                    </a:solidFill>
                  </a:tcPr>
                </a:tc>
                <a:tc>
                  <a:txBody>
                    <a:bodyPr wrap="square"/>
                    <a:lstStyle/>
                    <a:p>
                      <a:pPr algn="ctr"/>
                      <a:r>
                        <a:rPr sz="950" b="1">
                          <a:solidFill>
                            <a:srgbClr val="333333"/>
                          </a:solidFill>
                          <a:latin typeface="Arial"/>
                        </a:rPr>
                        <a:t>0.300</a:t>
                      </a:r>
                    </a:p>
                  </a:txBody>
                  <a:tcPr marL="73152" marR="73152" marT="27432" marB="27432" anchor="ctr">
                    <a:solidFill>
                      <a:srgbClr val="E3F4F1"/>
                    </a:solidFill>
                  </a:tcPr>
                </a:tc>
                <a:tc>
                  <a:txBody>
                    <a:bodyPr wrap="square"/>
                    <a:lstStyle/>
                    <a:p>
                      <a:pPr algn="ctr"/>
                      <a:r>
                        <a:rPr sz="950" b="1">
                          <a:solidFill>
                            <a:srgbClr val="333333"/>
                          </a:solidFill>
                          <a:latin typeface="Arial"/>
                        </a:rPr>
                        <a:t>10.0%</a:t>
                      </a:r>
                    </a:p>
                  </a:txBody>
                  <a:tcPr marL="73152" marR="73152" marT="27432" marB="27432" anchor="ctr">
                    <a:solidFill>
                      <a:srgbClr val="E3F4F1"/>
                    </a:solidFill>
                  </a:tcPr>
                </a:tc>
              </a:tr>
              <a:tr h="237744">
                <a:tc>
                  <a:txBody>
                    <a:bodyPr wrap="square"/>
                    <a:lstStyle/>
                    <a:p>
                      <a:pPr algn="l"/>
                      <a:r>
                        <a:rPr sz="950" b="0">
                          <a:solidFill>
                            <a:srgbClr val="333333"/>
                          </a:solidFill>
                          <a:latin typeface="Arial"/>
                        </a:rPr>
                        <a:t>EPSS-only (ref.)</a:t>
                      </a:r>
                    </a:p>
                  </a:txBody>
                  <a:tcPr marL="73152" marR="73152" marT="27432" marB="27432" anchor="ctr">
                    <a:solidFill>
                      <a:srgbClr val="F2F2F2"/>
                    </a:solidFill>
                  </a:tcPr>
                </a:tc>
                <a:tc>
                  <a:txBody>
                    <a:bodyPr wrap="square"/>
                    <a:lstStyle/>
                    <a:p>
                      <a:pPr algn="ctr"/>
                      <a:r>
                        <a:rPr sz="950" b="0">
                          <a:solidFill>
                            <a:srgbClr val="333333"/>
                          </a:solidFill>
                          <a:latin typeface="Arial"/>
                        </a:rPr>
                        <a:t>5.0</a:t>
                      </a:r>
                    </a:p>
                  </a:txBody>
                  <a:tcPr marL="73152" marR="73152" marT="27432" marB="27432" anchor="ctr">
                    <a:solidFill>
                      <a:srgbClr val="F2F2F2"/>
                    </a:solidFill>
                  </a:tcPr>
                </a:tc>
                <a:tc>
                  <a:txBody>
                    <a:bodyPr wrap="square"/>
                    <a:lstStyle/>
                    <a:p>
                      <a:pPr algn="ctr"/>
                      <a:r>
                        <a:rPr sz="950" b="0">
                          <a:solidFill>
                            <a:srgbClr val="333333"/>
                          </a:solidFill>
                          <a:latin typeface="Arial"/>
                        </a:rPr>
                        <a:t>0.300</a:t>
                      </a:r>
                    </a:p>
                  </a:txBody>
                  <a:tcPr marL="73152" marR="73152" marT="27432" marB="27432" anchor="ctr">
                    <a:solidFill>
                      <a:srgbClr val="F2F2F2"/>
                    </a:solidFill>
                  </a:tcPr>
                </a:tc>
                <a:tc>
                  <a:txBody>
                    <a:bodyPr wrap="square"/>
                    <a:lstStyle/>
                    <a:p>
                      <a:pPr algn="ctr"/>
                      <a:r>
                        <a:rPr sz="950" b="0">
                          <a:solidFill>
                            <a:srgbClr val="333333"/>
                          </a:solidFill>
                          <a:latin typeface="Arial"/>
                        </a:rPr>
                        <a:t>8.7%</a:t>
                      </a:r>
                    </a:p>
                  </a:txBody>
                  <a:tcPr marL="73152" marR="73152" marT="27432" marB="27432" anchor="ctr">
                    <a:solidFill>
                      <a:srgbClr val="F2F2F2"/>
                    </a:solidFill>
                  </a:tcPr>
                </a:tc>
              </a:tr>
            </a:tbl>
          </a:graphicData>
        </a:graphic>
      </p:graphicFrame>
      <p:graphicFrame>
        <p:nvGraphicFramePr>
          <p:cNvPr id="11" name="Chart 10"/>
          <p:cNvGraphicFramePr>
            <a:graphicFrameLocks noGrp="1"/>
          </p:cNvGraphicFramePr>
          <p:nvPr/>
        </p:nvGraphicFramePr>
        <p:xfrm>
          <a:off x="4389120" y="1463040"/>
          <a:ext cx="7406640" cy="4754880"/>
        </p:xfrm>
        <a:graphic>
          <a:graphicData uri="http://schemas.openxmlformats.org/drawingml/2006/chart">
            <c:chart xmlns:c="http://schemas.openxmlformats.org/drawingml/2006/chart" r:id="rId2"/>
          </a:graphicData>
        </a:graphic>
      </p:graphicFrame>
    </p:spTree>
    <p:extLst>
      <p:ext uri="{BB962C8B-B14F-4D97-AF65-F5344CB8AC3E}">
        <p14:creationId xmlns:p14="http://schemas.microsoft.com/office/powerpoint/2010/main" val="1564373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1AFB0D-B6BF-17A1-5083-D53D1C7FC77C}"/>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BA7B6815-C78F-C537-5A38-1CF8A9D56589}"/>
              </a:ext>
            </a:extLst>
          </p:cNvPr>
          <p:cNvSpPr>
            <a:spLocks noGrp="1"/>
          </p:cNvSpPr>
          <p:nvPr>
            <p:ph type="title"/>
          </p:nvPr>
        </p:nvSpPr>
        <p:spPr/>
        <p:txBody>
          <a:bodyPr>
            <a:normAutofit/>
          </a:bodyPr>
          <a:lstStyle/>
          <a:p>
            <a:r>
              <a:rPr lang="en-US" sz="3600" dirty="0">
                <a:cs typeface="Arial" panose="020B0604020202020204" pitchFamily="34" charset="0"/>
              </a:rPr>
              <a:t>Ablation — Table 3</a:t>
            </a:r>
            <a:endParaRPr lang="en-IN" dirty="0"/>
          </a:p>
        </p:txBody>
      </p:sp>
      <p:sp>
        <p:nvSpPr>
          <p:cNvPr id="4" name="Date Placeholder 3">
            <a:extLst>
              <a:ext uri="{FF2B5EF4-FFF2-40B4-BE49-F238E27FC236}">
                <a16:creationId xmlns:a16="http://schemas.microsoft.com/office/drawing/2014/main" id="{B81F57BA-F00B-F8C5-25C8-23E2885C9E24}"/>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schemeClr val="tx1"/>
                </a:solidFill>
                <a:effectLst/>
                <a:uLnTx/>
                <a:uFillTx/>
                <a:latin typeface="Roboto Slab"/>
                <a:ea typeface="+mn-ea"/>
                <a:cs typeface="+mn-cs"/>
              </a:rPr>
              <a:t>10th October 2026</a:t>
            </a:r>
            <a:endParaRPr kumimoji="0" lang="en-US" sz="1200" b="0" i="0" u="none" strike="noStrike" kern="1200" cap="none" spc="0" normalizeH="0" baseline="0" noProof="0" dirty="0">
              <a:ln>
                <a:noFill/>
              </a:ln>
              <a:solidFill>
                <a:schemeClr val="tx1"/>
              </a:solidFill>
              <a:effectLst/>
              <a:uLnTx/>
              <a:uFillTx/>
              <a:latin typeface="Roboto Slab"/>
              <a:ea typeface="+mn-ea"/>
              <a:cs typeface="+mn-cs"/>
            </a:endParaRPr>
          </a:p>
        </p:txBody>
      </p:sp>
      <p:sp>
        <p:nvSpPr>
          <p:cNvPr id="6" name="Slide Number Placeholder 5">
            <a:extLst>
              <a:ext uri="{FF2B5EF4-FFF2-40B4-BE49-F238E27FC236}">
                <a16:creationId xmlns:a16="http://schemas.microsoft.com/office/drawing/2014/main" id="{0F793F2A-7EE2-ED4A-3A00-B6A8A492B5A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latin typeface="Roboto Slab"/>
              </a:rPr>
              <a:t>11/16</a:t>
            </a:r>
          </a:p>
        </p:txBody>
      </p:sp>
      <p:sp>
        <p:nvSpPr>
          <p:cNvPr id="2" name="Footer Placeholder 1">
            <a:extLst>
              <a:ext uri="{FF2B5EF4-FFF2-40B4-BE49-F238E27FC236}">
                <a16:creationId xmlns:a16="http://schemas.microsoft.com/office/drawing/2014/main" id="{38C9784C-F8E2-45C6-7051-69C00F20FDA3}"/>
              </a:ext>
            </a:extLst>
          </p:cNvPr>
          <p:cNvSpPr>
            <a:spLocks noGrp="1"/>
          </p:cNvSpPr>
          <p:nvPr>
            <p:ph type="ftr" sz="quarter" idx="3"/>
          </p:nvPr>
        </p:nvSpPr>
        <p:spPr/>
        <p:txBody>
          <a:bodyPr/>
          <a:lstStyle/>
          <a:p>
            <a:pPr algn="r">
              <a:defRPr/>
            </a:pPr>
            <a:r>
              <a:rPr lang="en-US">
                <a:solidFill>
                  <a:schemeClr val="tx1"/>
                </a:solidFill>
              </a:rPr>
              <a:t>REVA Academy for Corporate Excellence – RACE | race.reva.edu.in</a:t>
            </a:r>
            <a:endParaRPr lang="en-US" dirty="0">
              <a:solidFill>
                <a:schemeClr val="tx1"/>
              </a:solidFill>
            </a:endParaRPr>
          </a:p>
        </p:txBody>
      </p:sp>
      <p:graphicFrame>
        <p:nvGraphicFramePr>
          <p:cNvPr id="7" name="Table 6"/>
          <p:cNvGraphicFramePr>
            <a:graphicFrameLocks noGrp="1"/>
          </p:cNvGraphicFramePr>
          <p:nvPr/>
        </p:nvGraphicFramePr>
        <p:xfrm>
          <a:off x="457200" y="1554480"/>
          <a:ext cx="7223759" cy="3072384"/>
        </p:xfrm>
        <a:graphic>
          <a:graphicData uri="http://schemas.openxmlformats.org/drawingml/2006/table">
            <a:tbl>
              <a:tblPr firstRow="1" bandRow="1">
                <a:tableStyleId>{5C22544A-7EE6-4342-B048-85BDC9FD1C3A}</a:tableStyleId>
              </a:tblPr>
              <a:tblGrid>
                <a:gridCol w="2286000"/>
                <a:gridCol w="1325880"/>
                <a:gridCol w="868680"/>
                <a:gridCol w="1874519"/>
                <a:gridCol w="868680"/>
              </a:tblGrid>
              <a:tr h="384048">
                <a:tc>
                  <a:txBody>
                    <a:bodyPr wrap="square"/>
                    <a:lstStyle/>
                    <a:p>
                      <a:pPr algn="l"/>
                      <a:r>
                        <a:rPr sz="1100" b="1">
                          <a:solidFill>
                            <a:srgbClr val="FFFFFF"/>
                          </a:solidFill>
                          <a:latin typeface="Arial"/>
                        </a:rPr>
                        <a:t>Signal removed</a:t>
                      </a:r>
                    </a:p>
                  </a:txBody>
                  <a:tcPr marL="73152" marR="73152" marT="27432" marB="27432" anchor="ctr">
                    <a:solidFill>
                      <a:srgbClr val="404040"/>
                    </a:solidFill>
                  </a:tcPr>
                </a:tc>
                <a:tc>
                  <a:txBody>
                    <a:bodyPr wrap="square"/>
                    <a:lstStyle/>
                    <a:p>
                      <a:pPr algn="ctr"/>
                      <a:r>
                        <a:rPr sz="1100" b="1">
                          <a:solidFill>
                            <a:srgbClr val="FFFFFF"/>
                          </a:solidFill>
                          <a:latin typeface="Arial"/>
                        </a:rPr>
                        <a:t>kev-app: effort 90%</a:t>
                      </a:r>
                    </a:p>
                  </a:txBody>
                  <a:tcPr marL="73152" marR="73152" marT="27432" marB="27432" anchor="ctr">
                    <a:solidFill>
                      <a:srgbClr val="404040"/>
                    </a:solidFill>
                  </a:tcPr>
                </a:tc>
                <a:tc>
                  <a:txBody>
                    <a:bodyPr wrap="square"/>
                    <a:lstStyle/>
                    <a:p>
                      <a:pPr algn="ctr"/>
                      <a:r>
                        <a:rPr sz="1100" b="1">
                          <a:solidFill>
                            <a:srgbClr val="FFFFFF"/>
                          </a:solidFill>
                          <a:latin typeface="Arial"/>
                        </a:rPr>
                        <a:t>change</a:t>
                      </a:r>
                    </a:p>
                  </a:txBody>
                  <a:tcPr marL="73152" marR="73152" marT="27432" marB="27432" anchor="ctr">
                    <a:solidFill>
                      <a:srgbClr val="404040"/>
                    </a:solidFill>
                  </a:tcPr>
                </a:tc>
                <a:tc>
                  <a:txBody>
                    <a:bodyPr wrap="square"/>
                    <a:lstStyle/>
                    <a:p>
                      <a:pPr algn="ctr"/>
                      <a:r>
                        <a:rPr sz="1100" b="1">
                          <a:solidFill>
                            <a:srgbClr val="FFFFFF"/>
                          </a:solidFill>
                          <a:latin typeface="Arial"/>
                        </a:rPr>
                        <a:t>population: effort 90%</a:t>
                      </a:r>
                    </a:p>
                  </a:txBody>
                  <a:tcPr marL="73152" marR="73152" marT="27432" marB="27432" anchor="ctr">
                    <a:solidFill>
                      <a:srgbClr val="404040"/>
                    </a:solidFill>
                  </a:tcPr>
                </a:tc>
                <a:tc>
                  <a:txBody>
                    <a:bodyPr wrap="square"/>
                    <a:lstStyle/>
                    <a:p>
                      <a:pPr algn="ctr"/>
                      <a:r>
                        <a:rPr sz="1100" b="1">
                          <a:solidFill>
                            <a:srgbClr val="FFFFFF"/>
                          </a:solidFill>
                          <a:latin typeface="Arial"/>
                        </a:rPr>
                        <a:t>change</a:t>
                      </a:r>
                    </a:p>
                  </a:txBody>
                  <a:tcPr marL="73152" marR="73152" marT="27432" marB="27432" anchor="ctr">
                    <a:solidFill>
                      <a:srgbClr val="404040"/>
                    </a:solidFill>
                  </a:tcPr>
                </a:tc>
              </a:tr>
              <a:tr h="384048">
                <a:tc>
                  <a:txBody>
                    <a:bodyPr wrap="square"/>
                    <a:lstStyle/>
                    <a:p>
                      <a:pPr algn="l"/>
                      <a:r>
                        <a:rPr sz="1100" b="1">
                          <a:solidFill>
                            <a:srgbClr val="333333"/>
                          </a:solidFill>
                          <a:latin typeface="Arial"/>
                        </a:rPr>
                        <a:t>None (full Formula + ML)</a:t>
                      </a:r>
                    </a:p>
                  </a:txBody>
                  <a:tcPr marL="73152" marR="73152" marT="27432" marB="27432" anchor="ctr">
                    <a:solidFill>
                      <a:srgbClr val="E3F4F1"/>
                    </a:solidFill>
                  </a:tcPr>
                </a:tc>
                <a:tc>
                  <a:txBody>
                    <a:bodyPr wrap="square"/>
                    <a:lstStyle/>
                    <a:p>
                      <a:pPr algn="ctr"/>
                      <a:r>
                        <a:rPr sz="1100" b="1">
                          <a:solidFill>
                            <a:srgbClr val="333333"/>
                          </a:solidFill>
                          <a:latin typeface="Arial"/>
                        </a:rPr>
                        <a:t>10.0%</a:t>
                      </a:r>
                    </a:p>
                  </a:txBody>
                  <a:tcPr marL="73152" marR="73152" marT="27432" marB="27432" anchor="ctr">
                    <a:solidFill>
                      <a:srgbClr val="E3F4F1"/>
                    </a:solidFill>
                  </a:tcPr>
                </a:tc>
                <a:tc>
                  <a:txBody>
                    <a:bodyPr wrap="square"/>
                    <a:lstStyle/>
                    <a:p>
                      <a:pPr algn="ctr"/>
                      <a:r>
                        <a:rPr sz="1100" b="1">
                          <a:solidFill>
                            <a:srgbClr val="333333"/>
                          </a:solidFill>
                          <a:latin typeface="Arial"/>
                        </a:rPr>
                        <a:t>+0.0 pp</a:t>
                      </a:r>
                    </a:p>
                  </a:txBody>
                  <a:tcPr marL="73152" marR="73152" marT="27432" marB="27432" anchor="ctr">
                    <a:solidFill>
                      <a:srgbClr val="E3F4F1"/>
                    </a:solidFill>
                  </a:tcPr>
                </a:tc>
                <a:tc>
                  <a:txBody>
                    <a:bodyPr wrap="square"/>
                    <a:lstStyle/>
                    <a:p>
                      <a:pPr algn="ctr"/>
                      <a:r>
                        <a:rPr sz="1100" b="1">
                          <a:solidFill>
                            <a:srgbClr val="333333"/>
                          </a:solidFill>
                          <a:latin typeface="Arial"/>
                        </a:rPr>
                        <a:t>36.7%</a:t>
                      </a:r>
                    </a:p>
                  </a:txBody>
                  <a:tcPr marL="73152" marR="73152" marT="27432" marB="27432" anchor="ctr">
                    <a:solidFill>
                      <a:srgbClr val="E3F4F1"/>
                    </a:solidFill>
                  </a:tcPr>
                </a:tc>
                <a:tc>
                  <a:txBody>
                    <a:bodyPr wrap="square"/>
                    <a:lstStyle/>
                    <a:p>
                      <a:pPr algn="ctr"/>
                      <a:r>
                        <a:rPr sz="1100" b="1">
                          <a:solidFill>
                            <a:srgbClr val="333333"/>
                          </a:solidFill>
                          <a:latin typeface="Arial"/>
                        </a:rPr>
                        <a:t>+0.0 pp</a:t>
                      </a:r>
                    </a:p>
                  </a:txBody>
                  <a:tcPr marL="73152" marR="73152" marT="27432" marB="27432" anchor="ctr">
                    <a:solidFill>
                      <a:srgbClr val="E3F4F1"/>
                    </a:solidFill>
                  </a:tcPr>
                </a:tc>
              </a:tr>
              <a:tr h="384048">
                <a:tc>
                  <a:txBody>
                    <a:bodyPr wrap="square"/>
                    <a:lstStyle/>
                    <a:p>
                      <a:pPr algn="l"/>
                      <a:r>
                        <a:rPr sz="1100" b="0">
                          <a:solidFill>
                            <a:srgbClr val="333333"/>
                          </a:solidFill>
                          <a:latin typeface="Arial"/>
                        </a:rPr>
                        <a:t>ML probability</a:t>
                      </a:r>
                    </a:p>
                  </a:txBody>
                  <a:tcPr marL="73152" marR="73152" marT="27432" marB="27432" anchor="ctr">
                    <a:solidFill>
                      <a:srgbClr val="F2F2F2"/>
                    </a:solidFill>
                  </a:tcPr>
                </a:tc>
                <a:tc>
                  <a:txBody>
                    <a:bodyPr wrap="square"/>
                    <a:lstStyle/>
                    <a:p>
                      <a:pPr algn="ctr"/>
                      <a:r>
                        <a:rPr sz="1100" b="0">
                          <a:solidFill>
                            <a:srgbClr val="333333"/>
                          </a:solidFill>
                          <a:latin typeface="Arial"/>
                        </a:rPr>
                        <a:t>8.7%</a:t>
                      </a:r>
                    </a:p>
                  </a:txBody>
                  <a:tcPr marL="73152" marR="73152" marT="27432" marB="27432" anchor="ctr">
                    <a:solidFill>
                      <a:srgbClr val="F2F2F2"/>
                    </a:solidFill>
                  </a:tcPr>
                </a:tc>
                <a:tc>
                  <a:txBody>
                    <a:bodyPr wrap="square"/>
                    <a:lstStyle/>
                    <a:p>
                      <a:pPr algn="ctr"/>
                      <a:r>
                        <a:rPr sz="1100" b="0">
                          <a:solidFill>
                            <a:srgbClr val="333333"/>
                          </a:solidFill>
                          <a:latin typeface="Arial"/>
                        </a:rPr>
                        <a:t>-1.3 pp</a:t>
                      </a:r>
                    </a:p>
                  </a:txBody>
                  <a:tcPr marL="73152" marR="73152" marT="27432" marB="27432" anchor="ctr">
                    <a:solidFill>
                      <a:srgbClr val="F2F2F2"/>
                    </a:solidFill>
                  </a:tcPr>
                </a:tc>
                <a:tc>
                  <a:txBody>
                    <a:bodyPr wrap="square"/>
                    <a:lstStyle/>
                    <a:p>
                      <a:pPr algn="ctr"/>
                      <a:r>
                        <a:rPr sz="1100" b="0">
                          <a:solidFill>
                            <a:srgbClr val="333333"/>
                          </a:solidFill>
                          <a:latin typeface="Arial"/>
                        </a:rPr>
                        <a:t>55.9%</a:t>
                      </a:r>
                    </a:p>
                  </a:txBody>
                  <a:tcPr marL="73152" marR="73152" marT="27432" marB="27432" anchor="ctr">
                    <a:solidFill>
                      <a:srgbClr val="F2F2F2"/>
                    </a:solidFill>
                  </a:tcPr>
                </a:tc>
                <a:tc>
                  <a:txBody>
                    <a:bodyPr wrap="square"/>
                    <a:lstStyle/>
                    <a:p>
                      <a:pPr algn="ctr"/>
                      <a:r>
                        <a:rPr sz="1100" b="0">
                          <a:solidFill>
                            <a:srgbClr val="333333"/>
                          </a:solidFill>
                          <a:latin typeface="Arial"/>
                        </a:rPr>
                        <a:t>+19.2 pp</a:t>
                      </a:r>
                    </a:p>
                  </a:txBody>
                  <a:tcPr marL="73152" marR="73152" marT="27432" marB="27432" anchor="ctr">
                    <a:solidFill>
                      <a:srgbClr val="F2F2F2"/>
                    </a:solidFill>
                  </a:tcPr>
                </a:tc>
              </a:tr>
              <a:tr h="384048">
                <a:tc>
                  <a:txBody>
                    <a:bodyPr wrap="square"/>
                    <a:lstStyle/>
                    <a:p>
                      <a:pPr algn="l"/>
                      <a:r>
                        <a:rPr sz="1100" b="0">
                          <a:solidFill>
                            <a:srgbClr val="333333"/>
                          </a:solidFill>
                          <a:latin typeface="Arial"/>
                        </a:rPr>
                        <a:t>EPSS</a:t>
                      </a:r>
                    </a:p>
                  </a:txBody>
                  <a:tcPr marL="73152" marR="73152" marT="27432" marB="27432" anchor="ctr">
                    <a:solidFill>
                      <a:srgbClr val="FFFFFF"/>
                    </a:solidFill>
                  </a:tcPr>
                </a:tc>
                <a:tc>
                  <a:txBody>
                    <a:bodyPr wrap="square"/>
                    <a:lstStyle/>
                    <a:p>
                      <a:pPr algn="ctr"/>
                      <a:r>
                        <a:rPr sz="1100" b="0">
                          <a:solidFill>
                            <a:srgbClr val="333333"/>
                          </a:solidFill>
                          <a:latin typeface="Arial"/>
                        </a:rPr>
                        <a:t>38.0%</a:t>
                      </a:r>
                    </a:p>
                  </a:txBody>
                  <a:tcPr marL="73152" marR="73152" marT="27432" marB="27432" anchor="ctr">
                    <a:solidFill>
                      <a:srgbClr val="FFFFFF"/>
                    </a:solidFill>
                  </a:tcPr>
                </a:tc>
                <a:tc>
                  <a:txBody>
                    <a:bodyPr wrap="square"/>
                    <a:lstStyle/>
                    <a:p>
                      <a:pPr algn="ctr"/>
                      <a:r>
                        <a:rPr sz="1100" b="0">
                          <a:solidFill>
                            <a:srgbClr val="333333"/>
                          </a:solidFill>
                          <a:latin typeface="Arial"/>
                        </a:rPr>
                        <a:t>+28.0 pp</a:t>
                      </a:r>
                    </a:p>
                  </a:txBody>
                  <a:tcPr marL="73152" marR="73152" marT="27432" marB="27432" anchor="ctr">
                    <a:solidFill>
                      <a:srgbClr val="FFFFFF"/>
                    </a:solidFill>
                  </a:tcPr>
                </a:tc>
                <a:tc>
                  <a:txBody>
                    <a:bodyPr wrap="square"/>
                    <a:lstStyle/>
                    <a:p>
                      <a:pPr algn="ctr"/>
                      <a:r>
                        <a:rPr sz="1100" b="0">
                          <a:solidFill>
                            <a:srgbClr val="333333"/>
                          </a:solidFill>
                          <a:latin typeface="Arial"/>
                        </a:rPr>
                        <a:t>46.4%</a:t>
                      </a:r>
                    </a:p>
                  </a:txBody>
                  <a:tcPr marL="73152" marR="73152" marT="27432" marB="27432" anchor="ctr">
                    <a:solidFill>
                      <a:srgbClr val="FFFFFF"/>
                    </a:solidFill>
                  </a:tcPr>
                </a:tc>
                <a:tc>
                  <a:txBody>
                    <a:bodyPr wrap="square"/>
                    <a:lstStyle/>
                    <a:p>
                      <a:pPr algn="ctr"/>
                      <a:r>
                        <a:rPr sz="1100" b="0">
                          <a:solidFill>
                            <a:srgbClr val="333333"/>
                          </a:solidFill>
                          <a:latin typeface="Arial"/>
                        </a:rPr>
                        <a:t>+9.7 pp</a:t>
                      </a:r>
                    </a:p>
                  </a:txBody>
                  <a:tcPr marL="73152" marR="73152" marT="27432" marB="27432" anchor="ctr">
                    <a:solidFill>
                      <a:srgbClr val="FFFFFF"/>
                    </a:solidFill>
                  </a:tcPr>
                </a:tc>
              </a:tr>
              <a:tr h="384048">
                <a:tc>
                  <a:txBody>
                    <a:bodyPr wrap="square"/>
                    <a:lstStyle/>
                    <a:p>
                      <a:pPr algn="l"/>
                      <a:r>
                        <a:rPr sz="1100" b="0">
                          <a:solidFill>
                            <a:srgbClr val="333333"/>
                          </a:solidFill>
                          <a:latin typeface="Arial"/>
                        </a:rPr>
                        <a:t>KEV flag</a:t>
                      </a:r>
                    </a:p>
                  </a:txBody>
                  <a:tcPr marL="73152" marR="73152" marT="27432" marB="27432" anchor="ctr">
                    <a:solidFill>
                      <a:srgbClr val="F2F2F2"/>
                    </a:solidFill>
                  </a:tcPr>
                </a:tc>
                <a:tc>
                  <a:txBody>
                    <a:bodyPr wrap="square"/>
                    <a:lstStyle/>
                    <a:p>
                      <a:pPr algn="ctr"/>
                      <a:r>
                        <a:rPr sz="1100" b="0">
                          <a:solidFill>
                            <a:srgbClr val="333333"/>
                          </a:solidFill>
                          <a:latin typeface="Arial"/>
                        </a:rPr>
                        <a:t>10.0%</a:t>
                      </a:r>
                    </a:p>
                  </a:txBody>
                  <a:tcPr marL="73152" marR="73152" marT="27432" marB="27432" anchor="ctr">
                    <a:solidFill>
                      <a:srgbClr val="F2F2F2"/>
                    </a:solidFill>
                  </a:tcPr>
                </a:tc>
                <a:tc>
                  <a:txBody>
                    <a:bodyPr wrap="square"/>
                    <a:lstStyle/>
                    <a:p>
                      <a:pPr algn="ctr"/>
                      <a:r>
                        <a:rPr sz="1100" b="0">
                          <a:solidFill>
                            <a:srgbClr val="333333"/>
                          </a:solidFill>
                          <a:latin typeface="Arial"/>
                        </a:rPr>
                        <a:t>+0.0 pp</a:t>
                      </a:r>
                    </a:p>
                  </a:txBody>
                  <a:tcPr marL="73152" marR="73152" marT="27432" marB="27432" anchor="ctr">
                    <a:solidFill>
                      <a:srgbClr val="F2F2F2"/>
                    </a:solidFill>
                  </a:tcPr>
                </a:tc>
                <a:tc>
                  <a:txBody>
                    <a:bodyPr wrap="square"/>
                    <a:lstStyle/>
                    <a:p>
                      <a:pPr algn="ctr"/>
                      <a:r>
                        <a:rPr sz="1100" b="0">
                          <a:solidFill>
                            <a:srgbClr val="333333"/>
                          </a:solidFill>
                          <a:latin typeface="Arial"/>
                        </a:rPr>
                        <a:t>36.6%</a:t>
                      </a:r>
                    </a:p>
                  </a:txBody>
                  <a:tcPr marL="73152" marR="73152" marT="27432" marB="27432" anchor="ctr">
                    <a:solidFill>
                      <a:srgbClr val="F2F2F2"/>
                    </a:solidFill>
                  </a:tcPr>
                </a:tc>
                <a:tc>
                  <a:txBody>
                    <a:bodyPr wrap="square"/>
                    <a:lstStyle/>
                    <a:p>
                      <a:pPr algn="ctr"/>
                      <a:r>
                        <a:rPr sz="1100" b="0">
                          <a:solidFill>
                            <a:srgbClr val="333333"/>
                          </a:solidFill>
                          <a:latin typeface="Arial"/>
                        </a:rPr>
                        <a:t>-0.0 pp</a:t>
                      </a:r>
                    </a:p>
                  </a:txBody>
                  <a:tcPr marL="73152" marR="73152" marT="27432" marB="27432" anchor="ctr">
                    <a:solidFill>
                      <a:srgbClr val="F2F2F2"/>
                    </a:solidFill>
                  </a:tcPr>
                </a:tc>
              </a:tr>
              <a:tr h="384048">
                <a:tc>
                  <a:txBody>
                    <a:bodyPr wrap="square"/>
                    <a:lstStyle/>
                    <a:p>
                      <a:pPr algn="l"/>
                      <a:r>
                        <a:rPr sz="1100" b="0">
                          <a:solidFill>
                            <a:srgbClr val="333333"/>
                          </a:solidFill>
                          <a:latin typeface="Arial"/>
                        </a:rPr>
                        <a:t>Blast radius (fan-in)</a:t>
                      </a:r>
                    </a:p>
                  </a:txBody>
                  <a:tcPr marL="73152" marR="73152" marT="27432" marB="27432" anchor="ctr">
                    <a:solidFill>
                      <a:srgbClr val="FFFFFF"/>
                    </a:solidFill>
                  </a:tcPr>
                </a:tc>
                <a:tc>
                  <a:txBody>
                    <a:bodyPr wrap="square"/>
                    <a:lstStyle/>
                    <a:p>
                      <a:pPr algn="ctr"/>
                      <a:r>
                        <a:rPr sz="1100" b="0">
                          <a:solidFill>
                            <a:srgbClr val="333333"/>
                          </a:solidFill>
                          <a:latin typeface="Arial"/>
                        </a:rPr>
                        <a:t>14.7%</a:t>
                      </a:r>
                    </a:p>
                  </a:txBody>
                  <a:tcPr marL="73152" marR="73152" marT="27432" marB="27432" anchor="ctr">
                    <a:solidFill>
                      <a:srgbClr val="FFFFFF"/>
                    </a:solidFill>
                  </a:tcPr>
                </a:tc>
                <a:tc>
                  <a:txBody>
                    <a:bodyPr wrap="square"/>
                    <a:lstStyle/>
                    <a:p>
                      <a:pPr algn="ctr"/>
                      <a:r>
                        <a:rPr sz="1100" b="0">
                          <a:solidFill>
                            <a:srgbClr val="333333"/>
                          </a:solidFill>
                          <a:latin typeface="Arial"/>
                        </a:rPr>
                        <a:t>+4.7 pp</a:t>
                      </a:r>
                    </a:p>
                  </a:txBody>
                  <a:tcPr marL="73152" marR="73152" marT="27432" marB="27432" anchor="ctr">
                    <a:solidFill>
                      <a:srgbClr val="FFFFFF"/>
                    </a:solidFill>
                  </a:tcPr>
                </a:tc>
                <a:tc>
                  <a:txBody>
                    <a:bodyPr wrap="square"/>
                    <a:lstStyle/>
                    <a:p>
                      <a:pPr algn="ctr"/>
                      <a:r>
                        <a:rPr sz="1100" b="0">
                          <a:solidFill>
                            <a:srgbClr val="333333"/>
                          </a:solidFill>
                          <a:latin typeface="Arial"/>
                        </a:rPr>
                        <a:t>n/a</a:t>
                      </a:r>
                    </a:p>
                  </a:txBody>
                  <a:tcPr marL="73152" marR="73152" marT="27432" marB="27432" anchor="ctr">
                    <a:solidFill>
                      <a:srgbClr val="FFFFFF"/>
                    </a:solidFill>
                  </a:tcPr>
                </a:tc>
                <a:tc>
                  <a:txBody>
                    <a:bodyPr wrap="square"/>
                    <a:lstStyle/>
                    <a:p>
                      <a:pPr algn="ctr"/>
                      <a:r>
                        <a:rPr sz="1100" b="0">
                          <a:solidFill>
                            <a:srgbClr val="333333"/>
                          </a:solidFill>
                          <a:latin typeface="Arial"/>
                        </a:rPr>
                        <a:t>—</a:t>
                      </a:r>
                    </a:p>
                  </a:txBody>
                  <a:tcPr marL="73152" marR="73152" marT="27432" marB="27432" anchor="ctr">
                    <a:solidFill>
                      <a:srgbClr val="FFFFFF"/>
                    </a:solidFill>
                  </a:tcPr>
                </a:tc>
              </a:tr>
              <a:tr h="384048">
                <a:tc>
                  <a:txBody>
                    <a:bodyPr wrap="square"/>
                    <a:lstStyle/>
                    <a:p>
                      <a:pPr algn="l"/>
                      <a:r>
                        <a:rPr sz="1100" b="0">
                          <a:solidFill>
                            <a:srgbClr val="333333"/>
                          </a:solidFill>
                          <a:latin typeface="Arial"/>
                        </a:rPr>
                        <a:t>Scope multiplier</a:t>
                      </a:r>
                    </a:p>
                  </a:txBody>
                  <a:tcPr marL="73152" marR="73152" marT="27432" marB="27432" anchor="ctr">
                    <a:solidFill>
                      <a:srgbClr val="F2F2F2"/>
                    </a:solidFill>
                  </a:tcPr>
                </a:tc>
                <a:tc>
                  <a:txBody>
                    <a:bodyPr wrap="square"/>
                    <a:lstStyle/>
                    <a:p>
                      <a:pPr algn="ctr"/>
                      <a:r>
                        <a:rPr sz="1100" b="0">
                          <a:solidFill>
                            <a:srgbClr val="333333"/>
                          </a:solidFill>
                          <a:latin typeface="Arial"/>
                        </a:rPr>
                        <a:t>10.7%</a:t>
                      </a:r>
                    </a:p>
                  </a:txBody>
                  <a:tcPr marL="73152" marR="73152" marT="27432" marB="27432" anchor="ctr">
                    <a:solidFill>
                      <a:srgbClr val="F2F2F2"/>
                    </a:solidFill>
                  </a:tcPr>
                </a:tc>
                <a:tc>
                  <a:txBody>
                    <a:bodyPr wrap="square"/>
                    <a:lstStyle/>
                    <a:p>
                      <a:pPr algn="ctr"/>
                      <a:r>
                        <a:rPr sz="1100" b="0">
                          <a:solidFill>
                            <a:srgbClr val="333333"/>
                          </a:solidFill>
                          <a:latin typeface="Arial"/>
                        </a:rPr>
                        <a:t>+0.7 pp</a:t>
                      </a:r>
                    </a:p>
                  </a:txBody>
                  <a:tcPr marL="73152" marR="73152" marT="27432" marB="27432" anchor="ctr">
                    <a:solidFill>
                      <a:srgbClr val="F2F2F2"/>
                    </a:solidFill>
                  </a:tcPr>
                </a:tc>
                <a:tc>
                  <a:txBody>
                    <a:bodyPr wrap="square"/>
                    <a:lstStyle/>
                    <a:p>
                      <a:pPr algn="ctr"/>
                      <a:r>
                        <a:rPr sz="1100" b="0">
                          <a:solidFill>
                            <a:srgbClr val="333333"/>
                          </a:solidFill>
                          <a:latin typeface="Arial"/>
                        </a:rPr>
                        <a:t>36.3%</a:t>
                      </a:r>
                    </a:p>
                  </a:txBody>
                  <a:tcPr marL="73152" marR="73152" marT="27432" marB="27432" anchor="ctr">
                    <a:solidFill>
                      <a:srgbClr val="F2F2F2"/>
                    </a:solidFill>
                  </a:tcPr>
                </a:tc>
                <a:tc>
                  <a:txBody>
                    <a:bodyPr wrap="square"/>
                    <a:lstStyle/>
                    <a:p>
                      <a:pPr algn="ctr"/>
                      <a:r>
                        <a:rPr sz="1100" b="0">
                          <a:solidFill>
                            <a:srgbClr val="333333"/>
                          </a:solidFill>
                          <a:latin typeface="Arial"/>
                        </a:rPr>
                        <a:t>-0.3 pp</a:t>
                      </a:r>
                    </a:p>
                  </a:txBody>
                  <a:tcPr marL="73152" marR="73152" marT="27432" marB="27432" anchor="ctr">
                    <a:solidFill>
                      <a:srgbClr val="F2F2F2"/>
                    </a:solidFill>
                  </a:tcPr>
                </a:tc>
              </a:tr>
              <a:tr h="384048">
                <a:tc>
                  <a:txBody>
                    <a:bodyPr wrap="square"/>
                    <a:lstStyle/>
                    <a:p>
                      <a:pPr algn="l"/>
                      <a:r>
                        <a:rPr sz="1100" b="0">
                          <a:solidFill>
                            <a:srgbClr val="333333"/>
                          </a:solidFill>
                          <a:latin typeface="Arial"/>
                        </a:rPr>
                        <a:t>Asset criticality</a:t>
                      </a:r>
                    </a:p>
                  </a:txBody>
                  <a:tcPr marL="73152" marR="73152" marT="27432" marB="27432" anchor="ctr">
                    <a:solidFill>
                      <a:srgbClr val="FFFFFF"/>
                    </a:solidFill>
                  </a:tcPr>
                </a:tc>
                <a:tc>
                  <a:txBody>
                    <a:bodyPr wrap="square"/>
                    <a:lstStyle/>
                    <a:p>
                      <a:pPr algn="ctr"/>
                      <a:r>
                        <a:rPr sz="1100" b="0">
                          <a:solidFill>
                            <a:srgbClr val="333333"/>
                          </a:solidFill>
                          <a:latin typeface="Arial"/>
                        </a:rPr>
                        <a:t>10.7%</a:t>
                      </a:r>
                    </a:p>
                  </a:txBody>
                  <a:tcPr marL="73152" marR="73152" marT="27432" marB="27432" anchor="ctr">
                    <a:solidFill>
                      <a:srgbClr val="FFFFFF"/>
                    </a:solidFill>
                  </a:tcPr>
                </a:tc>
                <a:tc>
                  <a:txBody>
                    <a:bodyPr wrap="square"/>
                    <a:lstStyle/>
                    <a:p>
                      <a:pPr algn="ctr"/>
                      <a:r>
                        <a:rPr sz="1100" b="0">
                          <a:solidFill>
                            <a:srgbClr val="333333"/>
                          </a:solidFill>
                          <a:latin typeface="Arial"/>
                        </a:rPr>
                        <a:t>+0.7 pp</a:t>
                      </a:r>
                    </a:p>
                  </a:txBody>
                  <a:tcPr marL="73152" marR="73152" marT="27432" marB="27432" anchor="ctr">
                    <a:solidFill>
                      <a:srgbClr val="FFFFFF"/>
                    </a:solidFill>
                  </a:tcPr>
                </a:tc>
                <a:tc>
                  <a:txBody>
                    <a:bodyPr wrap="square"/>
                    <a:lstStyle/>
                    <a:p>
                      <a:pPr algn="ctr"/>
                      <a:r>
                        <a:rPr sz="1100" b="0">
                          <a:solidFill>
                            <a:srgbClr val="333333"/>
                          </a:solidFill>
                          <a:latin typeface="Arial"/>
                        </a:rPr>
                        <a:t>n/a</a:t>
                      </a:r>
                    </a:p>
                  </a:txBody>
                  <a:tcPr marL="73152" marR="73152" marT="27432" marB="27432" anchor="ctr">
                    <a:solidFill>
                      <a:srgbClr val="FFFFFF"/>
                    </a:solidFill>
                  </a:tcPr>
                </a:tc>
                <a:tc>
                  <a:txBody>
                    <a:bodyPr wrap="square"/>
                    <a:lstStyle/>
                    <a:p>
                      <a:pPr algn="ctr"/>
                      <a:r>
                        <a:rPr sz="1100" b="0">
                          <a:solidFill>
                            <a:srgbClr val="333333"/>
                          </a:solidFill>
                          <a:latin typeface="Arial"/>
                        </a:rPr>
                        <a:t>—</a:t>
                      </a:r>
                    </a:p>
                  </a:txBody>
                  <a:tcPr marL="73152" marR="73152" marT="27432" marB="27432" anchor="ctr">
                    <a:solidFill>
                      <a:srgbClr val="FFFFFF"/>
                    </a:solidFill>
                  </a:tcPr>
                </a:tc>
              </a:tr>
            </a:tbl>
          </a:graphicData>
        </a:graphic>
      </p:graphicFrame>
      <p:sp>
        <p:nvSpPr>
          <p:cNvPr id="8" name="Rounded Rectangle 7"/>
          <p:cNvSpPr/>
          <p:nvPr/>
        </p:nvSpPr>
        <p:spPr>
          <a:xfrm>
            <a:off x="7955279" y="1554480"/>
            <a:ext cx="3794760" cy="457200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92440" y="1645920"/>
            <a:ext cx="3566160" cy="4389120"/>
          </a:xfrm>
          <a:prstGeom prst="rect">
            <a:avLst/>
          </a:prstGeom>
          <a:noFill/>
        </p:spPr>
        <p:txBody>
          <a:bodyPr wrap="square" anchor="t" lIns="45720" rIns="45720">
            <a:spAutoFit/>
          </a:bodyPr>
          <a:lstStyle/>
          <a:p>
            <a:pPr algn="l">
              <a:spcAft>
                <a:spcPts val="400"/>
              </a:spcAft>
            </a:pPr>
            <a:r>
              <a:rPr sz="1400" b="1" i="0">
                <a:solidFill>
                  <a:srgbClr val="333333"/>
                </a:solidFill>
                <a:latin typeface="Arial"/>
              </a:rPr>
              <a:t>Reading the table</a:t>
            </a:r>
          </a:p>
          <a:p>
            <a:pPr algn="l">
              <a:spcAft>
                <a:spcPts val="400"/>
              </a:spcAft>
            </a:pPr>
            <a:r>
              <a:rPr sz="1200" b="0" i="0">
                <a:solidFill>
                  <a:srgbClr val="333333"/>
                </a:solidFill>
                <a:latin typeface="Arial"/>
              </a:rPr>
              <a:t>ML probability: helps (+19.2 pp on population)</a:t>
            </a:r>
          </a:p>
          <a:p>
            <a:pPr algn="l">
              <a:spcAft>
                <a:spcPts val="400"/>
              </a:spcAft>
            </a:pPr>
            <a:r>
              <a:rPr sz="1200" b="0" i="0">
                <a:solidFill>
                  <a:srgbClr val="333333"/>
                </a:solidFill>
                <a:latin typeface="Arial"/>
              </a:rPr>
              <a:t>EPSS: helps (+9.7 pp on population)</a:t>
            </a:r>
          </a:p>
          <a:p>
            <a:pPr algn="l">
              <a:spcAft>
                <a:spcPts val="400"/>
              </a:spcAft>
            </a:pPr>
            <a:r>
              <a:rPr sz="1200" b="0" i="0">
                <a:solidFill>
                  <a:srgbClr val="333333"/>
                </a:solidFill>
                <a:latin typeface="Arial"/>
              </a:rPr>
              <a:t>KEV flag: no measurable effect (-0.0 pp on population)</a:t>
            </a:r>
          </a:p>
          <a:p>
            <a:pPr algn="l">
              <a:spcAft>
                <a:spcPts val="400"/>
              </a:spcAft>
            </a:pPr>
            <a:r>
              <a:rPr sz="1200" b="0" i="0">
                <a:solidFill>
                  <a:srgbClr val="333333"/>
                </a:solidFill>
                <a:latin typeface="Arial"/>
              </a:rPr>
              <a:t>Blast radius (fan-in): helps (+4.7 pp on kev-app)</a:t>
            </a:r>
          </a:p>
          <a:p>
            <a:pPr algn="l">
              <a:spcAft>
                <a:spcPts val="400"/>
              </a:spcAft>
            </a:pPr>
            <a:r>
              <a:rPr sz="1200" b="0" i="0">
                <a:solidFill>
                  <a:srgbClr val="333333"/>
                </a:solidFill>
                <a:latin typeface="Arial"/>
              </a:rPr>
              <a:t>Scope multiplier: no measurable effect (-0.3 pp on population)</a:t>
            </a:r>
          </a:p>
          <a:p>
            <a:pPr algn="l">
              <a:spcAft>
                <a:spcPts val="400"/>
              </a:spcAft>
            </a:pPr>
            <a:r>
              <a:rPr sz="1200" b="0" i="0">
                <a:solidFill>
                  <a:srgbClr val="333333"/>
                </a:solidFill>
                <a:latin typeface="Arial"/>
              </a:rPr>
              <a:t>Asset criticality: helps (+0.7 pp on kev-app)</a:t>
            </a:r>
          </a:p>
          <a:p>
            <a:pPr algn="l">
              <a:spcAft>
                <a:spcPts val="400"/>
              </a:spcAft>
            </a:pPr>
            <a:r>
              <a:rPr sz="1100" b="0" i="0">
                <a:solidFill>
                  <a:srgbClr val="6B6B6B"/>
                </a:solidFill>
                <a:latin typeface="Arial"/>
              </a:rPr>
              <a:t>Positive change = removing the signal made the ranking worse. A signal that hurts is reported, not hidden.</a:t>
            </a:r>
          </a:p>
        </p:txBody>
      </p:sp>
      <p:sp>
        <p:nvSpPr>
          <p:cNvPr id="10" name="TextBox 9"/>
          <p:cNvSpPr txBox="1"/>
          <p:nvPr/>
        </p:nvSpPr>
        <p:spPr>
          <a:xfrm>
            <a:off x="457200" y="4572000"/>
            <a:ext cx="7223760" cy="1463040"/>
          </a:xfrm>
          <a:prstGeom prst="rect">
            <a:avLst/>
          </a:prstGeom>
          <a:noFill/>
        </p:spPr>
        <p:txBody>
          <a:bodyPr wrap="square" anchor="t" lIns="45720" rIns="45720">
            <a:spAutoFit/>
          </a:bodyPr>
          <a:lstStyle/>
          <a:p>
            <a:pPr algn="l">
              <a:spcAft>
                <a:spcPts val="400"/>
              </a:spcAft>
            </a:pPr>
            <a:r>
              <a:rPr sz="1200" b="0" i="0">
                <a:solidFill>
                  <a:srgbClr val="6B6B6B"/>
                </a:solidFill>
                <a:latin typeface="Arial"/>
              </a:rPr>
              <a:t>Only the Likelihood weights (0.5 / 0.3 / 0.2) are hand-set; this table is the evidence for keeping or dropping each term. Fan-in and asset criticality only exist in the SBOM case.</a:t>
            </a:r>
          </a:p>
        </p:txBody>
      </p:sp>
    </p:spTree>
    <p:extLst>
      <p:ext uri="{BB962C8B-B14F-4D97-AF65-F5344CB8AC3E}">
        <p14:creationId xmlns:p14="http://schemas.microsoft.com/office/powerpoint/2010/main" val="1564373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1AFB0D-B6BF-17A1-5083-D53D1C7FC77C}"/>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BA7B6815-C78F-C537-5A38-1CF8A9D56589}"/>
              </a:ext>
            </a:extLst>
          </p:cNvPr>
          <p:cNvSpPr>
            <a:spLocks noGrp="1"/>
          </p:cNvSpPr>
          <p:nvPr>
            <p:ph type="title"/>
          </p:nvPr>
        </p:nvSpPr>
        <p:spPr/>
        <p:txBody>
          <a:bodyPr>
            <a:normAutofit/>
          </a:bodyPr>
          <a:lstStyle/>
          <a:p>
            <a:r>
              <a:rPr lang="en-US" sz="3600" dirty="0">
                <a:cs typeface="Arial" panose="020B0604020202020204" pitchFamily="34" charset="0"/>
              </a:rPr>
              <a:t>Live Demo — Dashboard</a:t>
            </a:r>
            <a:endParaRPr lang="en-IN" dirty="0"/>
          </a:p>
        </p:txBody>
      </p:sp>
      <p:sp>
        <p:nvSpPr>
          <p:cNvPr id="4" name="Date Placeholder 3">
            <a:extLst>
              <a:ext uri="{FF2B5EF4-FFF2-40B4-BE49-F238E27FC236}">
                <a16:creationId xmlns:a16="http://schemas.microsoft.com/office/drawing/2014/main" id="{B81F57BA-F00B-F8C5-25C8-23E2885C9E24}"/>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schemeClr val="tx1"/>
                </a:solidFill>
                <a:effectLst/>
                <a:uLnTx/>
                <a:uFillTx/>
                <a:latin typeface="Roboto Slab"/>
                <a:ea typeface="+mn-ea"/>
                <a:cs typeface="+mn-cs"/>
              </a:rPr>
              <a:t>10th October 2026</a:t>
            </a:r>
            <a:endParaRPr kumimoji="0" lang="en-US" sz="1200" b="0" i="0" u="none" strike="noStrike" kern="1200" cap="none" spc="0" normalizeH="0" baseline="0" noProof="0" dirty="0">
              <a:ln>
                <a:noFill/>
              </a:ln>
              <a:solidFill>
                <a:schemeClr val="tx1"/>
              </a:solidFill>
              <a:effectLst/>
              <a:uLnTx/>
              <a:uFillTx/>
              <a:latin typeface="Roboto Slab"/>
              <a:ea typeface="+mn-ea"/>
              <a:cs typeface="+mn-cs"/>
            </a:endParaRPr>
          </a:p>
        </p:txBody>
      </p:sp>
      <p:sp>
        <p:nvSpPr>
          <p:cNvPr id="6" name="Slide Number Placeholder 5">
            <a:extLst>
              <a:ext uri="{FF2B5EF4-FFF2-40B4-BE49-F238E27FC236}">
                <a16:creationId xmlns:a16="http://schemas.microsoft.com/office/drawing/2014/main" id="{0F793F2A-7EE2-ED4A-3A00-B6A8A492B5A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latin typeface="Roboto Slab"/>
              </a:rPr>
              <a:t>12/16</a:t>
            </a:r>
          </a:p>
        </p:txBody>
      </p:sp>
      <p:sp>
        <p:nvSpPr>
          <p:cNvPr id="2" name="Footer Placeholder 1">
            <a:extLst>
              <a:ext uri="{FF2B5EF4-FFF2-40B4-BE49-F238E27FC236}">
                <a16:creationId xmlns:a16="http://schemas.microsoft.com/office/drawing/2014/main" id="{38C9784C-F8E2-45C6-7051-69C00F20FDA3}"/>
              </a:ext>
            </a:extLst>
          </p:cNvPr>
          <p:cNvSpPr>
            <a:spLocks noGrp="1"/>
          </p:cNvSpPr>
          <p:nvPr>
            <p:ph type="ftr" sz="quarter" idx="3"/>
          </p:nvPr>
        </p:nvSpPr>
        <p:spPr/>
        <p:txBody>
          <a:bodyPr/>
          <a:lstStyle/>
          <a:p>
            <a:pPr algn="r">
              <a:defRPr/>
            </a:pPr>
            <a:r>
              <a:rPr lang="en-US">
                <a:solidFill>
                  <a:schemeClr val="tx1"/>
                </a:solidFill>
              </a:rPr>
              <a:t>REVA Academy for Corporate Excellence – RACE | race.reva.edu.in</a:t>
            </a:r>
            <a:endParaRPr lang="en-US" dirty="0">
              <a:solidFill>
                <a:schemeClr val="tx1"/>
              </a:solidFill>
            </a:endParaRPr>
          </a:p>
        </p:txBody>
      </p:sp>
      <p:pic>
        <p:nvPicPr>
          <p:cNvPr id="7" name="Picture 6" descr="dashboard.png"/>
          <p:cNvPicPr>
            <a:picLocks noChangeAspect="1"/>
          </p:cNvPicPr>
          <p:nvPr/>
        </p:nvPicPr>
        <p:blipFill>
          <a:blip r:embed="rId2"/>
          <a:stretch>
            <a:fillRect/>
          </a:stretch>
        </p:blipFill>
        <p:spPr>
          <a:xfrm>
            <a:off x="457200" y="1325880"/>
            <a:ext cx="6816852" cy="4800600"/>
          </a:xfrm>
          <a:prstGeom prst="rect">
            <a:avLst/>
          </a:prstGeom>
        </p:spPr>
      </p:pic>
      <p:sp>
        <p:nvSpPr>
          <p:cNvPr id="8" name="TextBox 7"/>
          <p:cNvSpPr txBox="1"/>
          <p:nvPr/>
        </p:nvSpPr>
        <p:spPr>
          <a:xfrm>
            <a:off x="8183879" y="1325880"/>
            <a:ext cx="3611880" cy="868680"/>
          </a:xfrm>
          <a:prstGeom prst="rect">
            <a:avLst/>
          </a:prstGeom>
          <a:noFill/>
        </p:spPr>
        <p:txBody>
          <a:bodyPr wrap="square" anchor="t" lIns="45720" rIns="45720">
            <a:spAutoFit/>
          </a:bodyPr>
          <a:lstStyle/>
          <a:p>
            <a:pPr algn="l">
              <a:spcAft>
                <a:spcPts val="400"/>
              </a:spcAft>
            </a:pPr>
            <a:r>
              <a:rPr sz="1300" b="1" i="0">
                <a:solidFill>
                  <a:srgbClr val="333333"/>
                </a:solidFill>
                <a:latin typeface="Arial"/>
              </a:rPr>
              <a:t>Three-way toggle</a:t>
            </a:r>
          </a:p>
          <a:p>
            <a:pPr algn="l">
              <a:spcAft>
                <a:spcPts val="400"/>
              </a:spcAft>
            </a:pPr>
            <a:r>
              <a:rPr sz="1100" b="0" i="0">
                <a:solidFill>
                  <a:srgbClr val="6B6B6B"/>
                </a:solidFill>
                <a:latin typeface="Arial"/>
              </a:rPr>
              <a:t>CVSS-only → Formula → Formula + ML: the ranking moves twice.</a:t>
            </a:r>
          </a:p>
        </p:txBody>
      </p:sp>
      <p:sp>
        <p:nvSpPr>
          <p:cNvPr id="9" name="TextBox 8"/>
          <p:cNvSpPr txBox="1"/>
          <p:nvPr/>
        </p:nvSpPr>
        <p:spPr>
          <a:xfrm>
            <a:off x="8183879" y="2212848"/>
            <a:ext cx="3611880" cy="868680"/>
          </a:xfrm>
          <a:prstGeom prst="rect">
            <a:avLst/>
          </a:prstGeom>
          <a:noFill/>
        </p:spPr>
        <p:txBody>
          <a:bodyPr wrap="square" anchor="t" lIns="45720" rIns="45720">
            <a:spAutoFit/>
          </a:bodyPr>
          <a:lstStyle/>
          <a:p>
            <a:pPr algn="l">
              <a:spcAft>
                <a:spcPts val="400"/>
              </a:spcAft>
            </a:pPr>
            <a:r>
              <a:rPr sz="1300" b="1" i="0">
                <a:solidFill>
                  <a:srgbClr val="333333"/>
                </a:solidFill>
                <a:latin typeface="Arial"/>
              </a:rPr>
              <a:t>ML signal card</a:t>
            </a:r>
          </a:p>
          <a:p>
            <a:pPr algn="l">
              <a:spcAft>
                <a:spcPts val="400"/>
              </a:spcAft>
            </a:pPr>
            <a:r>
              <a:rPr sz="1100" b="0" i="0">
                <a:solidFill>
                  <a:srgbClr val="6B6B6B"/>
                </a:solidFill>
                <a:latin typeface="Arial"/>
              </a:rPr>
              <a:t>Test AUC read from model_meta.json, never typed by hand.</a:t>
            </a:r>
          </a:p>
        </p:txBody>
      </p:sp>
      <p:sp>
        <p:nvSpPr>
          <p:cNvPr id="10" name="TextBox 9"/>
          <p:cNvSpPr txBox="1"/>
          <p:nvPr/>
        </p:nvSpPr>
        <p:spPr>
          <a:xfrm>
            <a:off x="8183879" y="3099815"/>
            <a:ext cx="3611880" cy="868680"/>
          </a:xfrm>
          <a:prstGeom prst="rect">
            <a:avLst/>
          </a:prstGeom>
          <a:noFill/>
        </p:spPr>
        <p:txBody>
          <a:bodyPr wrap="square" anchor="t" lIns="45720" rIns="45720">
            <a:spAutoFit/>
          </a:bodyPr>
          <a:lstStyle/>
          <a:p>
            <a:pPr algn="l">
              <a:spcAft>
                <a:spcPts val="400"/>
              </a:spcAft>
            </a:pPr>
            <a:r>
              <a:rPr sz="1300" b="1" i="0">
                <a:solidFill>
                  <a:srgbClr val="333333"/>
                </a:solidFill>
                <a:latin typeface="Arial"/>
              </a:rPr>
              <a:t>Per-finding breakdown</a:t>
            </a:r>
          </a:p>
          <a:p>
            <a:pPr algn="l">
              <a:spcAft>
                <a:spcPts val="400"/>
              </a:spcAft>
            </a:pPr>
            <a:r>
              <a:rPr sz="1100" b="0" i="0">
                <a:solidFill>
                  <a:srgbClr val="6B6B6B"/>
                </a:solidFill>
                <a:latin typeface="Arial"/>
              </a:rPr>
              <a:t>P_model and its top-3 feature contributions, formula terms, services.</a:t>
            </a:r>
          </a:p>
        </p:txBody>
      </p:sp>
      <p:sp>
        <p:nvSpPr>
          <p:cNvPr id="11" name="TextBox 10"/>
          <p:cNvSpPr txBox="1"/>
          <p:nvPr/>
        </p:nvSpPr>
        <p:spPr>
          <a:xfrm>
            <a:off x="8183879" y="3986783"/>
            <a:ext cx="3611880" cy="868680"/>
          </a:xfrm>
          <a:prstGeom prst="rect">
            <a:avLst/>
          </a:prstGeom>
          <a:noFill/>
        </p:spPr>
        <p:txBody>
          <a:bodyPr wrap="square" anchor="t" lIns="45720" rIns="45720">
            <a:spAutoFit/>
          </a:bodyPr>
          <a:lstStyle/>
          <a:p>
            <a:pPr algn="l">
              <a:spcAft>
                <a:spcPts val="400"/>
              </a:spcAft>
            </a:pPr>
            <a:r>
              <a:rPr sz="1300" b="1" i="0">
                <a:solidFill>
                  <a:srgbClr val="333333"/>
                </a:solidFill>
                <a:latin typeface="Arial"/>
              </a:rPr>
              <a:t>Live threat intel</a:t>
            </a:r>
          </a:p>
          <a:p>
            <a:pPr algn="l">
              <a:spcAft>
                <a:spcPts val="400"/>
              </a:spcAft>
            </a:pPr>
            <a:r>
              <a:rPr sz="1100" b="0" i="0">
                <a:solidFill>
                  <a:srgbClr val="6B6B6B"/>
                </a:solidFill>
                <a:latin typeface="Arial"/>
              </a:rPr>
              <a:t>EPSS and KEV fetched live with a dated snapshot fallback; only CVE IDs leave the browser.</a:t>
            </a:r>
          </a:p>
        </p:txBody>
      </p:sp>
      <p:sp>
        <p:nvSpPr>
          <p:cNvPr id="12" name="TextBox 11"/>
          <p:cNvSpPr txBox="1"/>
          <p:nvPr/>
        </p:nvSpPr>
        <p:spPr>
          <a:xfrm>
            <a:off x="8183879" y="4873751"/>
            <a:ext cx="3611880" cy="868680"/>
          </a:xfrm>
          <a:prstGeom prst="rect">
            <a:avLst/>
          </a:prstGeom>
          <a:noFill/>
        </p:spPr>
        <p:txBody>
          <a:bodyPr wrap="square" anchor="t" lIns="45720" rIns="45720">
            <a:spAutoFit/>
          </a:bodyPr>
          <a:lstStyle/>
          <a:p>
            <a:pPr algn="l">
              <a:spcAft>
                <a:spcPts val="400"/>
              </a:spcAft>
            </a:pPr>
            <a:r>
              <a:rPr sz="1300" b="1" i="0">
                <a:solidFill>
                  <a:srgbClr val="333333"/>
                </a:solidFill>
                <a:latin typeface="Arial"/>
              </a:rPr>
              <a:t>Asset context upload</a:t>
            </a:r>
          </a:p>
          <a:p>
            <a:pPr algn="l">
              <a:spcAft>
                <a:spcPts val="400"/>
              </a:spcAft>
            </a:pPr>
            <a:r>
              <a:rPr sz="1100" b="0" i="0">
                <a:solidFill>
                  <a:srgbClr val="6B6B6B"/>
                </a:solidFill>
                <a:latin typeface="Arial"/>
              </a:rPr>
              <a:t>Tier and exposure multiply Impact.</a:t>
            </a:r>
          </a:p>
        </p:txBody>
      </p:sp>
      <p:sp>
        <p:nvSpPr>
          <p:cNvPr id="13" name="TextBox 12"/>
          <p:cNvSpPr txBox="1"/>
          <p:nvPr/>
        </p:nvSpPr>
        <p:spPr>
          <a:xfrm>
            <a:off x="8183879" y="5806439"/>
            <a:ext cx="3611880" cy="457200"/>
          </a:xfrm>
          <a:prstGeom prst="rect">
            <a:avLst/>
          </a:prstGeom>
          <a:noFill/>
        </p:spPr>
        <p:txBody>
          <a:bodyPr wrap="square" anchor="t" lIns="45720" rIns="45720">
            <a:spAutoFit/>
          </a:bodyPr>
          <a:lstStyle/>
          <a:p>
            <a:pPr algn="l">
              <a:spcAft>
                <a:spcPts val="400"/>
              </a:spcAft>
            </a:pPr>
            <a:r>
              <a:rPr sz="1100" b="1" i="0">
                <a:solidFill>
                  <a:srgbClr val="E07B24"/>
                </a:solidFill>
                <a:latin typeface="Arial"/>
              </a:rPr>
              <a:t>https://akilkumarmn.github.io/sbom-risk-engine/</a:t>
            </a:r>
          </a:p>
        </p:txBody>
      </p:sp>
    </p:spTree>
    <p:extLst>
      <p:ext uri="{BB962C8B-B14F-4D97-AF65-F5344CB8AC3E}">
        <p14:creationId xmlns:p14="http://schemas.microsoft.com/office/powerpoint/2010/main" val="1564373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1AFB0D-B6BF-17A1-5083-D53D1C7FC77C}"/>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BA7B6815-C78F-C537-5A38-1CF8A9D56589}"/>
              </a:ext>
            </a:extLst>
          </p:cNvPr>
          <p:cNvSpPr>
            <a:spLocks noGrp="1"/>
          </p:cNvSpPr>
          <p:nvPr>
            <p:ph type="title"/>
          </p:nvPr>
        </p:nvSpPr>
        <p:spPr/>
        <p:txBody>
          <a:bodyPr>
            <a:normAutofit/>
          </a:bodyPr>
          <a:lstStyle/>
          <a:p>
            <a:r>
              <a:rPr lang="en-US" sz="3600" dirty="0">
                <a:cs typeface="Arial" panose="020B0604020202020204" pitchFamily="34" charset="0"/>
              </a:rPr>
              <a:t>MLOps — Nightly Retrain and API</a:t>
            </a:r>
            <a:endParaRPr lang="en-IN" dirty="0"/>
          </a:p>
        </p:txBody>
      </p:sp>
      <p:sp>
        <p:nvSpPr>
          <p:cNvPr id="4" name="Date Placeholder 3">
            <a:extLst>
              <a:ext uri="{FF2B5EF4-FFF2-40B4-BE49-F238E27FC236}">
                <a16:creationId xmlns:a16="http://schemas.microsoft.com/office/drawing/2014/main" id="{B81F57BA-F00B-F8C5-25C8-23E2885C9E24}"/>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schemeClr val="tx1"/>
                </a:solidFill>
                <a:effectLst/>
                <a:uLnTx/>
                <a:uFillTx/>
                <a:latin typeface="Roboto Slab"/>
                <a:ea typeface="+mn-ea"/>
                <a:cs typeface="+mn-cs"/>
              </a:rPr>
              <a:t>10th October 2026</a:t>
            </a:r>
            <a:endParaRPr kumimoji="0" lang="en-US" sz="1200" b="0" i="0" u="none" strike="noStrike" kern="1200" cap="none" spc="0" normalizeH="0" baseline="0" noProof="0" dirty="0">
              <a:ln>
                <a:noFill/>
              </a:ln>
              <a:solidFill>
                <a:schemeClr val="tx1"/>
              </a:solidFill>
              <a:effectLst/>
              <a:uLnTx/>
              <a:uFillTx/>
              <a:latin typeface="Roboto Slab"/>
              <a:ea typeface="+mn-ea"/>
              <a:cs typeface="+mn-cs"/>
            </a:endParaRPr>
          </a:p>
        </p:txBody>
      </p:sp>
      <p:sp>
        <p:nvSpPr>
          <p:cNvPr id="6" name="Slide Number Placeholder 5">
            <a:extLst>
              <a:ext uri="{FF2B5EF4-FFF2-40B4-BE49-F238E27FC236}">
                <a16:creationId xmlns:a16="http://schemas.microsoft.com/office/drawing/2014/main" id="{0F793F2A-7EE2-ED4A-3A00-B6A8A492B5A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latin typeface="Roboto Slab"/>
              </a:rPr>
              <a:t>13/16</a:t>
            </a:r>
          </a:p>
        </p:txBody>
      </p:sp>
      <p:sp>
        <p:nvSpPr>
          <p:cNvPr id="2" name="Footer Placeholder 1">
            <a:extLst>
              <a:ext uri="{FF2B5EF4-FFF2-40B4-BE49-F238E27FC236}">
                <a16:creationId xmlns:a16="http://schemas.microsoft.com/office/drawing/2014/main" id="{38C9784C-F8E2-45C6-7051-69C00F20FDA3}"/>
              </a:ext>
            </a:extLst>
          </p:cNvPr>
          <p:cNvSpPr>
            <a:spLocks noGrp="1"/>
          </p:cNvSpPr>
          <p:nvPr>
            <p:ph type="ftr" sz="quarter" idx="3"/>
          </p:nvPr>
        </p:nvSpPr>
        <p:spPr/>
        <p:txBody>
          <a:bodyPr/>
          <a:lstStyle/>
          <a:p>
            <a:pPr algn="r">
              <a:defRPr/>
            </a:pPr>
            <a:r>
              <a:rPr lang="en-US">
                <a:solidFill>
                  <a:schemeClr val="tx1"/>
                </a:solidFill>
              </a:rPr>
              <a:t>REVA Academy for Corporate Excellence – RACE | race.reva.edu.in</a:t>
            </a:r>
            <a:endParaRPr lang="en-US" dirty="0">
              <a:solidFill>
                <a:schemeClr val="tx1"/>
              </a:solidFill>
            </a:endParaRPr>
          </a:p>
        </p:txBody>
      </p:sp>
      <p:sp>
        <p:nvSpPr>
          <p:cNvPr id="7" name="Rounded Rectangle 6"/>
          <p:cNvSpPr/>
          <p:nvPr/>
        </p:nvSpPr>
        <p:spPr>
          <a:xfrm>
            <a:off x="457200" y="1554480"/>
            <a:ext cx="1481328" cy="777240"/>
          </a:xfrm>
          <a:prstGeom prst="roundRect">
            <a:avLst>
              <a:gd name="adj" fmla="val 8000"/>
            </a:avLst>
          </a:prstGeom>
          <a:solidFill>
            <a:srgbClr val="4040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457200" y="1554480"/>
            <a:ext cx="1481328" cy="777240"/>
          </a:xfrm>
          <a:prstGeom prst="rect">
            <a:avLst/>
          </a:prstGeom>
          <a:noFill/>
        </p:spPr>
        <p:txBody>
          <a:bodyPr wrap="square" anchor="ctr" lIns="45720" rIns="45720">
            <a:spAutoFit/>
          </a:bodyPr>
          <a:lstStyle/>
          <a:p>
            <a:pPr algn="ctr">
              <a:spcAft>
                <a:spcPts val="400"/>
              </a:spcAft>
            </a:pPr>
            <a:r>
              <a:rPr sz="1200" b="1" i="0">
                <a:solidFill>
                  <a:srgbClr val="FFFFFF"/>
                </a:solidFill>
                <a:latin typeface="Arial"/>
              </a:rPr>
              <a:t>Fetch feeds</a:t>
            </a:r>
          </a:p>
        </p:txBody>
      </p:sp>
      <p:sp>
        <p:nvSpPr>
          <p:cNvPr id="9" name="Rounded Rectangle 8"/>
          <p:cNvSpPr/>
          <p:nvPr/>
        </p:nvSpPr>
        <p:spPr>
          <a:xfrm>
            <a:off x="2093976" y="1554480"/>
            <a:ext cx="1481328" cy="777240"/>
          </a:xfrm>
          <a:prstGeom prst="roundRect">
            <a:avLst>
              <a:gd name="adj" fmla="val 8000"/>
            </a:avLst>
          </a:prstGeom>
          <a:solidFill>
            <a:srgbClr val="4040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2093976" y="1554480"/>
            <a:ext cx="1481328" cy="777240"/>
          </a:xfrm>
          <a:prstGeom prst="rect">
            <a:avLst/>
          </a:prstGeom>
          <a:noFill/>
        </p:spPr>
        <p:txBody>
          <a:bodyPr wrap="square" anchor="ctr" lIns="45720" rIns="45720">
            <a:spAutoFit/>
          </a:bodyPr>
          <a:lstStyle/>
          <a:p>
            <a:pPr algn="ctr">
              <a:spcAft>
                <a:spcPts val="400"/>
              </a:spcAft>
            </a:pPr>
            <a:r>
              <a:rPr sz="1200" b="1" i="0">
                <a:solidFill>
                  <a:srgbClr val="FFFFFF"/>
                </a:solidFill>
                <a:latin typeface="Arial"/>
              </a:rPr>
              <a:t>Build features</a:t>
            </a:r>
          </a:p>
        </p:txBody>
      </p:sp>
      <p:cxnSp>
        <p:nvCxnSpPr>
          <p:cNvPr id="11" name="Connector 10"/>
          <p:cNvCxnSpPr/>
          <p:nvPr/>
        </p:nvCxnSpPr>
        <p:spPr>
          <a:xfrm>
            <a:off x="1947672" y="1938528"/>
            <a:ext cx="137160" cy="0"/>
          </a:xfrm>
          <a:prstGeom prst="line">
            <a:avLst/>
          </a:prstGeom>
          <a:ln w="22225">
            <a:solidFill>
              <a:srgbClr val="6B6B6B"/>
            </a:solidFill>
            <a:tailEnd type="triangle"/>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730752" y="1554480"/>
            <a:ext cx="1481328" cy="777240"/>
          </a:xfrm>
          <a:prstGeom prst="roundRect">
            <a:avLst>
              <a:gd name="adj" fmla="val 8000"/>
            </a:avLst>
          </a:prstGeom>
          <a:solidFill>
            <a:srgbClr val="4040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730752" y="1554480"/>
            <a:ext cx="1481328" cy="777240"/>
          </a:xfrm>
          <a:prstGeom prst="rect">
            <a:avLst/>
          </a:prstGeom>
          <a:noFill/>
        </p:spPr>
        <p:txBody>
          <a:bodyPr wrap="square" anchor="ctr" lIns="45720" rIns="45720">
            <a:spAutoFit/>
          </a:bodyPr>
          <a:lstStyle/>
          <a:p>
            <a:pPr algn="ctr">
              <a:spcAft>
                <a:spcPts val="400"/>
              </a:spcAft>
            </a:pPr>
            <a:r>
              <a:rPr sz="1200" b="1" i="0">
                <a:solidFill>
                  <a:srgbClr val="FFFFFF"/>
                </a:solidFill>
                <a:latin typeface="Arial"/>
              </a:rPr>
              <a:t>Train + Table 1</a:t>
            </a:r>
          </a:p>
        </p:txBody>
      </p:sp>
      <p:cxnSp>
        <p:nvCxnSpPr>
          <p:cNvPr id="14" name="Connector 13"/>
          <p:cNvCxnSpPr/>
          <p:nvPr/>
        </p:nvCxnSpPr>
        <p:spPr>
          <a:xfrm>
            <a:off x="3584448" y="1938528"/>
            <a:ext cx="137160" cy="0"/>
          </a:xfrm>
          <a:prstGeom prst="line">
            <a:avLst/>
          </a:prstGeom>
          <a:ln w="22225">
            <a:solidFill>
              <a:srgbClr val="6B6B6B"/>
            </a:solidFill>
            <a:tailEnd type="triangle"/>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5367528" y="1554480"/>
            <a:ext cx="1481328" cy="777240"/>
          </a:xfrm>
          <a:prstGeom prst="roundRect">
            <a:avLst>
              <a:gd name="adj" fmla="val 8000"/>
            </a:avLst>
          </a:prstGeom>
          <a:solidFill>
            <a:srgbClr val="4040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5367528" y="1554480"/>
            <a:ext cx="1481328" cy="777240"/>
          </a:xfrm>
          <a:prstGeom prst="rect">
            <a:avLst/>
          </a:prstGeom>
          <a:noFill/>
        </p:spPr>
        <p:txBody>
          <a:bodyPr wrap="square" anchor="ctr" lIns="45720" rIns="45720">
            <a:spAutoFit/>
          </a:bodyPr>
          <a:lstStyle/>
          <a:p>
            <a:pPr algn="ctr">
              <a:spcAft>
                <a:spcPts val="400"/>
              </a:spcAft>
            </a:pPr>
            <a:r>
              <a:rPr sz="1200" b="1" i="0">
                <a:solidFill>
                  <a:srgbClr val="FFFFFF"/>
                </a:solidFill>
                <a:latin typeface="Arial"/>
              </a:rPr>
              <a:t>Export shards</a:t>
            </a:r>
          </a:p>
        </p:txBody>
      </p:sp>
      <p:cxnSp>
        <p:nvCxnSpPr>
          <p:cNvPr id="17" name="Connector 16"/>
          <p:cNvCxnSpPr/>
          <p:nvPr/>
        </p:nvCxnSpPr>
        <p:spPr>
          <a:xfrm>
            <a:off x="5221224" y="1938528"/>
            <a:ext cx="137160" cy="0"/>
          </a:xfrm>
          <a:prstGeom prst="line">
            <a:avLst/>
          </a:prstGeom>
          <a:ln w="22225">
            <a:solidFill>
              <a:srgbClr val="6B6B6B"/>
            </a:solidFill>
            <a:tailEnd type="triangle"/>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7004304" y="1554480"/>
            <a:ext cx="1481328" cy="777240"/>
          </a:xfrm>
          <a:prstGeom prst="roundRect">
            <a:avLst>
              <a:gd name="adj" fmla="val 8000"/>
            </a:avLst>
          </a:prstGeom>
          <a:solidFill>
            <a:srgbClr val="4040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7004304" y="1554480"/>
            <a:ext cx="1481328" cy="777240"/>
          </a:xfrm>
          <a:prstGeom prst="rect">
            <a:avLst/>
          </a:prstGeom>
          <a:noFill/>
        </p:spPr>
        <p:txBody>
          <a:bodyPr wrap="square" anchor="ctr" lIns="45720" rIns="45720">
            <a:spAutoFit/>
          </a:bodyPr>
          <a:lstStyle/>
          <a:p>
            <a:pPr algn="ctr">
              <a:spcAft>
                <a:spcPts val="400"/>
              </a:spcAft>
            </a:pPr>
            <a:r>
              <a:rPr sz="1200" b="1" i="0">
                <a:solidFill>
                  <a:srgbClr val="FFFFFF"/>
                </a:solidFill>
                <a:latin typeface="Arial"/>
              </a:rPr>
              <a:t>Backtest</a:t>
            </a:r>
          </a:p>
        </p:txBody>
      </p:sp>
      <p:cxnSp>
        <p:nvCxnSpPr>
          <p:cNvPr id="20" name="Connector 19"/>
          <p:cNvCxnSpPr/>
          <p:nvPr/>
        </p:nvCxnSpPr>
        <p:spPr>
          <a:xfrm>
            <a:off x="6858000" y="1938528"/>
            <a:ext cx="137160" cy="0"/>
          </a:xfrm>
          <a:prstGeom prst="line">
            <a:avLst/>
          </a:prstGeom>
          <a:ln w="22225">
            <a:solidFill>
              <a:srgbClr val="6B6B6B"/>
            </a:solidFill>
            <a:tailEnd type="triangle"/>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8641080" y="1554480"/>
            <a:ext cx="1481328" cy="777240"/>
          </a:xfrm>
          <a:prstGeom prst="roundRect">
            <a:avLst>
              <a:gd name="adj" fmla="val 8000"/>
            </a:avLst>
          </a:prstGeom>
          <a:solidFill>
            <a:srgbClr val="D63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641080" y="1554480"/>
            <a:ext cx="1481328" cy="777240"/>
          </a:xfrm>
          <a:prstGeom prst="rect">
            <a:avLst/>
          </a:prstGeom>
          <a:noFill/>
        </p:spPr>
        <p:txBody>
          <a:bodyPr wrap="square" anchor="ctr" lIns="45720" rIns="45720">
            <a:spAutoFit/>
          </a:bodyPr>
          <a:lstStyle/>
          <a:p>
            <a:pPr algn="ctr">
              <a:spcAft>
                <a:spcPts val="400"/>
              </a:spcAft>
            </a:pPr>
            <a:r>
              <a:rPr sz="1200" b="1" i="0">
                <a:solidFill>
                  <a:srgbClr val="FFFFFF"/>
                </a:solidFill>
                <a:latin typeface="Arial"/>
              </a:rPr>
              <a:t>Tests + gate</a:t>
            </a:r>
          </a:p>
        </p:txBody>
      </p:sp>
      <p:cxnSp>
        <p:nvCxnSpPr>
          <p:cNvPr id="23" name="Connector 22"/>
          <p:cNvCxnSpPr/>
          <p:nvPr/>
        </p:nvCxnSpPr>
        <p:spPr>
          <a:xfrm>
            <a:off x="8494776" y="1938528"/>
            <a:ext cx="137160" cy="0"/>
          </a:xfrm>
          <a:prstGeom prst="line">
            <a:avLst/>
          </a:prstGeom>
          <a:ln w="22225">
            <a:solidFill>
              <a:srgbClr val="6B6B6B"/>
            </a:solidFill>
            <a:tailEnd type="triangle"/>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10277856" y="1554480"/>
            <a:ext cx="1481328" cy="777240"/>
          </a:xfrm>
          <a:prstGeom prst="roundRect">
            <a:avLst>
              <a:gd name="adj" fmla="val 8000"/>
            </a:avLst>
          </a:prstGeom>
          <a:solidFill>
            <a:srgbClr val="4040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277856" y="1554480"/>
            <a:ext cx="1481328" cy="777240"/>
          </a:xfrm>
          <a:prstGeom prst="rect">
            <a:avLst/>
          </a:prstGeom>
          <a:noFill/>
        </p:spPr>
        <p:txBody>
          <a:bodyPr wrap="square" anchor="ctr" lIns="45720" rIns="45720">
            <a:spAutoFit/>
          </a:bodyPr>
          <a:lstStyle/>
          <a:p>
            <a:pPr algn="ctr">
              <a:spcAft>
                <a:spcPts val="400"/>
              </a:spcAft>
            </a:pPr>
            <a:r>
              <a:rPr sz="1200" b="1" i="0">
                <a:solidFill>
                  <a:srgbClr val="FFFFFF"/>
                </a:solidFill>
                <a:latin typeface="Arial"/>
              </a:rPr>
              <a:t>Commit + deploy</a:t>
            </a:r>
          </a:p>
        </p:txBody>
      </p:sp>
      <p:cxnSp>
        <p:nvCxnSpPr>
          <p:cNvPr id="26" name="Connector 25"/>
          <p:cNvCxnSpPr/>
          <p:nvPr/>
        </p:nvCxnSpPr>
        <p:spPr>
          <a:xfrm>
            <a:off x="10131552" y="1938528"/>
            <a:ext cx="137160" cy="0"/>
          </a:xfrm>
          <a:prstGeom prst="line">
            <a:avLst/>
          </a:prstGeom>
          <a:ln w="22225">
            <a:solidFill>
              <a:srgbClr val="6B6B6B"/>
            </a:solidFill>
            <a:tailEnd type="triangle"/>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457200" y="2423160"/>
            <a:ext cx="11247120" cy="365760"/>
          </a:xfrm>
          <a:prstGeom prst="rect">
            <a:avLst/>
          </a:prstGeom>
          <a:noFill/>
        </p:spPr>
        <p:txBody>
          <a:bodyPr wrap="square" anchor="t" lIns="45720" rIns="45720">
            <a:spAutoFit/>
          </a:bodyPr>
          <a:lstStyle/>
          <a:p>
            <a:pPr algn="l">
              <a:spcAft>
                <a:spcPts val="400"/>
              </a:spcAft>
            </a:pPr>
            <a:r>
              <a:rPr sz="1100" b="0" i="0">
                <a:solidFill>
                  <a:srgbClr val="6B6B6B"/>
                </a:solidFill>
                <a:latin typeface="Arial"/>
              </a:rPr>
              <a:t>retrain.yml · cron 30 21 * * * (03:00 IST) · the Pages deploy is called directly after the commit</a:t>
            </a:r>
          </a:p>
        </p:txBody>
      </p:sp>
      <p:sp>
        <p:nvSpPr>
          <p:cNvPr id="28" name="Rounded Rectangle 27"/>
          <p:cNvSpPr/>
          <p:nvPr/>
        </p:nvSpPr>
        <p:spPr>
          <a:xfrm>
            <a:off x="457200" y="2971800"/>
            <a:ext cx="3657600" cy="265176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640080" y="3154680"/>
            <a:ext cx="384048" cy="384048"/>
          </a:xfrm>
          <a:prstGeom prst="ellipse">
            <a:avLst/>
          </a:prstGeom>
          <a:solidFill>
            <a:srgbClr val="D63B4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Arial"/>
              </a:rPr>
              <a:t>✓</a:t>
            </a:r>
          </a:p>
        </p:txBody>
      </p:sp>
      <p:sp>
        <p:nvSpPr>
          <p:cNvPr id="30" name="TextBox 29"/>
          <p:cNvSpPr txBox="1"/>
          <p:nvPr/>
        </p:nvSpPr>
        <p:spPr>
          <a:xfrm>
            <a:off x="1143000" y="3108960"/>
            <a:ext cx="2834640" cy="640080"/>
          </a:xfrm>
          <a:prstGeom prst="rect">
            <a:avLst/>
          </a:prstGeom>
          <a:noFill/>
        </p:spPr>
        <p:txBody>
          <a:bodyPr wrap="square" anchor="ctr" lIns="45720" rIns="45720">
            <a:spAutoFit/>
          </a:bodyPr>
          <a:lstStyle/>
          <a:p>
            <a:pPr algn="l">
              <a:spcAft>
                <a:spcPts val="400"/>
              </a:spcAft>
            </a:pPr>
            <a:r>
              <a:rPr sz="1500" b="1" i="0">
                <a:solidFill>
                  <a:srgbClr val="333333"/>
                </a:solidFill>
                <a:latin typeface="Arial"/>
              </a:rPr>
              <a:t>Regression gate</a:t>
            </a:r>
          </a:p>
        </p:txBody>
      </p:sp>
      <p:sp>
        <p:nvSpPr>
          <p:cNvPr id="31" name="TextBox 30"/>
          <p:cNvSpPr txBox="1"/>
          <p:nvPr/>
        </p:nvSpPr>
        <p:spPr>
          <a:xfrm>
            <a:off x="640080" y="3840480"/>
            <a:ext cx="3291840" cy="1691639"/>
          </a:xfrm>
          <a:prstGeom prst="rect">
            <a:avLst/>
          </a:prstGeom>
          <a:noFill/>
        </p:spPr>
        <p:txBody>
          <a:bodyPr wrap="square" anchor="t" lIns="45720" rIns="45720">
            <a:spAutoFit/>
          </a:bodyPr>
          <a:lstStyle/>
          <a:p>
            <a:pPr algn="l">
              <a:spcAft>
                <a:spcPts val="800"/>
              </a:spcAft>
            </a:pPr>
            <a:r>
              <a:rPr sz="1300" b="0" i="0">
                <a:solidFill>
                  <a:srgbClr val="333333"/>
                </a:solidFill>
                <a:latin typeface="Arial"/>
              </a:rPr>
              <a:t>The nightly model is published only if test AUC &gt; 0.80 on real data, the backtest exists and the Python/JavaScript parity tests pass.</a:t>
            </a:r>
          </a:p>
          <a:p>
            <a:pPr algn="l">
              <a:spcAft>
                <a:spcPts val="400"/>
              </a:spcAft>
            </a:pPr>
            <a:r>
              <a:rPr sz="1200" b="0" i="0">
                <a:solidFill>
                  <a:srgbClr val="6B6B6B"/>
                </a:solidFill>
                <a:latin typeface="Arial"/>
              </a:rPr>
              <a:t>A failed gate keeps yesterday's model online.</a:t>
            </a:r>
          </a:p>
        </p:txBody>
      </p:sp>
      <p:sp>
        <p:nvSpPr>
          <p:cNvPr id="32" name="Rounded Rectangle 31"/>
          <p:cNvSpPr/>
          <p:nvPr/>
        </p:nvSpPr>
        <p:spPr>
          <a:xfrm>
            <a:off x="4297680" y="2971800"/>
            <a:ext cx="3657600" cy="265176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4480560" y="3154680"/>
            <a:ext cx="384048" cy="384048"/>
          </a:xfrm>
          <a:prstGeom prst="ellipse">
            <a:avLst/>
          </a:prstGeom>
          <a:solidFill>
            <a:srgbClr val="1B99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Arial"/>
              </a:rPr>
              <a:t>=</a:t>
            </a:r>
          </a:p>
        </p:txBody>
      </p:sp>
      <p:sp>
        <p:nvSpPr>
          <p:cNvPr id="34" name="TextBox 33"/>
          <p:cNvSpPr txBox="1"/>
          <p:nvPr/>
        </p:nvSpPr>
        <p:spPr>
          <a:xfrm>
            <a:off x="4983480" y="3108960"/>
            <a:ext cx="2834640" cy="640080"/>
          </a:xfrm>
          <a:prstGeom prst="rect">
            <a:avLst/>
          </a:prstGeom>
          <a:noFill/>
        </p:spPr>
        <p:txBody>
          <a:bodyPr wrap="square" anchor="ctr" lIns="45720" rIns="45720">
            <a:spAutoFit/>
          </a:bodyPr>
          <a:lstStyle/>
          <a:p>
            <a:pPr algn="l">
              <a:spcAft>
                <a:spcPts val="400"/>
              </a:spcAft>
            </a:pPr>
            <a:r>
              <a:rPr sz="1500" b="1" i="0">
                <a:solidFill>
                  <a:srgbClr val="333333"/>
                </a:solidFill>
                <a:latin typeface="Arial"/>
              </a:rPr>
              <a:t>One formula, two engines</a:t>
            </a:r>
          </a:p>
        </p:txBody>
      </p:sp>
      <p:sp>
        <p:nvSpPr>
          <p:cNvPr id="35" name="TextBox 34"/>
          <p:cNvSpPr txBox="1"/>
          <p:nvPr/>
        </p:nvSpPr>
        <p:spPr>
          <a:xfrm>
            <a:off x="4480560" y="3840480"/>
            <a:ext cx="3291840" cy="1691639"/>
          </a:xfrm>
          <a:prstGeom prst="rect">
            <a:avLst/>
          </a:prstGeom>
          <a:noFill/>
        </p:spPr>
        <p:txBody>
          <a:bodyPr wrap="square" anchor="t" lIns="45720" rIns="45720">
            <a:spAutoFit/>
          </a:bodyPr>
          <a:lstStyle/>
          <a:p>
            <a:pPr algn="l">
              <a:spcAft>
                <a:spcPts val="800"/>
              </a:spcAft>
            </a:pPr>
            <a:r>
              <a:rPr sz="1200" b="0" i="0">
                <a:solidFill>
                  <a:srgbClr val="333333"/>
                </a:solidFill>
                <a:latin typeface="Arial"/>
              </a:rPr>
              <a:t>engine/scoring.py (backtest, API) and site/engine.js (browser) are checked for identical scores on every push (tests.yml).</a:t>
            </a:r>
          </a:p>
          <a:p>
            <a:pPr algn="l">
              <a:spcAft>
                <a:spcPts val="400"/>
              </a:spcAft>
            </a:pPr>
            <a:r>
              <a:rPr sz="1200" b="0" i="0">
                <a:solidFill>
                  <a:srgbClr val="6B6B6B"/>
                </a:solidFill>
                <a:latin typeface="Arial"/>
              </a:rPr>
              <a:t>Leakage traps and the backtest answer key are tested too.</a:t>
            </a:r>
          </a:p>
        </p:txBody>
      </p:sp>
      <p:sp>
        <p:nvSpPr>
          <p:cNvPr id="36" name="Rounded Rectangle 35"/>
          <p:cNvSpPr/>
          <p:nvPr/>
        </p:nvSpPr>
        <p:spPr>
          <a:xfrm>
            <a:off x="8138160" y="2971800"/>
            <a:ext cx="3611880" cy="265176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Oval 36"/>
          <p:cNvSpPr/>
          <p:nvPr/>
        </p:nvSpPr>
        <p:spPr>
          <a:xfrm>
            <a:off x="8321040" y="3154680"/>
            <a:ext cx="384048" cy="384048"/>
          </a:xfrm>
          <a:prstGeom prst="ellipse">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Arial"/>
              </a:rPr>
              <a:t>{}</a:t>
            </a:r>
          </a:p>
        </p:txBody>
      </p:sp>
      <p:sp>
        <p:nvSpPr>
          <p:cNvPr id="38" name="TextBox 37"/>
          <p:cNvSpPr txBox="1"/>
          <p:nvPr/>
        </p:nvSpPr>
        <p:spPr>
          <a:xfrm>
            <a:off x="8823960" y="3108960"/>
            <a:ext cx="2788920" cy="640080"/>
          </a:xfrm>
          <a:prstGeom prst="rect">
            <a:avLst/>
          </a:prstGeom>
          <a:noFill/>
        </p:spPr>
        <p:txBody>
          <a:bodyPr wrap="square" anchor="ctr" lIns="45720" rIns="45720">
            <a:spAutoFit/>
          </a:bodyPr>
          <a:lstStyle/>
          <a:p>
            <a:pPr algn="l">
              <a:spcAft>
                <a:spcPts val="400"/>
              </a:spcAft>
            </a:pPr>
            <a:r>
              <a:rPr sz="1500" b="1" i="0">
                <a:solidFill>
                  <a:srgbClr val="333333"/>
                </a:solidFill>
                <a:latin typeface="Arial"/>
              </a:rPr>
              <a:t>REST API (FastAPI + Docker)</a:t>
            </a:r>
          </a:p>
        </p:txBody>
      </p:sp>
      <p:sp>
        <p:nvSpPr>
          <p:cNvPr id="39" name="TextBox 38"/>
          <p:cNvSpPr txBox="1"/>
          <p:nvPr/>
        </p:nvSpPr>
        <p:spPr>
          <a:xfrm>
            <a:off x="8321040" y="3840480"/>
            <a:ext cx="3246120" cy="1691639"/>
          </a:xfrm>
          <a:prstGeom prst="rect">
            <a:avLst/>
          </a:prstGeom>
          <a:noFill/>
        </p:spPr>
        <p:txBody>
          <a:bodyPr wrap="square" anchor="t" lIns="45720" rIns="45720">
            <a:spAutoFit/>
          </a:bodyPr>
          <a:lstStyle/>
          <a:p>
            <a:pPr algn="l">
              <a:spcAft>
                <a:spcPts val="800"/>
              </a:spcAft>
            </a:pPr>
            <a:r>
              <a:rPr sz="1200" b="0" i="0">
                <a:solidFill>
                  <a:srgbClr val="333333"/>
                </a:solidFill>
                <a:latin typeface="Arial"/>
              </a:rPr>
              <a:t>POST /score: SBOM + scan (+ asset context) → ranked list with all three scores and top features.</a:t>
            </a:r>
          </a:p>
          <a:p>
            <a:pPr algn="l">
              <a:spcAft>
                <a:spcPts val="400"/>
              </a:spcAft>
            </a:pPr>
            <a:r>
              <a:rPr sz="1100" b="0" i="0">
                <a:solidFill>
                  <a:srgbClr val="6B6B6B"/>
                </a:solidFill>
                <a:latin typeface="Arial"/>
              </a:rPr>
              <a:t>docker run -p 8080:8080 sbom-risk-engine → Swagger UI at /docs</a:t>
            </a:r>
          </a:p>
        </p:txBody>
      </p:sp>
    </p:spTree>
    <p:extLst>
      <p:ext uri="{BB962C8B-B14F-4D97-AF65-F5344CB8AC3E}">
        <p14:creationId xmlns:p14="http://schemas.microsoft.com/office/powerpoint/2010/main" val="1564373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a:bodyPr>
          <a:lstStyle/>
          <a:p>
            <a:r>
              <a:rPr lang="en-US" sz="3600" dirty="0">
                <a:cs typeface="Arial" panose="020B0604020202020204" pitchFamily="34" charset="0"/>
              </a:rPr>
              <a:t>Outcomes against the Cap-1 Expectations</a:t>
            </a:r>
            <a:endParaRPr lang="en-IN" dirty="0"/>
          </a:p>
        </p:txBody>
      </p:sp>
      <p:sp>
        <p:nvSpPr>
          <p:cNvPr id="4" name="Date Placeholder 3">
            <a:extLst>
              <a:ext uri="{FF2B5EF4-FFF2-40B4-BE49-F238E27FC236}">
                <a16:creationId xmlns:a16="http://schemas.microsoft.com/office/drawing/2014/main" id="{3B3A3D7D-7812-0881-D790-3DDAE3C8D1EF}"/>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Roboto Slab"/>
                <a:ea typeface="+mn-ea"/>
                <a:cs typeface="+mn-cs"/>
              </a:rPr>
              <a:t>10th October 2026</a:t>
            </a:r>
            <a:endParaRPr kumimoji="0" lang="en-US" sz="1200" b="0" i="0" u="none" strike="noStrike" kern="1200" cap="none" spc="0" normalizeH="0" baseline="0" noProof="0">
              <a:ln>
                <a:noFill/>
              </a:ln>
              <a:solidFill>
                <a:prstClr val="black">
                  <a:tint val="75000"/>
                </a:prstClr>
              </a:solidFill>
              <a:effectLst/>
              <a:uLnTx/>
              <a:uFillTx/>
              <a:latin typeface="Roboto Slab"/>
              <a:ea typeface="+mn-ea"/>
              <a:cs typeface="+mn-cs"/>
            </a:endParaRPr>
          </a:p>
        </p:txBody>
      </p:sp>
      <p:sp>
        <p:nvSpPr>
          <p:cNvPr id="2" name="Footer Placeholder 1">
            <a:extLst>
              <a:ext uri="{FF2B5EF4-FFF2-40B4-BE49-F238E27FC236}">
                <a16:creationId xmlns:a16="http://schemas.microsoft.com/office/drawing/2014/main" id="{4318A742-B1D7-F86D-DFA9-2A323A4357B9}"/>
              </a:ext>
            </a:extLst>
          </p:cNvPr>
          <p:cNvSpPr>
            <a:spLocks noGrp="1"/>
          </p:cNvSpPr>
          <p:nvPr>
            <p:ph type="ftr" sz="quarter" idx="3"/>
          </p:nvPr>
        </p:nvSpPr>
        <p:spPr/>
        <p:txBody>
          <a:bodyPr/>
          <a:lstStyle/>
          <a:p>
            <a:pPr>
              <a:defRPr/>
            </a:pPr>
            <a:r>
              <a:rPr lang="en-US">
                <a:solidFill>
                  <a:prstClr val="black">
                    <a:tint val="75000"/>
                  </a:prstClr>
                </a:solidFill>
              </a:rPr>
              <a:t>REVA Academy for Corporate Excellence – RACE | race.reva.edu.in</a:t>
            </a:r>
            <a:endParaRPr lang="en-US" dirty="0">
              <a:solidFill>
                <a:prstClr val="black">
                  <a:tint val="75000"/>
                </a:prstClr>
              </a:solidFill>
            </a:endParaRPr>
          </a:p>
        </p:txBody>
      </p:sp>
      <p:sp>
        <p:nvSpPr>
          <p:cNvPr id="3" name="Slide Number Placeholder 5">
            <a:extLst>
              <a:ext uri="{FF2B5EF4-FFF2-40B4-BE49-F238E27FC236}">
                <a16:creationId xmlns:a16="http://schemas.microsoft.com/office/drawing/2014/main" id="{141D4B1C-6AE4-A8F2-E9FA-BC79218EF321}"/>
              </a:ext>
            </a:extLst>
          </p:cNvPr>
          <p:cNvSpPr>
            <a:spLocks noGrp="1"/>
          </p:cNvSpPr>
          <p:nvPr>
            <p:ph type="sldNum" sz="quarter" idx="12"/>
          </p:nvPr>
        </p:nvSpPr>
        <p:spPr>
          <a:xfrm>
            <a:off x="9194324" y="6382786"/>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latin typeface="Roboto Slab"/>
              </a:rPr>
              <a:t>14/16</a:t>
            </a:r>
          </a:p>
        </p:txBody>
      </p:sp>
      <p:graphicFrame>
        <p:nvGraphicFramePr>
          <p:cNvPr id="6" name="Table 5"/>
          <p:cNvGraphicFramePr>
            <a:graphicFrameLocks noGrp="1"/>
          </p:cNvGraphicFramePr>
          <p:nvPr/>
        </p:nvGraphicFramePr>
        <p:xfrm>
          <a:off x="457200" y="1600200"/>
          <a:ext cx="11292840" cy="2834640"/>
        </p:xfrm>
        <a:graphic>
          <a:graphicData uri="http://schemas.openxmlformats.org/drawingml/2006/table">
            <a:tbl>
              <a:tblPr firstRow="1" bandRow="1">
                <a:tableStyleId>{5C22544A-7EE6-4342-B048-85BDC9FD1C3A}</a:tableStyleId>
              </a:tblPr>
              <a:tblGrid>
                <a:gridCol w="3291840"/>
                <a:gridCol w="6309360"/>
                <a:gridCol w="1691640"/>
              </a:tblGrid>
              <a:tr h="566928">
                <a:tc>
                  <a:txBody>
                    <a:bodyPr wrap="square"/>
                    <a:lstStyle/>
                    <a:p>
                      <a:pPr algn="l"/>
                      <a:r>
                        <a:rPr sz="1200" b="1">
                          <a:solidFill>
                            <a:srgbClr val="FFFFFF"/>
                          </a:solidFill>
                          <a:latin typeface="Arial"/>
                        </a:rPr>
                        <a:t>Cap-1 expected result</a:t>
                      </a:r>
                    </a:p>
                  </a:txBody>
                  <a:tcPr marL="73152" marR="73152" marT="27432" marB="27432" anchor="ctr">
                    <a:solidFill>
                      <a:srgbClr val="404040"/>
                    </a:solidFill>
                  </a:tcPr>
                </a:tc>
                <a:tc>
                  <a:txBody>
                    <a:bodyPr wrap="square"/>
                    <a:lstStyle/>
                    <a:p>
                      <a:pPr algn="ctr"/>
                      <a:r>
                        <a:rPr sz="1200" b="1">
                          <a:solidFill>
                            <a:srgbClr val="FFFFFF"/>
                          </a:solidFill>
                          <a:latin typeface="Arial"/>
                        </a:rPr>
                        <a:t>What Cap-2 measured</a:t>
                      </a:r>
                    </a:p>
                  </a:txBody>
                  <a:tcPr marL="73152" marR="73152" marT="27432" marB="27432" anchor="ctr">
                    <a:solidFill>
                      <a:srgbClr val="404040"/>
                    </a:solidFill>
                  </a:tcPr>
                </a:tc>
                <a:tc>
                  <a:txBody>
                    <a:bodyPr wrap="square"/>
                    <a:lstStyle/>
                    <a:p>
                      <a:pPr algn="ctr"/>
                      <a:r>
                        <a:rPr sz="1200" b="1">
                          <a:solidFill>
                            <a:srgbClr val="FFFFFF"/>
                          </a:solidFill>
                          <a:latin typeface="Arial"/>
                        </a:rPr>
                        <a:t>Evidence</a:t>
                      </a:r>
                    </a:p>
                  </a:txBody>
                  <a:tcPr marL="73152" marR="73152" marT="27432" marB="27432" anchor="ctr">
                    <a:solidFill>
                      <a:srgbClr val="404040"/>
                    </a:solidFill>
                  </a:tcPr>
                </a:tc>
              </a:tr>
              <a:tr h="566928">
                <a:tc>
                  <a:txBody>
                    <a:bodyPr wrap="square"/>
                    <a:lstStyle/>
                    <a:p>
                      <a:pPr algn="l"/>
                      <a:r>
                        <a:rPr sz="1200" b="0">
                          <a:solidFill>
                            <a:srgbClr val="333333"/>
                          </a:solidFill>
                          <a:latin typeface="Arial"/>
                        </a:rPr>
                        <a:t>Smarter identification of prioritized vulnerabilities</a:t>
                      </a:r>
                    </a:p>
                  </a:txBody>
                  <a:tcPr marL="73152" marR="73152" marT="27432" marB="27432" anchor="ctr">
                    <a:solidFill>
                      <a:srgbClr val="FFFFFF"/>
                    </a:solidFill>
                  </a:tcPr>
                </a:tc>
                <a:tc>
                  <a:txBody>
                    <a:bodyPr wrap="square"/>
                    <a:lstStyle/>
                    <a:p>
                      <a:pPr algn="ctr"/>
                      <a:r>
                        <a:rPr sz="1200" b="0">
                          <a:solidFill>
                            <a:srgbClr val="333333"/>
                          </a:solidFill>
                          <a:latin typeface="Arial"/>
                        </a:rPr>
                        <a:t>Model without EPSS: test AUC 0.915 vs CVSS 0.765</a:t>
                      </a:r>
                    </a:p>
                  </a:txBody>
                  <a:tcPr marL="73152" marR="73152" marT="27432" marB="27432" anchor="ctr">
                    <a:solidFill>
                      <a:srgbClr val="FFFFFF"/>
                    </a:solidFill>
                  </a:tcPr>
                </a:tc>
                <a:tc>
                  <a:txBody>
                    <a:bodyPr wrap="square"/>
                    <a:lstStyle/>
                    <a:p>
                      <a:pPr algn="ctr"/>
                      <a:r>
                        <a:rPr sz="1200" b="0">
                          <a:solidFill>
                            <a:srgbClr val="333333"/>
                          </a:solidFill>
                          <a:latin typeface="Arial"/>
                        </a:rPr>
                        <a:t>Table 1</a:t>
                      </a:r>
                    </a:p>
                  </a:txBody>
                  <a:tcPr marL="73152" marR="73152" marT="27432" marB="27432" anchor="ctr">
                    <a:solidFill>
                      <a:srgbClr val="FFFFFF"/>
                    </a:solidFill>
                  </a:tcPr>
                </a:tc>
              </a:tr>
              <a:tr h="566928">
                <a:tc>
                  <a:txBody>
                    <a:bodyPr wrap="square"/>
                    <a:lstStyle/>
                    <a:p>
                      <a:pPr algn="l"/>
                      <a:r>
                        <a:rPr sz="1200" b="0">
                          <a:solidFill>
                            <a:srgbClr val="333333"/>
                          </a:solidFill>
                          <a:latin typeface="Arial"/>
                        </a:rPr>
                        <a:t>Reduction in patch workload</a:t>
                      </a:r>
                    </a:p>
                  </a:txBody>
                  <a:tcPr marL="73152" marR="73152" marT="27432" marB="27432" anchor="ctr">
                    <a:solidFill>
                      <a:srgbClr val="F2F2F2"/>
                    </a:solidFill>
                  </a:tcPr>
                </a:tc>
                <a:tc>
                  <a:txBody>
                    <a:bodyPr wrap="square"/>
                    <a:lstStyle/>
                    <a:p>
                      <a:pPr algn="ctr"/>
                      <a:r>
                        <a:rPr sz="1200" b="0">
                          <a:solidFill>
                            <a:srgbClr val="333333"/>
                          </a:solidFill>
                          <a:latin typeface="Arial"/>
                        </a:rPr>
                        <a:t>Mean rank of later-exploited CVEs 19.3k (ours) vs 42.1k (CVSS); effort to cover 90%: 36.7% vs 53.1%</a:t>
                      </a:r>
                    </a:p>
                  </a:txBody>
                  <a:tcPr marL="73152" marR="73152" marT="27432" marB="27432" anchor="ctr">
                    <a:solidFill>
                      <a:srgbClr val="F2F2F2"/>
                    </a:solidFill>
                  </a:tcPr>
                </a:tc>
                <a:tc>
                  <a:txBody>
                    <a:bodyPr wrap="square"/>
                    <a:lstStyle/>
                    <a:p>
                      <a:pPr algn="ctr"/>
                      <a:r>
                        <a:rPr sz="1200" b="0">
                          <a:solidFill>
                            <a:srgbClr val="333333"/>
                          </a:solidFill>
                          <a:latin typeface="Arial"/>
                        </a:rPr>
                        <a:t>Table 2</a:t>
                      </a:r>
                    </a:p>
                  </a:txBody>
                  <a:tcPr marL="73152" marR="73152" marT="27432" marB="27432" anchor="ctr">
                    <a:solidFill>
                      <a:srgbClr val="F2F2F2"/>
                    </a:solidFill>
                  </a:tcPr>
                </a:tc>
              </a:tr>
              <a:tr h="566928">
                <a:tc>
                  <a:txBody>
                    <a:bodyPr wrap="square"/>
                    <a:lstStyle/>
                    <a:p>
                      <a:pPr algn="l"/>
                      <a:r>
                        <a:rPr sz="1200" b="0">
                          <a:solidFill>
                            <a:srgbClr val="333333"/>
                          </a:solidFill>
                          <a:latin typeface="Arial"/>
                        </a:rPr>
                        <a:t>Reduction in MTTR</a:t>
                      </a:r>
                    </a:p>
                  </a:txBody>
                  <a:tcPr marL="73152" marR="73152" marT="27432" marB="27432" anchor="ctr">
                    <a:solidFill>
                      <a:srgbClr val="FFFFFF"/>
                    </a:solidFill>
                  </a:tcPr>
                </a:tc>
                <a:tc>
                  <a:txBody>
                    <a:bodyPr wrap="square"/>
                    <a:lstStyle/>
                    <a:p>
                      <a:pPr algn="ctr"/>
                      <a:r>
                        <a:rPr sz="1200" b="0">
                          <a:solidFill>
                            <a:srgbClr val="333333"/>
                          </a:solidFill>
                          <a:latin typeface="Arial"/>
                        </a:rPr>
                        <a:t>Not measurable without remediation timestamps — dropped as a claim</a:t>
                      </a:r>
                    </a:p>
                  </a:txBody>
                  <a:tcPr marL="73152" marR="73152" marT="27432" marB="27432" anchor="ctr">
                    <a:solidFill>
                      <a:srgbClr val="FFFFFF"/>
                    </a:solidFill>
                  </a:tcPr>
                </a:tc>
                <a:tc>
                  <a:txBody>
                    <a:bodyPr wrap="square"/>
                    <a:lstStyle/>
                    <a:p>
                      <a:pPr algn="ctr"/>
                      <a:r>
                        <a:rPr sz="1200" b="0">
                          <a:solidFill>
                            <a:srgbClr val="333333"/>
                          </a:solidFill>
                          <a:latin typeface="Arial"/>
                        </a:rPr>
                        <a:t>Limitations</a:t>
                      </a:r>
                    </a:p>
                  </a:txBody>
                  <a:tcPr marL="73152" marR="73152" marT="27432" marB="27432" anchor="ctr">
                    <a:solidFill>
                      <a:srgbClr val="FFFFFF"/>
                    </a:solidFill>
                  </a:tcPr>
                </a:tc>
              </a:tr>
              <a:tr h="566928">
                <a:tc>
                  <a:txBody>
                    <a:bodyPr wrap="square"/>
                    <a:lstStyle/>
                    <a:p>
                      <a:pPr algn="l"/>
                      <a:r>
                        <a:rPr sz="1200" b="0">
                          <a:solidFill>
                            <a:srgbClr val="333333"/>
                          </a:solidFill>
                          <a:latin typeface="Arial"/>
                        </a:rPr>
                        <a:t>Improved risk visibility</a:t>
                      </a:r>
                    </a:p>
                  </a:txBody>
                  <a:tcPr marL="73152" marR="73152" marT="27432" marB="27432" anchor="ctr">
                    <a:solidFill>
                      <a:srgbClr val="F2F2F2"/>
                    </a:solidFill>
                  </a:tcPr>
                </a:tc>
                <a:tc>
                  <a:txBody>
                    <a:bodyPr wrap="square"/>
                    <a:lstStyle/>
                    <a:p>
                      <a:pPr algn="ctr"/>
                      <a:r>
                        <a:rPr sz="1200" b="0">
                          <a:solidFill>
                            <a:srgbClr val="333333"/>
                          </a:solidFill>
                          <a:latin typeface="Arial"/>
                        </a:rPr>
                        <a:t>Per-finding breakdown, top features, live intel badges, three-way toggle</a:t>
                      </a:r>
                    </a:p>
                  </a:txBody>
                  <a:tcPr marL="73152" marR="73152" marT="27432" marB="27432" anchor="ctr">
                    <a:solidFill>
                      <a:srgbClr val="F2F2F2"/>
                    </a:solidFill>
                  </a:tcPr>
                </a:tc>
                <a:tc>
                  <a:txBody>
                    <a:bodyPr wrap="square"/>
                    <a:lstStyle/>
                    <a:p>
                      <a:pPr algn="ctr"/>
                      <a:r>
                        <a:rPr sz="1200" b="0">
                          <a:solidFill>
                            <a:srgbClr val="333333"/>
                          </a:solidFill>
                          <a:latin typeface="Arial"/>
                        </a:rPr>
                        <a:t>Dashboard</a:t>
                      </a:r>
                    </a:p>
                  </a:txBody>
                  <a:tcPr marL="73152" marR="73152" marT="27432" marB="27432" anchor="ctr">
                    <a:solidFill>
                      <a:srgbClr val="F2F2F2"/>
                    </a:solidFill>
                  </a:tcPr>
                </a:tc>
              </a:tr>
            </a:tbl>
          </a:graphicData>
        </a:graphic>
      </p:graphicFrame>
      <p:sp>
        <p:nvSpPr>
          <p:cNvPr id="7" name="TextBox 6"/>
          <p:cNvSpPr txBox="1"/>
          <p:nvPr/>
        </p:nvSpPr>
        <p:spPr>
          <a:xfrm>
            <a:off x="457200" y="4709160"/>
            <a:ext cx="11292840" cy="1280160"/>
          </a:xfrm>
          <a:prstGeom prst="rect">
            <a:avLst/>
          </a:prstGeom>
          <a:noFill/>
        </p:spPr>
        <p:txBody>
          <a:bodyPr wrap="square" anchor="t" lIns="45720" rIns="45720">
            <a:spAutoFit/>
          </a:bodyPr>
          <a:lstStyle/>
          <a:p>
            <a:pPr algn="l">
              <a:spcAft>
                <a:spcPts val="400"/>
              </a:spcAft>
            </a:pPr>
            <a:r>
              <a:rPr sz="1300" b="1" i="0">
                <a:solidFill>
                  <a:srgbClr val="333333"/>
                </a:solidFill>
                <a:latin typeface="Arial"/>
              </a:rPr>
              <a:t>Rule used for this deck: every claim points at a number in Tables 1–3 or at the running system.</a:t>
            </a:r>
          </a:p>
          <a:p>
            <a:pPr algn="l">
              <a:spcAft>
                <a:spcPts val="400"/>
              </a:spcAft>
            </a:pPr>
            <a:r>
              <a:rPr sz="1100" b="0" i="0">
                <a:solidFill>
                  <a:srgbClr val="6B6B6B"/>
                </a:solidFill>
                <a:latin typeface="Arial"/>
              </a:rPr>
              <a:t>Numbers are read from site/model_meta.json and site/backtest.json by scripts/build_deck.py · results snapshot v1.0-cap2 · generated 2026-09-24</a:t>
            </a:r>
          </a:p>
        </p:txBody>
      </p:sp>
    </p:spTree>
    <p:extLst>
      <p:ext uri="{BB962C8B-B14F-4D97-AF65-F5344CB8AC3E}">
        <p14:creationId xmlns:p14="http://schemas.microsoft.com/office/powerpoint/2010/main" val="35108274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1AFB0D-B6BF-17A1-5083-D53D1C7FC77C}"/>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BA7B6815-C78F-C537-5A38-1CF8A9D56589}"/>
              </a:ext>
            </a:extLst>
          </p:cNvPr>
          <p:cNvSpPr>
            <a:spLocks noGrp="1"/>
          </p:cNvSpPr>
          <p:nvPr>
            <p:ph type="title"/>
          </p:nvPr>
        </p:nvSpPr>
        <p:spPr/>
        <p:txBody>
          <a:bodyPr>
            <a:normAutofit/>
          </a:bodyPr>
          <a:lstStyle/>
          <a:p>
            <a:r>
              <a:rPr lang="en-US" sz="3600" dirty="0">
                <a:cs typeface="Arial" panose="020B0604020202020204" pitchFamily="34" charset="0"/>
              </a:rPr>
              <a:t>Limitations and Future Work</a:t>
            </a:r>
            <a:endParaRPr lang="en-IN" dirty="0"/>
          </a:p>
        </p:txBody>
      </p:sp>
      <p:sp>
        <p:nvSpPr>
          <p:cNvPr id="4" name="Date Placeholder 3">
            <a:extLst>
              <a:ext uri="{FF2B5EF4-FFF2-40B4-BE49-F238E27FC236}">
                <a16:creationId xmlns:a16="http://schemas.microsoft.com/office/drawing/2014/main" id="{B81F57BA-F00B-F8C5-25C8-23E2885C9E24}"/>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schemeClr val="tx1"/>
                </a:solidFill>
                <a:effectLst/>
                <a:uLnTx/>
                <a:uFillTx/>
                <a:latin typeface="Roboto Slab"/>
                <a:ea typeface="+mn-ea"/>
                <a:cs typeface="+mn-cs"/>
              </a:rPr>
              <a:t>10th October 2026</a:t>
            </a:r>
            <a:endParaRPr kumimoji="0" lang="en-US" sz="1200" b="0" i="0" u="none" strike="noStrike" kern="1200" cap="none" spc="0" normalizeH="0" baseline="0" noProof="0" dirty="0">
              <a:ln>
                <a:noFill/>
              </a:ln>
              <a:solidFill>
                <a:schemeClr val="tx1"/>
              </a:solidFill>
              <a:effectLst/>
              <a:uLnTx/>
              <a:uFillTx/>
              <a:latin typeface="Roboto Slab"/>
              <a:ea typeface="+mn-ea"/>
              <a:cs typeface="+mn-cs"/>
            </a:endParaRPr>
          </a:p>
        </p:txBody>
      </p:sp>
      <p:sp>
        <p:nvSpPr>
          <p:cNvPr id="6" name="Slide Number Placeholder 5">
            <a:extLst>
              <a:ext uri="{FF2B5EF4-FFF2-40B4-BE49-F238E27FC236}">
                <a16:creationId xmlns:a16="http://schemas.microsoft.com/office/drawing/2014/main" id="{0F793F2A-7EE2-ED4A-3A00-B6A8A492B5A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latin typeface="Roboto Slab"/>
              </a:rPr>
              <a:t>15/16</a:t>
            </a:r>
          </a:p>
        </p:txBody>
      </p:sp>
      <p:sp>
        <p:nvSpPr>
          <p:cNvPr id="2" name="Footer Placeholder 1">
            <a:extLst>
              <a:ext uri="{FF2B5EF4-FFF2-40B4-BE49-F238E27FC236}">
                <a16:creationId xmlns:a16="http://schemas.microsoft.com/office/drawing/2014/main" id="{38C9784C-F8E2-45C6-7051-69C00F20FDA3}"/>
              </a:ext>
            </a:extLst>
          </p:cNvPr>
          <p:cNvSpPr>
            <a:spLocks noGrp="1"/>
          </p:cNvSpPr>
          <p:nvPr>
            <p:ph type="ftr" sz="quarter" idx="3"/>
          </p:nvPr>
        </p:nvSpPr>
        <p:spPr/>
        <p:txBody>
          <a:bodyPr/>
          <a:lstStyle/>
          <a:p>
            <a:pPr algn="r">
              <a:defRPr/>
            </a:pPr>
            <a:r>
              <a:rPr lang="en-US">
                <a:solidFill>
                  <a:schemeClr val="tx1"/>
                </a:solidFill>
              </a:rPr>
              <a:t>REVA Academy for Corporate Excellence – RACE | race.reva.edu.in</a:t>
            </a:r>
            <a:endParaRPr lang="en-US" dirty="0">
              <a:solidFill>
                <a:schemeClr val="tx1"/>
              </a:solidFill>
            </a:endParaRPr>
          </a:p>
        </p:txBody>
      </p:sp>
      <p:sp>
        <p:nvSpPr>
          <p:cNvPr id="7" name="Rounded Rectangle 6"/>
          <p:cNvSpPr/>
          <p:nvPr/>
        </p:nvSpPr>
        <p:spPr>
          <a:xfrm>
            <a:off x="457200" y="1325880"/>
            <a:ext cx="6766560" cy="484632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40080" y="1417320"/>
            <a:ext cx="6400800" cy="4663440"/>
          </a:xfrm>
          <a:prstGeom prst="rect">
            <a:avLst/>
          </a:prstGeom>
          <a:noFill/>
        </p:spPr>
        <p:txBody>
          <a:bodyPr wrap="square" anchor="t" lIns="45720" rIns="45720">
            <a:spAutoFit/>
          </a:bodyPr>
          <a:lstStyle/>
          <a:p>
            <a:pPr algn="l">
              <a:spcAft>
                <a:spcPts val="400"/>
              </a:spcAft>
            </a:pPr>
            <a:r>
              <a:rPr sz="1600" b="1" i="0">
                <a:solidFill>
                  <a:srgbClr val="333333"/>
                </a:solidFill>
                <a:latin typeface="Arial"/>
              </a:rPr>
              <a:t>Limitations</a:t>
            </a:r>
          </a:p>
          <a:p>
            <a:pPr algn="l">
              <a:spcAft>
                <a:spcPts val="1000"/>
              </a:spcAft>
            </a:pPr>
            <a:r>
              <a:rPr sz="1400" b="0" i="0">
                <a:solidFill>
                  <a:srgbClr val="333333"/>
                </a:solidFill>
                <a:latin typeface="Arial"/>
              </a:rPr>
              <a:t>–  KEV is an incomplete, US-federal-biased label; "not in KEV" is not "never exploited".</a:t>
            </a:r>
          </a:p>
          <a:p>
            <a:pPr algn="l">
              <a:spcAft>
                <a:spcPts val="1000"/>
              </a:spcAft>
            </a:pPr>
            <a:r>
              <a:rPr sz="1400" b="0" i="0">
                <a:solidFill>
                  <a:srgbClr val="333333"/>
                </a:solidFill>
                <a:latin typeface="Arial"/>
              </a:rPr>
              <a:t>–  Low prevalence limits precision; PR-AUC and precision@k are the honest metrics.</a:t>
            </a:r>
          </a:p>
          <a:p>
            <a:pPr algn="l">
              <a:spcAft>
                <a:spcPts val="1000"/>
              </a:spcAft>
            </a:pPr>
            <a:r>
              <a:rPr sz="1400" b="0" i="0">
                <a:solidFill>
                  <a:srgbClr val="333333"/>
                </a:solidFill>
                <a:latin typeface="Arial"/>
              </a:rPr>
              <a:t>–  EPSS already encodes much of the signal; the model without EPSS is the independent contribution.</a:t>
            </a:r>
          </a:p>
          <a:p>
            <a:pPr algn="l">
              <a:spcAft>
                <a:spcPts val="1000"/>
              </a:spcAft>
            </a:pPr>
            <a:r>
              <a:rPr sz="1400" b="0" i="0">
                <a:solidFill>
                  <a:srgbClr val="333333"/>
                </a:solidFill>
                <a:latin typeface="Arial"/>
              </a:rPr>
              <a:t>–  Backtest CVSS is today's NVD value; one SBOM yields few later-exploited CVEs (population case added).</a:t>
            </a:r>
          </a:p>
          <a:p>
            <a:pPr algn="l">
              <a:spcAft>
                <a:spcPts val="1000"/>
              </a:spcAft>
            </a:pPr>
            <a:r>
              <a:rPr sz="1400" b="0" i="0">
                <a:solidFill>
                  <a:srgbClr val="333333"/>
                </a:solidFill>
                <a:latin typeface="Arial"/>
              </a:rPr>
              <a:t>–  The generated backtest fixture is a constructed validation set, not an application: its packages carry the answer-key CVEs and its dependency tree is one level deep.</a:t>
            </a:r>
          </a:p>
          <a:p>
            <a:pPr algn="l">
              <a:spcAft>
                <a:spcPts val="1000"/>
              </a:spcAft>
            </a:pPr>
            <a:r>
              <a:rPr sz="1400" b="0" i="0">
                <a:solidFill>
                  <a:srgbClr val="333333"/>
                </a:solidFill>
                <a:latin typeface="Arial"/>
              </a:rPr>
              <a:t>–  SBOM depth and fan-in are not reachability; asset context is user-supplied, not discovered.</a:t>
            </a:r>
          </a:p>
          <a:p>
            <a:pPr algn="l">
              <a:spcAft>
                <a:spcPts val="1000"/>
              </a:spcAft>
            </a:pPr>
            <a:r>
              <a:rPr sz="1400" b="0" i="0">
                <a:solidFill>
                  <a:srgbClr val="333333"/>
                </a:solidFill>
                <a:latin typeface="Arial"/>
              </a:rPr>
              <a:t>–  Nessus findings without a CPE are skipped (counted in the log).</a:t>
            </a:r>
          </a:p>
        </p:txBody>
      </p:sp>
      <p:sp>
        <p:nvSpPr>
          <p:cNvPr id="9" name="Rounded Rectangle 8"/>
          <p:cNvSpPr/>
          <p:nvPr/>
        </p:nvSpPr>
        <p:spPr>
          <a:xfrm>
            <a:off x="7452360" y="1325880"/>
            <a:ext cx="4297680" cy="4846320"/>
          </a:xfrm>
          <a:prstGeom prst="roundRect">
            <a:avLst>
              <a:gd name="adj" fmla="val 8000"/>
            </a:avLst>
          </a:prstGeom>
          <a:solidFill>
            <a:srgbClr val="4040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635240" y="1417320"/>
            <a:ext cx="3931920" cy="4663440"/>
          </a:xfrm>
          <a:prstGeom prst="rect">
            <a:avLst/>
          </a:prstGeom>
          <a:noFill/>
        </p:spPr>
        <p:txBody>
          <a:bodyPr wrap="square" anchor="t" lIns="45720" rIns="45720">
            <a:spAutoFit/>
          </a:bodyPr>
          <a:lstStyle/>
          <a:p>
            <a:pPr algn="l">
              <a:spcAft>
                <a:spcPts val="400"/>
              </a:spcAft>
            </a:pPr>
            <a:r>
              <a:rPr sz="1600" b="1" i="0">
                <a:solidFill>
                  <a:srgbClr val="E07B24"/>
                </a:solidFill>
                <a:latin typeface="Arial"/>
              </a:rPr>
              <a:t>Future work</a:t>
            </a:r>
          </a:p>
          <a:p>
            <a:pPr algn="l">
              <a:spcAft>
                <a:spcPts val="1000"/>
              </a:spcAft>
            </a:pPr>
            <a:r>
              <a:rPr sz="1400" b="0" i="0">
                <a:solidFill>
                  <a:srgbClr val="FFFFFF"/>
                </a:solidFill>
                <a:latin typeface="Arial"/>
              </a:rPr>
              <a:t>–  Call-graph reachability analysis for Java dependencies.</a:t>
            </a:r>
          </a:p>
          <a:p>
            <a:pPr algn="l">
              <a:spcAft>
                <a:spcPts val="1000"/>
              </a:spcAft>
            </a:pPr>
            <a:r>
              <a:rPr sz="1400" b="0" i="0">
                <a:solidFill>
                  <a:srgbClr val="FFFFFF"/>
                </a:solidFill>
                <a:latin typeface="Arial"/>
              </a:rPr>
              <a:t>–  VEX ingestion to suppress not-affected findings.</a:t>
            </a:r>
          </a:p>
          <a:p>
            <a:pPr algn="l">
              <a:spcAft>
                <a:spcPts val="1000"/>
              </a:spcAft>
            </a:pPr>
            <a:r>
              <a:rPr sz="1400" b="0" i="0">
                <a:solidFill>
                  <a:srgbClr val="FFFFFF"/>
                </a:solidFill>
                <a:latin typeface="Arial"/>
              </a:rPr>
              <a:t>–  Learn the Likelihood weights end to end from backtest outcomes.</a:t>
            </a:r>
          </a:p>
          <a:p>
            <a:pPr algn="l">
              <a:spcAft>
                <a:spcPts val="1000"/>
              </a:spcAft>
            </a:pPr>
            <a:r>
              <a:rPr sz="1400" b="0" i="0">
                <a:solidFill>
                  <a:srgbClr val="FFFFFF"/>
                </a:solidFill>
                <a:latin typeface="Arial"/>
              </a:rPr>
              <a:t>–  Relabel with organisation-specific incident data.</a:t>
            </a:r>
          </a:p>
        </p:txBody>
      </p:sp>
    </p:spTree>
    <p:extLst>
      <p:ext uri="{BB962C8B-B14F-4D97-AF65-F5344CB8AC3E}">
        <p14:creationId xmlns:p14="http://schemas.microsoft.com/office/powerpoint/2010/main" val="1564373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8C48D1-F57F-4856-A08A-5D67181FEE73}"/>
              </a:ext>
            </a:extLst>
          </p:cNvPr>
          <p:cNvSpPr>
            <a:spLocks noGrp="1"/>
          </p:cNvSpPr>
          <p:nvPr>
            <p:ph type="title"/>
          </p:nvPr>
        </p:nvSpPr>
        <p:spPr/>
        <p:txBody>
          <a:bodyPr>
            <a:normAutofit/>
          </a:bodyPr>
          <a:lstStyle/>
          <a:p>
            <a:r>
              <a:rPr lang="en-US" sz="3600" dirty="0">
                <a:cs typeface="Arial" panose="020B0604020202020204" pitchFamily="34" charset="0"/>
              </a:rPr>
              <a:t>References</a:t>
            </a:r>
            <a:endParaRPr lang="en-IN" dirty="0"/>
          </a:p>
        </p:txBody>
      </p:sp>
      <p:sp>
        <p:nvSpPr>
          <p:cNvPr id="5" name="Date Placeholder 4">
            <a:extLst>
              <a:ext uri="{FF2B5EF4-FFF2-40B4-BE49-F238E27FC236}">
                <a16:creationId xmlns:a16="http://schemas.microsoft.com/office/drawing/2014/main" id="{EF8F20FC-BC77-F5DE-DCB7-5A6A844B472D}"/>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Roboto Slab"/>
                <a:ea typeface="+mn-ea"/>
                <a:cs typeface="+mn-cs"/>
              </a:rPr>
              <a:t>10th October 2026</a:t>
            </a:r>
            <a:endParaRPr kumimoji="0" lang="en-US" sz="1200" b="0" i="0" u="none" strike="noStrike" kern="1200" cap="none" spc="0" normalizeH="0" baseline="0" noProof="0">
              <a:ln>
                <a:noFill/>
              </a:ln>
              <a:solidFill>
                <a:prstClr val="black">
                  <a:tint val="75000"/>
                </a:prstClr>
              </a:solidFill>
              <a:effectLst/>
              <a:uLnTx/>
              <a:uFillTx/>
              <a:latin typeface="Roboto Slab"/>
              <a:ea typeface="+mn-ea"/>
              <a:cs typeface="+mn-cs"/>
            </a:endParaRPr>
          </a:p>
        </p:txBody>
      </p:sp>
      <p:sp>
        <p:nvSpPr>
          <p:cNvPr id="3" name="Footer Placeholder 2">
            <a:extLst>
              <a:ext uri="{FF2B5EF4-FFF2-40B4-BE49-F238E27FC236}">
                <a16:creationId xmlns:a16="http://schemas.microsoft.com/office/drawing/2014/main" id="{3C478A14-3843-A020-E304-56CB3374784F}"/>
              </a:ext>
            </a:extLst>
          </p:cNvPr>
          <p:cNvSpPr>
            <a:spLocks noGrp="1"/>
          </p:cNvSpPr>
          <p:nvPr>
            <p:ph type="ftr" sz="quarter" idx="3"/>
          </p:nvPr>
        </p:nvSpPr>
        <p:spPr/>
        <p:txBody>
          <a:bodyPr/>
          <a:lstStyle/>
          <a:p>
            <a:pPr>
              <a:defRPr/>
            </a:pPr>
            <a:r>
              <a:rPr lang="en-US">
                <a:solidFill>
                  <a:prstClr val="black">
                    <a:tint val="75000"/>
                  </a:prstClr>
                </a:solidFill>
              </a:rPr>
              <a:t>REVA Academy for Corporate Excellence – RACE | race.reva.edu.in</a:t>
            </a:r>
            <a:endParaRPr lang="en-US" dirty="0">
              <a:solidFill>
                <a:prstClr val="black">
                  <a:tint val="75000"/>
                </a:prstClr>
              </a:solidFill>
            </a:endParaRPr>
          </a:p>
        </p:txBody>
      </p:sp>
      <p:sp>
        <p:nvSpPr>
          <p:cNvPr id="11" name="Slide Number Placeholder 5">
            <a:extLst>
              <a:ext uri="{FF2B5EF4-FFF2-40B4-BE49-F238E27FC236}">
                <a16:creationId xmlns:a16="http://schemas.microsoft.com/office/drawing/2014/main" id="{9949C78A-61BA-3328-5807-3CC71FFEDE73}"/>
              </a:ext>
            </a:extLst>
          </p:cNvPr>
          <p:cNvSpPr>
            <a:spLocks noGrp="1"/>
          </p:cNvSpPr>
          <p:nvPr>
            <p:ph type="sldNum" sz="quarter" idx="12"/>
          </p:nvPr>
        </p:nvSpPr>
        <p:spPr>
          <a:xfrm>
            <a:off x="9194324" y="6382786"/>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latin typeface="Roboto Slab"/>
              </a:rPr>
              <a:t>16/16</a:t>
            </a:r>
          </a:p>
        </p:txBody>
      </p:sp>
      <p:sp>
        <p:nvSpPr>
          <p:cNvPr id="12" name="TextBox 11"/>
          <p:cNvSpPr txBox="1"/>
          <p:nvPr/>
        </p:nvSpPr>
        <p:spPr>
          <a:xfrm>
            <a:off x="548640" y="1280160"/>
            <a:ext cx="11064240" cy="4846320"/>
          </a:xfrm>
          <a:prstGeom prst="rect">
            <a:avLst/>
          </a:prstGeom>
          <a:noFill/>
        </p:spPr>
        <p:txBody>
          <a:bodyPr wrap="square" anchor="t" lIns="45720" rIns="45720">
            <a:spAutoFit/>
          </a:bodyPr>
          <a:lstStyle/>
          <a:p>
            <a:pPr algn="l">
              <a:spcAft>
                <a:spcPts val="900"/>
              </a:spcAft>
            </a:pPr>
            <a:r>
              <a:rPr sz="1300" b="0" i="0">
                <a:solidFill>
                  <a:srgbClr val="333333"/>
                </a:solidFill>
                <a:latin typeface="Arial"/>
              </a:rPr>
              <a:t>1.  A Statistical Approach to Severity Aware Vulnerability Prioritization, IEEE, 2024.</a:t>
            </a:r>
            <a:r>
              <a:rPr sz="1100" b="0" i="0">
                <a:solidFill>
                  <a:srgbClr val="1B998B"/>
                </a:solidFill>
                <a:latin typeface="Arial"/>
              </a:rPr>
              <a:t>  https://ieeexplore-ieee-org-reva.knimbus.com/document/10815757</a:t>
            </a:r>
          </a:p>
          <a:p>
            <a:pPr algn="l">
              <a:spcAft>
                <a:spcPts val="900"/>
              </a:spcAft>
            </a:pPr>
            <a:r>
              <a:rPr sz="1300" b="0" i="0">
                <a:solidFill>
                  <a:srgbClr val="333333"/>
                </a:solidFill>
                <a:latin typeface="Arial"/>
              </a:rPr>
              <a:t>2.  User Vulnerabilities in AI-Driven Systems: Current Cybersecurity Threat Dynamics and Malicious Exploits in Supply Chain Management and Project Management, IEEE, 2024.</a:t>
            </a:r>
            <a:r>
              <a:rPr sz="1100" b="0" i="0">
                <a:solidFill>
                  <a:srgbClr val="1B998B"/>
                </a:solidFill>
                <a:latin typeface="Arial"/>
              </a:rPr>
              <a:t>  https://ieeexplore-ieee-org-reva.knimbus.com/document/10459480</a:t>
            </a:r>
          </a:p>
          <a:p>
            <a:pPr algn="l">
              <a:spcAft>
                <a:spcPts val="900"/>
              </a:spcAft>
            </a:pPr>
            <a:r>
              <a:rPr sz="1300" b="0" i="0">
                <a:solidFill>
                  <a:srgbClr val="333333"/>
                </a:solidFill>
                <a:latin typeface="Arial"/>
              </a:rPr>
              <a:t>3.  ERS0: Enhancing Military Cybersecurity with AI-Driven SBOM for Firmware Vulnerability Detection and Asset Management, IEEE, 2024.</a:t>
            </a:r>
            <a:r>
              <a:rPr sz="1100" b="0" i="0">
                <a:solidFill>
                  <a:srgbClr val="1B998B"/>
                </a:solidFill>
                <a:latin typeface="Arial"/>
              </a:rPr>
              <a:t>  https://ieeexplore-ieee-org-reva.knimbus.com/document/10685598</a:t>
            </a:r>
          </a:p>
          <a:p>
            <a:pPr algn="l">
              <a:spcAft>
                <a:spcPts val="900"/>
              </a:spcAft>
            </a:pPr>
            <a:r>
              <a:rPr sz="1300" b="0" i="0">
                <a:solidFill>
                  <a:srgbClr val="333333"/>
                </a:solidFill>
                <a:latin typeface="Arial"/>
              </a:rPr>
              <a:t>4.  Supply Chain Risk Analysis Via SBOM Data Enrichment, IEEE, 2023.</a:t>
            </a:r>
            <a:r>
              <a:rPr sz="1100" b="0" i="0">
                <a:solidFill>
                  <a:srgbClr val="1B998B"/>
                </a:solidFill>
                <a:latin typeface="Arial"/>
              </a:rPr>
              <a:t>  https://ieeexplore-ieee-org-reva.knimbus.com/document/11014830</a:t>
            </a:r>
          </a:p>
          <a:p>
            <a:pPr algn="l">
              <a:spcAft>
                <a:spcPts val="900"/>
              </a:spcAft>
            </a:pPr>
            <a:r>
              <a:rPr sz="1300" b="0" i="0">
                <a:solidFill>
                  <a:srgbClr val="333333"/>
                </a:solidFill>
                <a:latin typeface="Arial"/>
              </a:rPr>
              <a:t>5.  J. Jacobs, S. Romanosky, B. Edwards, I. Adjerid, M. Roytman, "Exploit Prediction Scoring System (EPSS)", Digital Threats: Research and Practice, 2(3), 2021.</a:t>
            </a:r>
            <a:r>
              <a:rPr sz="1100" b="0" i="0">
                <a:solidFill>
                  <a:srgbClr val="1B998B"/>
                </a:solidFill>
                <a:latin typeface="Arial"/>
              </a:rPr>
              <a:t>  https://www.first.org/epss/</a:t>
            </a:r>
          </a:p>
          <a:p>
            <a:pPr algn="l">
              <a:spcAft>
                <a:spcPts val="900"/>
              </a:spcAft>
            </a:pPr>
            <a:r>
              <a:rPr sz="1300" b="0" i="0">
                <a:solidFill>
                  <a:srgbClr val="333333"/>
                </a:solidFill>
                <a:latin typeface="Arial"/>
              </a:rPr>
              <a:t>6.  G. Ke et al., "LightGBM: A Highly Efficient Gradient Boosting Decision Tree", NeurIPS, 2017.</a:t>
            </a:r>
          </a:p>
          <a:p>
            <a:pPr algn="l">
              <a:spcAft>
                <a:spcPts val="900"/>
              </a:spcAft>
            </a:pPr>
            <a:r>
              <a:rPr sz="1300" b="0" i="0">
                <a:solidFill>
                  <a:srgbClr val="333333"/>
                </a:solidFill>
                <a:latin typeface="Arial"/>
              </a:rPr>
              <a:t>7.  CISA, Known Exploited Vulnerabilities Catalog.</a:t>
            </a:r>
            <a:r>
              <a:rPr sz="1100" b="0" i="0">
                <a:solidFill>
                  <a:srgbClr val="1B998B"/>
                </a:solidFill>
                <a:latin typeface="Arial"/>
              </a:rPr>
              <a:t>  https://www.cisa.gov/known-exploited-vulnerabilities-catalog</a:t>
            </a:r>
          </a:p>
          <a:p>
            <a:pPr algn="l">
              <a:spcAft>
                <a:spcPts val="900"/>
              </a:spcAft>
            </a:pPr>
            <a:r>
              <a:rPr sz="1300" b="0" i="0">
                <a:solidFill>
                  <a:srgbClr val="333333"/>
                </a:solidFill>
                <a:latin typeface="Arial"/>
              </a:rPr>
              <a:t>8.  OWASP CycloneDX Bill of Materials Standard.</a:t>
            </a:r>
            <a:r>
              <a:rPr sz="1100" b="0" i="0">
                <a:solidFill>
                  <a:srgbClr val="1B998B"/>
                </a:solidFill>
                <a:latin typeface="Arial"/>
              </a:rPr>
              <a:t>  https://cyclonedx.org/specification/overview/</a:t>
            </a:r>
          </a:p>
        </p:txBody>
      </p:sp>
    </p:spTree>
    <p:extLst>
      <p:ext uri="{BB962C8B-B14F-4D97-AF65-F5344CB8AC3E}">
        <p14:creationId xmlns:p14="http://schemas.microsoft.com/office/powerpoint/2010/main" val="21327454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2" descr="File:Noun Project question mark icon 1101884 cc.svg - Outreach Wiki"/>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6" name="Picture 5">
            <a:extLst>
              <a:ext uri="{FF2B5EF4-FFF2-40B4-BE49-F238E27FC236}">
                <a16:creationId xmlns:a16="http://schemas.microsoft.com/office/drawing/2014/main" id="{7A145C07-8365-45F1-BB24-52654C8ABC0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71197" y="2700997"/>
            <a:ext cx="2767120" cy="2709203"/>
          </a:xfrm>
          <a:prstGeom prst="rect">
            <a:avLst/>
          </a:prstGeom>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2307598569"/>
      </p:ext>
    </p:extLst>
  </p:cSld>
  <p:clrMapOvr>
    <a:masterClrMapping/>
  </p:clrMapOvr>
</p:sld>
</file>

<file path=ppt/theme/theme1.xml><?xml version="1.0" encoding="utf-8"?>
<a:theme xmlns:a="http://schemas.openxmlformats.org/drawingml/2006/main" name="1_Office Theme">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Custom 5">
      <a:majorFont>
        <a:latin typeface="Roboto Slab"/>
        <a:ea typeface=""/>
        <a:cs typeface=""/>
      </a:majorFont>
      <a:minorFont>
        <a:latin typeface="Roboto Slab"/>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1535</TotalTime>
  <Words>1298</Words>
  <Application>Microsoft Office PowerPoint</Application>
  <PresentationFormat>Widescreen</PresentationFormat>
  <Paragraphs>189</Paragraphs>
  <Slides>11</Slides>
  <Notes>0</Notes>
  <HiddenSlides>0</HiddenSlides>
  <MMClips>0</MMClips>
  <ScaleCrop>false</ScaleCrop>
  <HeadingPairs>
    <vt:vector size="6" baseType="variant">
      <vt:variant>
        <vt:lpstr>Fonts Used</vt:lpstr>
      </vt:variant>
      <vt:variant>
        <vt:i4>7</vt:i4>
      </vt:variant>
      <vt:variant>
        <vt:lpstr>Theme</vt:lpstr>
      </vt:variant>
      <vt:variant>
        <vt:i4>3</vt:i4>
      </vt:variant>
      <vt:variant>
        <vt:lpstr>Slide Titles</vt:lpstr>
      </vt:variant>
      <vt:variant>
        <vt:i4>11</vt:i4>
      </vt:variant>
    </vt:vector>
  </HeadingPairs>
  <TitlesOfParts>
    <vt:vector size="21" baseType="lpstr">
      <vt:lpstr>Arial</vt:lpstr>
      <vt:lpstr>Times New Roman</vt:lpstr>
      <vt:lpstr>Roboto Slab</vt:lpstr>
      <vt:lpstr>Calibri</vt:lpstr>
      <vt:lpstr>Calibri Light</vt:lpstr>
      <vt:lpstr>Montserrat Bold</vt:lpstr>
      <vt:lpstr>Montserrat Light</vt:lpstr>
      <vt:lpstr>1_Office Theme</vt:lpstr>
      <vt:lpstr>Custom Design</vt:lpstr>
      <vt:lpstr>2_Office Theme</vt:lpstr>
      <vt:lpstr>AI-Based Vulnerability Prioritization Engine using SBOM Context</vt:lpstr>
      <vt:lpstr>Agenda</vt:lpstr>
      <vt:lpstr>Background Information</vt:lpstr>
      <vt:lpstr>Literature Review</vt:lpstr>
      <vt:lpstr>Problem Statement</vt:lpstr>
      <vt:lpstr>Project Objectives</vt:lpstr>
      <vt:lpstr>Project Methodology</vt:lpstr>
      <vt:lpstr>AI Layer in the Pipeline</vt:lpstr>
      <vt:lpstr>Proposed Solution</vt:lpstr>
      <vt:lpstr>References</vt:lpstr>
      <vt:lpstr>PowerPoint Presentation</vt:lpstr>
    </vt:vector>
  </TitlesOfParts>
  <Company>HP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H2 Planning</dc:title>
  <dc:creator>RACE-996</dc:creator>
  <cp:lastModifiedBy>Akil Kumar M N</cp:lastModifiedBy>
  <cp:revision>221</cp:revision>
  <dcterms:created xsi:type="dcterms:W3CDTF">2021-01-28T08:43:53Z</dcterms:created>
  <dcterms:modified xsi:type="dcterms:W3CDTF">2026-07-14T12:52:50Z</dcterms:modified>
</cp:coreProperties>
</file>
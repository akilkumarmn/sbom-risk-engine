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 id="2147483688" r:id="rId2"/>
    <p:sldMasterId id="2147483676" r:id="rId3"/>
  </p:sldMasterIdLst>
  <p:notesMasterIdLst>
    <p:notesMasterId r:id="rId15"/>
  </p:notesMasterIdLst>
  <p:sldIdLst>
    <p:sldId id="289" r:id="rId4"/>
    <p:sldId id="387" r:id="rId5"/>
    <p:sldId id="404" r:id="rId6"/>
    <p:sldId id="388" r:id="rId7"/>
    <p:sldId id="364" r:id="rId8"/>
    <p:sldId id="390" r:id="rId9"/>
    <p:sldId id="389" r:id="rId10"/>
    <p:sldId id="406" r:id="rId25"/>
    <p:sldId id="407" r:id="rId26"/>
    <p:sldId id="408" r:id="rId27"/>
    <p:sldId id="409" r:id="rId28"/>
    <p:sldId id="410" r:id="rId29"/>
    <p:sldId id="411" r:id="rId30"/>
    <p:sldId id="365" r:id="rId12"/>
    <p:sldId id="412" r:id="rId31"/>
    <p:sldId id="367" r:id="rId13"/>
    <p:sldId id="259" r:id="rId14"/>
  </p:sldIdLst>
  <p:sldSz cx="12192000" cy="6858000"/>
  <p:notesSz cx="6858000" cy="9144000"/>
  <p:embeddedFontLst>
    <p:embeddedFont>
      <p:font typeface="Montserrat Bold" panose="020B0604020202020204" charset="0"/>
      <p:bold r:id="rId16"/>
    </p:embeddedFont>
    <p:embeddedFont>
      <p:font typeface="Montserrat Light" panose="00000400000000000000" pitchFamily="2" charset="0"/>
      <p:regular r:id="rId17"/>
      <p:italic r:id="rId18"/>
    </p:embeddedFont>
    <p:embeddedFont>
      <p:font typeface="Roboto Slab" pitchFamily="2" charset="0"/>
      <p:regular r:id="rId19"/>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sorterViewPr>
    <p:cViewPr>
      <p:scale>
        <a:sx n="100" d="100"/>
        <a:sy n="100" d="100"/>
      </p:scale>
      <p:origin x="0" y="-1032"/>
    </p:cViewPr>
  </p:sorter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font" Target="fonts/font3.fntdata"/><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font" Target="fonts/font2.fntdata"/><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3.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notesMaster" Target="notesMasters/notesMaster1.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font" Target="fonts/font4.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  <Relationship Id="rId25" Type="http://schemas.openxmlformats.org/officeDocument/2006/relationships/slide" Target="slides/slide12.xml"/>
  <Relationship Id="rId26" Type="http://schemas.openxmlformats.org/officeDocument/2006/relationships/slide" Target="slides/slide13.xml"/>
  <Relationship Id="rId27" Type="http://schemas.openxmlformats.org/officeDocument/2006/relationships/slide" Target="slides/slide14.xml"/>
  <Relationship Id="rId28" Type="http://schemas.openxmlformats.org/officeDocument/2006/relationships/slide" Target="slides/slide15.xml"/>
  <Relationship Id="rId29" Type="http://schemas.openxmlformats.org/officeDocument/2006/relationships/slide" Target="slides/slide16.xml"/>
  <Relationship Id="rId30" Type="http://schemas.openxmlformats.org/officeDocument/2006/relationships/slide" Target="slides/slide17.xml"/>
  <Relationship Id="rId31" Type="http://schemas.openxmlformats.org/officeDocument/2006/relationships/slide" Target="slides/slide1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C33EF3-0F9B-4425-BB72-0BEB5267ED23}" type="datetimeFigureOut">
              <a:rPr lang="en-US" smtClean="0"/>
              <a:t>7/14/2026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FCEAAA-9FE9-4C0D-9328-5899C37F98E8}" type="slidenum">
              <a:rPr lang="en-US" smtClean="0"/>
              <a:t>‹#›</a:t>
            </a:fld>
            <a:endParaRPr lang="en-US"/>
          </a:p>
        </p:txBody>
      </p:sp>
    </p:spTree>
    <p:extLst>
      <p:ext uri="{BB962C8B-B14F-4D97-AF65-F5344CB8AC3E}">
        <p14:creationId xmlns:p14="http://schemas.microsoft.com/office/powerpoint/2010/main" val="3746705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3"/>
          <p:cNvGrpSpPr/>
          <p:nvPr userDrawn="1"/>
        </p:nvGrpSpPr>
        <p:grpSpPr>
          <a:xfrm>
            <a:off x="285437" y="265677"/>
            <a:ext cx="11621126" cy="6326646"/>
            <a:chOff x="254476" y="265679"/>
            <a:chExt cx="11621126" cy="6326646"/>
          </a:xfrm>
        </p:grpSpPr>
        <p:sp>
          <p:nvSpPr>
            <p:cNvPr id="8" name="Flowchart: Manual Input 5"/>
            <p:cNvSpPr/>
            <p:nvPr userDrawn="1"/>
          </p:nvSpPr>
          <p:spPr>
            <a:xfrm rot="16200000" flipV="1">
              <a:off x="799317" y="-279162"/>
              <a:ext cx="6326646" cy="741632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3494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3494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3494"/>
                  </a:moveTo>
                  <a:lnTo>
                    <a:pt x="10000" y="0"/>
                  </a:lnTo>
                  <a:lnTo>
                    <a:pt x="10000" y="10000"/>
                  </a:lnTo>
                  <a:lnTo>
                    <a:pt x="0" y="10000"/>
                  </a:lnTo>
                  <a:lnTo>
                    <a:pt x="0" y="3494"/>
                  </a:ln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Roboto Slab"/>
                <a:ea typeface="+mn-ea"/>
                <a:cs typeface="+mn-cs"/>
              </a:endParaRPr>
            </a:p>
          </p:txBody>
        </p:sp>
        <p:sp>
          <p:nvSpPr>
            <p:cNvPr id="12" name="Flowchart: Manual Input 5"/>
            <p:cNvSpPr/>
            <p:nvPr userDrawn="1"/>
          </p:nvSpPr>
          <p:spPr>
            <a:xfrm rot="16200000" flipH="1">
              <a:off x="5594106" y="302528"/>
              <a:ext cx="5550769" cy="7012223"/>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3494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3494 h 10000"/>
                <a:gd name="connsiteX0" fmla="*/ 15 w 10015"/>
                <a:gd name="connsiteY0" fmla="*/ 3494 h 10469"/>
                <a:gd name="connsiteX1" fmla="*/ 10015 w 10015"/>
                <a:gd name="connsiteY1" fmla="*/ 0 h 10469"/>
                <a:gd name="connsiteX2" fmla="*/ 10015 w 10015"/>
                <a:gd name="connsiteY2" fmla="*/ 10000 h 10469"/>
                <a:gd name="connsiteX3" fmla="*/ 0 w 10015"/>
                <a:gd name="connsiteY3" fmla="*/ 10469 h 10469"/>
                <a:gd name="connsiteX4" fmla="*/ 15 w 10015"/>
                <a:gd name="connsiteY4" fmla="*/ 3494 h 10469"/>
                <a:gd name="connsiteX0" fmla="*/ 15 w 10015"/>
                <a:gd name="connsiteY0" fmla="*/ 3494 h 10494"/>
                <a:gd name="connsiteX1" fmla="*/ 10015 w 10015"/>
                <a:gd name="connsiteY1" fmla="*/ 0 h 10494"/>
                <a:gd name="connsiteX2" fmla="*/ 9984 w 10015"/>
                <a:gd name="connsiteY2" fmla="*/ 10494 h 10494"/>
                <a:gd name="connsiteX3" fmla="*/ 0 w 10015"/>
                <a:gd name="connsiteY3" fmla="*/ 10469 h 10494"/>
                <a:gd name="connsiteX4" fmla="*/ 15 w 10015"/>
                <a:gd name="connsiteY4" fmla="*/ 3494 h 10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5" h="10494">
                  <a:moveTo>
                    <a:pt x="15" y="3494"/>
                  </a:moveTo>
                  <a:lnTo>
                    <a:pt x="10015" y="0"/>
                  </a:lnTo>
                  <a:cubicBezTo>
                    <a:pt x="10005" y="3498"/>
                    <a:pt x="9994" y="6996"/>
                    <a:pt x="9984" y="10494"/>
                  </a:cubicBezTo>
                  <a:lnTo>
                    <a:pt x="0" y="10469"/>
                  </a:lnTo>
                  <a:lnTo>
                    <a:pt x="15" y="3494"/>
                  </a:lnTo>
                  <a:close/>
                </a:path>
              </a:pathLst>
            </a:custGeom>
            <a:solidFill>
              <a:schemeClr val="tx1">
                <a:lumMod val="65000"/>
                <a:lumOff val="3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Roboto Slab"/>
                <a:ea typeface="+mn-ea"/>
                <a:cs typeface="+mn-cs"/>
              </a:endParaRPr>
            </a:p>
          </p:txBody>
        </p:sp>
      </p:grpSp>
      <p:sp>
        <p:nvSpPr>
          <p:cNvPr id="2" name="Title 1"/>
          <p:cNvSpPr>
            <a:spLocks noGrp="1"/>
          </p:cNvSpPr>
          <p:nvPr>
            <p:ph type="ctrTitle"/>
          </p:nvPr>
        </p:nvSpPr>
        <p:spPr>
          <a:xfrm>
            <a:off x="228600" y="1984375"/>
            <a:ext cx="59055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228600" y="4564063"/>
            <a:ext cx="5905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4" name="Picture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13983" b="37125"/>
          <a:stretch/>
        </p:blipFill>
        <p:spPr>
          <a:xfrm>
            <a:off x="254475" y="3208830"/>
            <a:ext cx="6915786" cy="3375194"/>
          </a:xfrm>
          <a:prstGeom prst="rect">
            <a:avLst/>
          </a:prstGeom>
        </p:spPr>
      </p:pic>
      <p:pic>
        <p:nvPicPr>
          <p:cNvPr id="9" name="Picture 8"/>
          <p:cNvPicPr>
            <a:picLocks noChangeAspect="1"/>
          </p:cNvPicPr>
          <p:nvPr userDrawn="1"/>
        </p:nvPicPr>
        <p:blipFill rotWithShape="1">
          <a:blip r:embed="rId3" cstate="print">
            <a:extLst>
              <a:ext uri="{28A0092B-C50C-407E-A947-70E740481C1C}">
                <a14:useLocalDpi xmlns:a14="http://schemas.microsoft.com/office/drawing/2010/main" val="0"/>
              </a:ext>
            </a:extLst>
          </a:blip>
          <a:srcRect b="28888"/>
          <a:stretch/>
        </p:blipFill>
        <p:spPr>
          <a:xfrm>
            <a:off x="420808" y="423775"/>
            <a:ext cx="2760542" cy="789564"/>
          </a:xfrm>
          <a:prstGeom prst="rect">
            <a:avLst/>
          </a:prstGeom>
        </p:spPr>
      </p:pic>
    </p:spTree>
    <p:extLst>
      <p:ext uri="{BB962C8B-B14F-4D97-AF65-F5344CB8AC3E}">
        <p14:creationId xmlns:p14="http://schemas.microsoft.com/office/powerpoint/2010/main" val="4100441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p:cNvSpPr/>
          <p:nvPr userDrawn="1"/>
        </p:nvSpPr>
        <p:spPr>
          <a:xfrm>
            <a:off x="254476" y="262784"/>
            <a:ext cx="11683049" cy="6120002"/>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Roboto Slab"/>
              <a:ea typeface="+mn-ea"/>
              <a:cs typeface="+mn-cs"/>
            </a:endParaRPr>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b="29472"/>
          <a:stretch/>
        </p:blipFill>
        <p:spPr>
          <a:xfrm>
            <a:off x="400639" y="379813"/>
            <a:ext cx="2444161" cy="693336"/>
          </a:xfrm>
          <a:prstGeom prst="rect">
            <a:avLst/>
          </a:prstGeom>
        </p:spPr>
      </p:pic>
      <p:cxnSp>
        <p:nvCxnSpPr>
          <p:cNvPr id="11" name="Straight Connector 10"/>
          <p:cNvCxnSpPr/>
          <p:nvPr userDrawn="1"/>
        </p:nvCxnSpPr>
        <p:spPr>
          <a:xfrm>
            <a:off x="3090333" y="1049867"/>
            <a:ext cx="867833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p:nvPr>
        </p:nvSpPr>
        <p:spPr>
          <a:xfrm>
            <a:off x="3386667" y="379812"/>
            <a:ext cx="8382000" cy="670055"/>
          </a:xfrm>
        </p:spPr>
        <p:txBody>
          <a:bodyPr>
            <a:normAutofit/>
          </a:bodyPr>
          <a:lstStyle>
            <a:lvl1pPr algn="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CE7D1A7F-7373-3869-7B19-D11B972020F9}"/>
              </a:ext>
            </a:extLst>
          </p:cNvPr>
          <p:cNvSpPr>
            <a:spLocks noGrp="1"/>
          </p:cNvSpPr>
          <p:nvPr>
            <p:ph type="dt" sz="half" idx="10"/>
          </p:nvPr>
        </p:nvSpPr>
        <p:spPr>
          <a:xfrm>
            <a:off x="254475" y="6382786"/>
            <a:ext cx="2743200" cy="365125"/>
          </a:xfrm>
        </p:spPr>
        <p:txBody>
          <a:bodyPr/>
          <a:lstStyle>
            <a:lvl1pPr>
              <a:defRPr>
                <a:solidFill>
                  <a:schemeClr val="tx1"/>
                </a:solidFill>
              </a:defRPr>
            </a:lvl1pPr>
          </a:lstStyle>
          <a:p>
            <a:pPr>
              <a:defRPr/>
            </a:pPr>
            <a:fld id="{49954A08-F531-4BFB-B155-FB6526D1B190}" type="datetime3">
              <a:rPr lang="en-US" smtClean="0"/>
              <a:t>14 July 2026</a:t>
            </a:fld>
            <a:endParaRPr lang="en-US"/>
          </a:p>
        </p:txBody>
      </p:sp>
      <p:sp>
        <p:nvSpPr>
          <p:cNvPr id="10" name="Slide Number Placeholder 9">
            <a:extLst>
              <a:ext uri="{FF2B5EF4-FFF2-40B4-BE49-F238E27FC236}">
                <a16:creationId xmlns:a16="http://schemas.microsoft.com/office/drawing/2014/main" id="{C78AE685-7A90-7A5D-4D8F-1CB8728E0A51}"/>
              </a:ext>
            </a:extLst>
          </p:cNvPr>
          <p:cNvSpPr>
            <a:spLocks noGrp="1"/>
          </p:cNvSpPr>
          <p:nvPr>
            <p:ph type="sldNum" sz="quarter" idx="12"/>
          </p:nvPr>
        </p:nvSpPr>
        <p:spPr>
          <a:xfrm>
            <a:off x="9194324" y="6382786"/>
            <a:ext cx="2743200" cy="365125"/>
          </a:xfrm>
        </p:spPr>
        <p:txBody>
          <a:bodyPr/>
          <a:lstStyle>
            <a:lvl1pPr>
              <a:defRPr>
                <a:solidFill>
                  <a:schemeClr val="tx1"/>
                </a:solidFill>
              </a:defRPr>
            </a:lvl1pPr>
          </a:lstStyle>
          <a:p>
            <a:pPr>
              <a:defRPr/>
            </a:pPr>
            <a:endParaRPr lang="en-US" dirty="0"/>
          </a:p>
        </p:txBody>
      </p:sp>
      <p:sp>
        <p:nvSpPr>
          <p:cNvPr id="2" name="Footer Placeholder 4">
            <a:extLst>
              <a:ext uri="{FF2B5EF4-FFF2-40B4-BE49-F238E27FC236}">
                <a16:creationId xmlns:a16="http://schemas.microsoft.com/office/drawing/2014/main" id="{84B887BD-4322-C2D5-FA8B-30CE46F751AE}"/>
              </a:ext>
            </a:extLst>
          </p:cNvPr>
          <p:cNvSpPr>
            <a:spLocks noGrp="1"/>
          </p:cNvSpPr>
          <p:nvPr>
            <p:ph type="ftr" sz="quarter" idx="3"/>
          </p:nvPr>
        </p:nvSpPr>
        <p:spPr>
          <a:xfrm>
            <a:off x="3174023" y="6382785"/>
            <a:ext cx="5811715" cy="365125"/>
          </a:xfrm>
          <a:prstGeom prst="rect">
            <a:avLst/>
          </a:prstGeom>
        </p:spPr>
        <p:txBody>
          <a:bodyPr vert="horz" lIns="91440" tIns="45720" rIns="91440" bIns="45720" rtlCol="0" anchor="ctr"/>
          <a:lstStyle>
            <a:lvl1pPr algn="ctr">
              <a:defRPr sz="1200">
                <a:solidFill>
                  <a:schemeClr val="tx1"/>
                </a:solidFill>
              </a:defRPr>
            </a:lvl1pPr>
          </a:lstStyle>
          <a:p>
            <a:pPr>
              <a:defRPr/>
            </a:pPr>
            <a:r>
              <a:rPr lang="en-US"/>
              <a:t>REVA Academy for Corporate Excellence – RACE | race.reva.edu.in</a:t>
            </a:r>
            <a:endParaRPr lang="en-US" dirty="0"/>
          </a:p>
        </p:txBody>
      </p:sp>
    </p:spTree>
    <p:extLst>
      <p:ext uri="{BB962C8B-B14F-4D97-AF65-F5344CB8AC3E}">
        <p14:creationId xmlns:p14="http://schemas.microsoft.com/office/powerpoint/2010/main" val="641985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p:cNvSpPr/>
          <p:nvPr userDrawn="1"/>
        </p:nvSpPr>
        <p:spPr>
          <a:xfrm>
            <a:off x="254476"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Slab"/>
              <a:ea typeface="+mn-ea"/>
              <a:cs typeface="+mn-cs"/>
            </a:endParaRPr>
          </a:p>
        </p:txBody>
      </p:sp>
      <p:sp>
        <p:nvSpPr>
          <p:cNvPr id="2" name="Rectangle 1"/>
          <p:cNvSpPr/>
          <p:nvPr userDrawn="1"/>
        </p:nvSpPr>
        <p:spPr>
          <a:xfrm>
            <a:off x="254475" y="262783"/>
            <a:ext cx="3597858" cy="633243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Roboto Slab"/>
              <a:ea typeface="+mn-ea"/>
              <a:cs typeface="+mn-cs"/>
            </a:endParaRPr>
          </a:p>
        </p:txBody>
      </p:sp>
    </p:spTree>
    <p:extLst>
      <p:ext uri="{BB962C8B-B14F-4D97-AF65-F5344CB8AC3E}">
        <p14:creationId xmlns:p14="http://schemas.microsoft.com/office/powerpoint/2010/main" val="3252866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p:cNvSpPr/>
          <p:nvPr userDrawn="1"/>
        </p:nvSpPr>
        <p:spPr>
          <a:xfrm>
            <a:off x="254476"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Slab"/>
              <a:ea typeface="+mn-ea"/>
              <a:cs typeface="+mn-cs"/>
            </a:endParaRPr>
          </a:p>
        </p:txBody>
      </p:sp>
      <p:sp>
        <p:nvSpPr>
          <p:cNvPr id="2" name="Rectangle 1"/>
          <p:cNvSpPr/>
          <p:nvPr userDrawn="1"/>
        </p:nvSpPr>
        <p:spPr>
          <a:xfrm>
            <a:off x="254475" y="262783"/>
            <a:ext cx="2686688" cy="633243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Roboto Slab"/>
              <a:ea typeface="+mn-ea"/>
              <a:cs typeface="+mn-cs"/>
            </a:endParaRPr>
          </a:p>
        </p:txBody>
      </p:sp>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l="49803"/>
          <a:stretch/>
        </p:blipFill>
        <p:spPr>
          <a:xfrm>
            <a:off x="245097" y="1534163"/>
            <a:ext cx="2393627" cy="4768501"/>
          </a:xfrm>
          <a:prstGeom prst="rect">
            <a:avLst/>
          </a:prstGeom>
        </p:spPr>
      </p:pic>
    </p:spTree>
    <p:extLst>
      <p:ext uri="{BB962C8B-B14F-4D97-AF65-F5344CB8AC3E}">
        <p14:creationId xmlns:p14="http://schemas.microsoft.com/office/powerpoint/2010/main" val="3721393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CE08DDE-145F-4074-80B9-92A82F6FAE3F}"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3749735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0324537-D8D1-48D3-974C-5042DA3C845D}"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1623512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668FF8-54C7-4DF9-8A67-F38E35811078}"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3699446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C775388-B0D9-4736-A094-62A2D51967A2}"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3205811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93D490C-FF0D-4F46-8C01-08A44D82182A}"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1359969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8181D73-72B9-4F40-AAB3-13A26D710039}"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189495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9EB386-C260-4244-9F22-71C5BEEAC684}"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12590181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3F87C7D-74E9-46ED-A87F-311C55ECC35B}"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14205462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F6AC6E1-8710-4FFE-A2E3-E9AEBE0B5C21}"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26700595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1941E83-6A45-4B5F-90DA-DAF1AA28FCE9}" type="datetime3">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mn-ea"/>
                <a:cs typeface="Arial" panose="020B0604020202020204" pitchFamily="34" charset="0"/>
              </a:rPr>
              <a:t>14 July 2026</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Arial" panose="020B0604020202020204" pitchFamily="34" charset="0"/>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Arial" panose="020B0604020202020204" pitchFamily="34" charset="0"/>
            </a:endParaRPr>
          </a:p>
        </p:txBody>
      </p:sp>
      <p:pic>
        <p:nvPicPr>
          <p:cNvPr id="7" name="Picture 6"/>
          <p:cNvPicPr>
            <a:picLocks noChangeAspect="1"/>
          </p:cNvPicPr>
          <p:nvPr userDrawn="1"/>
        </p:nvPicPr>
        <p:blipFill>
          <a:blip r:embed="rId2"/>
          <a:stretch>
            <a:fillRect/>
          </a:stretch>
        </p:blipFill>
        <p:spPr>
          <a:xfrm>
            <a:off x="9191579" y="92974"/>
            <a:ext cx="2926334" cy="780356"/>
          </a:xfrm>
          <a:prstGeom prst="rect">
            <a:avLst/>
          </a:prstGeom>
        </p:spPr>
      </p:pic>
    </p:spTree>
    <p:extLst>
      <p:ext uri="{BB962C8B-B14F-4D97-AF65-F5344CB8AC3E}">
        <p14:creationId xmlns:p14="http://schemas.microsoft.com/office/powerpoint/2010/main" val="2469190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421C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Slab"/>
              <a:ea typeface="+mn-ea"/>
              <a:cs typeface="+mn-cs"/>
            </a:endParaRPr>
          </a:p>
        </p:txBody>
      </p:sp>
      <p:sp>
        <p:nvSpPr>
          <p:cNvPr id="6" name="Rectangle 5"/>
          <p:cNvSpPr/>
          <p:nvPr userDrawn="1"/>
        </p:nvSpPr>
        <p:spPr>
          <a:xfrm>
            <a:off x="123825" y="138112"/>
            <a:ext cx="11944351" cy="65817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Slab"/>
              <a:ea typeface="+mn-ea"/>
              <a:cs typeface="+mn-cs"/>
            </a:endParaRPr>
          </a:p>
        </p:txBody>
      </p:sp>
      <p:cxnSp>
        <p:nvCxnSpPr>
          <p:cNvPr id="11" name="Straight Connector 10"/>
          <p:cNvCxnSpPr/>
          <p:nvPr userDrawn="1"/>
        </p:nvCxnSpPr>
        <p:spPr>
          <a:xfrm>
            <a:off x="403412" y="1049867"/>
            <a:ext cx="1136525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p:nvPr>
        </p:nvSpPr>
        <p:spPr>
          <a:xfrm>
            <a:off x="3386667" y="379812"/>
            <a:ext cx="8382000" cy="670055"/>
          </a:xfrm>
        </p:spPr>
        <p:txBody>
          <a:bodyPr>
            <a:normAutofit/>
          </a:bodyPr>
          <a:lstStyle>
            <a:lvl1pPr algn="r">
              <a:defRPr sz="3600"/>
            </a:lvl1pPr>
          </a:lstStyle>
          <a:p>
            <a:r>
              <a:rPr lang="en-US" dirty="0"/>
              <a:t>Click to edit Master title style</a:t>
            </a:r>
          </a:p>
        </p:txBody>
      </p:sp>
    </p:spTree>
    <p:extLst>
      <p:ext uri="{BB962C8B-B14F-4D97-AF65-F5344CB8AC3E}">
        <p14:creationId xmlns:p14="http://schemas.microsoft.com/office/powerpoint/2010/main" val="48298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4AC64-A4F1-1B8A-0AC6-4786A9B97B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AB1F2B5-8413-5EB3-B83E-FB83571002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6D085EC-A9B6-5923-ED6D-895F6E8C457B}"/>
              </a:ext>
            </a:extLst>
          </p:cNvPr>
          <p:cNvSpPr>
            <a:spLocks noGrp="1"/>
          </p:cNvSpPr>
          <p:nvPr>
            <p:ph type="dt" sz="half" idx="10"/>
          </p:nvPr>
        </p:nvSpPr>
        <p:spPr/>
        <p:txBody>
          <a:bodyPr/>
          <a:lstStyle/>
          <a:p>
            <a:fld id="{A6B662C6-8A70-432E-A122-162871335AD1}" type="datetime3">
              <a:rPr lang="en-US" smtClean="0"/>
              <a:t>14 July 2026</a:t>
            </a:fld>
            <a:endParaRPr lang="en-IN"/>
          </a:p>
        </p:txBody>
      </p:sp>
      <p:sp>
        <p:nvSpPr>
          <p:cNvPr id="5" name="Footer Placeholder 4">
            <a:extLst>
              <a:ext uri="{FF2B5EF4-FFF2-40B4-BE49-F238E27FC236}">
                <a16:creationId xmlns:a16="http://schemas.microsoft.com/office/drawing/2014/main" id="{159C7944-D37B-7872-0157-363B93FA4199}"/>
              </a:ext>
            </a:extLst>
          </p:cNvPr>
          <p:cNvSpPr>
            <a:spLocks noGrp="1"/>
          </p:cNvSpPr>
          <p:nvPr>
            <p:ph type="ftr" sz="quarter" idx="11"/>
          </p:nvPr>
        </p:nvSpPr>
        <p:spPr/>
        <p:txBody>
          <a:bodyPr/>
          <a:lstStyle/>
          <a:p>
            <a:r>
              <a:rPr lang="en-US"/>
              <a:t>REVA Academy for Corporate Excellence – RACE | race.reva.edu.in</a:t>
            </a:r>
            <a:endParaRPr lang="en-IN"/>
          </a:p>
        </p:txBody>
      </p:sp>
      <p:sp>
        <p:nvSpPr>
          <p:cNvPr id="6" name="Slide Number Placeholder 5">
            <a:extLst>
              <a:ext uri="{FF2B5EF4-FFF2-40B4-BE49-F238E27FC236}">
                <a16:creationId xmlns:a16="http://schemas.microsoft.com/office/drawing/2014/main" id="{DF0B8F9D-BD9A-C814-1FC1-B509D2613E5A}"/>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28846756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3B3BE-F57D-DA7E-5851-6DA98294F5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F319E7-1597-B027-1498-94C3B6A095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96EB0F-2E52-724D-9781-0E75933C503B}"/>
              </a:ext>
            </a:extLst>
          </p:cNvPr>
          <p:cNvSpPr>
            <a:spLocks noGrp="1"/>
          </p:cNvSpPr>
          <p:nvPr>
            <p:ph type="dt" sz="half" idx="10"/>
          </p:nvPr>
        </p:nvSpPr>
        <p:spPr/>
        <p:txBody>
          <a:bodyPr/>
          <a:lstStyle/>
          <a:p>
            <a:fld id="{535C51BE-ECC1-48F5-8723-A0461878BE14}" type="datetime3">
              <a:rPr lang="en-US" smtClean="0"/>
              <a:t>14 July 2026</a:t>
            </a:fld>
            <a:endParaRPr lang="en-IN"/>
          </a:p>
        </p:txBody>
      </p:sp>
      <p:sp>
        <p:nvSpPr>
          <p:cNvPr id="5" name="Footer Placeholder 4">
            <a:extLst>
              <a:ext uri="{FF2B5EF4-FFF2-40B4-BE49-F238E27FC236}">
                <a16:creationId xmlns:a16="http://schemas.microsoft.com/office/drawing/2014/main" id="{C8774792-13F4-3FF3-4F7A-8EED062BA5DC}"/>
              </a:ext>
            </a:extLst>
          </p:cNvPr>
          <p:cNvSpPr>
            <a:spLocks noGrp="1"/>
          </p:cNvSpPr>
          <p:nvPr>
            <p:ph type="ftr" sz="quarter" idx="11"/>
          </p:nvPr>
        </p:nvSpPr>
        <p:spPr/>
        <p:txBody>
          <a:bodyPr/>
          <a:lstStyle/>
          <a:p>
            <a:r>
              <a:rPr lang="en-US"/>
              <a:t>REVA Academy for Corporate Excellence – RACE | race.reva.edu.in</a:t>
            </a:r>
            <a:endParaRPr lang="en-IN"/>
          </a:p>
        </p:txBody>
      </p:sp>
      <p:sp>
        <p:nvSpPr>
          <p:cNvPr id="6" name="Slide Number Placeholder 5">
            <a:extLst>
              <a:ext uri="{FF2B5EF4-FFF2-40B4-BE49-F238E27FC236}">
                <a16:creationId xmlns:a16="http://schemas.microsoft.com/office/drawing/2014/main" id="{88960C60-0F54-2F6B-2CEE-9E0E0156D928}"/>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25002595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0984D-EBB1-09FC-80CF-76E77B02C5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D724C25-3780-0A64-BC51-7E73C81F5B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554AC3-B0FD-3951-035E-D08C4C90D8DF}"/>
              </a:ext>
            </a:extLst>
          </p:cNvPr>
          <p:cNvSpPr>
            <a:spLocks noGrp="1"/>
          </p:cNvSpPr>
          <p:nvPr>
            <p:ph type="dt" sz="half" idx="10"/>
          </p:nvPr>
        </p:nvSpPr>
        <p:spPr/>
        <p:txBody>
          <a:bodyPr/>
          <a:lstStyle/>
          <a:p>
            <a:fld id="{76238A72-2DDC-4F0C-A767-031A00DA58F0}" type="datetime3">
              <a:rPr lang="en-US" smtClean="0"/>
              <a:t>14 July 2026</a:t>
            </a:fld>
            <a:endParaRPr lang="en-IN"/>
          </a:p>
        </p:txBody>
      </p:sp>
      <p:sp>
        <p:nvSpPr>
          <p:cNvPr id="5" name="Footer Placeholder 4">
            <a:extLst>
              <a:ext uri="{FF2B5EF4-FFF2-40B4-BE49-F238E27FC236}">
                <a16:creationId xmlns:a16="http://schemas.microsoft.com/office/drawing/2014/main" id="{2322F70A-B226-43F3-56D5-B4DDFE43065A}"/>
              </a:ext>
            </a:extLst>
          </p:cNvPr>
          <p:cNvSpPr>
            <a:spLocks noGrp="1"/>
          </p:cNvSpPr>
          <p:nvPr>
            <p:ph type="ftr" sz="quarter" idx="11"/>
          </p:nvPr>
        </p:nvSpPr>
        <p:spPr/>
        <p:txBody>
          <a:bodyPr/>
          <a:lstStyle/>
          <a:p>
            <a:r>
              <a:rPr lang="en-US"/>
              <a:t>REVA Academy for Corporate Excellence – RACE | race.reva.edu.in</a:t>
            </a:r>
            <a:endParaRPr lang="en-IN"/>
          </a:p>
        </p:txBody>
      </p:sp>
      <p:sp>
        <p:nvSpPr>
          <p:cNvPr id="6" name="Slide Number Placeholder 5">
            <a:extLst>
              <a:ext uri="{FF2B5EF4-FFF2-40B4-BE49-F238E27FC236}">
                <a16:creationId xmlns:a16="http://schemas.microsoft.com/office/drawing/2014/main" id="{043E0301-4A22-9AA8-709D-332E1C901F53}"/>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29722645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B3474-1720-0F74-B17B-E84FC50CA5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015A8F-9597-F873-5200-2938A5DCD8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32D42FB-4CF6-A56B-4859-4B6AFA3004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A327CD2-F085-A433-6B21-C4760E9C0DA0}"/>
              </a:ext>
            </a:extLst>
          </p:cNvPr>
          <p:cNvSpPr>
            <a:spLocks noGrp="1"/>
          </p:cNvSpPr>
          <p:nvPr>
            <p:ph type="dt" sz="half" idx="10"/>
          </p:nvPr>
        </p:nvSpPr>
        <p:spPr/>
        <p:txBody>
          <a:bodyPr/>
          <a:lstStyle/>
          <a:p>
            <a:fld id="{2366CC46-76C0-4E18-84BB-05A13C50C19C}" type="datetime3">
              <a:rPr lang="en-US" smtClean="0"/>
              <a:t>14 July 2026</a:t>
            </a:fld>
            <a:endParaRPr lang="en-IN"/>
          </a:p>
        </p:txBody>
      </p:sp>
      <p:sp>
        <p:nvSpPr>
          <p:cNvPr id="6" name="Footer Placeholder 5">
            <a:extLst>
              <a:ext uri="{FF2B5EF4-FFF2-40B4-BE49-F238E27FC236}">
                <a16:creationId xmlns:a16="http://schemas.microsoft.com/office/drawing/2014/main" id="{271470E5-5BAD-34BF-D5D7-3563FEF90C22}"/>
              </a:ext>
            </a:extLst>
          </p:cNvPr>
          <p:cNvSpPr>
            <a:spLocks noGrp="1"/>
          </p:cNvSpPr>
          <p:nvPr>
            <p:ph type="ftr" sz="quarter" idx="11"/>
          </p:nvPr>
        </p:nvSpPr>
        <p:spPr/>
        <p:txBody>
          <a:bodyPr/>
          <a:lstStyle/>
          <a:p>
            <a:r>
              <a:rPr lang="en-US"/>
              <a:t>REVA Academy for Corporate Excellence – RACE | race.reva.edu.in</a:t>
            </a:r>
            <a:endParaRPr lang="en-IN"/>
          </a:p>
        </p:txBody>
      </p:sp>
      <p:sp>
        <p:nvSpPr>
          <p:cNvPr id="7" name="Slide Number Placeholder 6">
            <a:extLst>
              <a:ext uri="{FF2B5EF4-FFF2-40B4-BE49-F238E27FC236}">
                <a16:creationId xmlns:a16="http://schemas.microsoft.com/office/drawing/2014/main" id="{4F0492B8-D262-2FDF-B614-AB43A7AE82CD}"/>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26363948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1B646-8096-67E5-4529-BDB03D9A388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AAAA4A-47B0-B186-D66C-512D48A55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2F622B-39F0-438B-DE66-A663E1714D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2C4984E-0678-0232-E59D-C531B6EB17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3725E2-31E5-81AE-22CD-2CF48F4BCB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B4A57D5-B59F-AA5C-531D-FDF65C1009DA}"/>
              </a:ext>
            </a:extLst>
          </p:cNvPr>
          <p:cNvSpPr>
            <a:spLocks noGrp="1"/>
          </p:cNvSpPr>
          <p:nvPr>
            <p:ph type="dt" sz="half" idx="10"/>
          </p:nvPr>
        </p:nvSpPr>
        <p:spPr/>
        <p:txBody>
          <a:bodyPr/>
          <a:lstStyle/>
          <a:p>
            <a:fld id="{B83DFB99-E076-4686-8771-D9C9ED280317}" type="datetime3">
              <a:rPr lang="en-US" smtClean="0"/>
              <a:t>14 July 2026</a:t>
            </a:fld>
            <a:endParaRPr lang="en-IN"/>
          </a:p>
        </p:txBody>
      </p:sp>
      <p:sp>
        <p:nvSpPr>
          <p:cNvPr id="8" name="Footer Placeholder 7">
            <a:extLst>
              <a:ext uri="{FF2B5EF4-FFF2-40B4-BE49-F238E27FC236}">
                <a16:creationId xmlns:a16="http://schemas.microsoft.com/office/drawing/2014/main" id="{08848A68-6C29-6841-3EA0-D24768818D93}"/>
              </a:ext>
            </a:extLst>
          </p:cNvPr>
          <p:cNvSpPr>
            <a:spLocks noGrp="1"/>
          </p:cNvSpPr>
          <p:nvPr>
            <p:ph type="ftr" sz="quarter" idx="11"/>
          </p:nvPr>
        </p:nvSpPr>
        <p:spPr/>
        <p:txBody>
          <a:bodyPr/>
          <a:lstStyle/>
          <a:p>
            <a:r>
              <a:rPr lang="en-US"/>
              <a:t>REVA Academy for Corporate Excellence – RACE | race.reva.edu.in</a:t>
            </a:r>
            <a:endParaRPr lang="en-IN"/>
          </a:p>
        </p:txBody>
      </p:sp>
      <p:sp>
        <p:nvSpPr>
          <p:cNvPr id="9" name="Slide Number Placeholder 8">
            <a:extLst>
              <a:ext uri="{FF2B5EF4-FFF2-40B4-BE49-F238E27FC236}">
                <a16:creationId xmlns:a16="http://schemas.microsoft.com/office/drawing/2014/main" id="{772F046F-B9C5-2135-5E78-55B99B64A148}"/>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33408738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212CE-8E63-DE47-926A-2806046A57F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C88DACC-A9CF-25B8-FADB-EF71DAB09B5D}"/>
              </a:ext>
            </a:extLst>
          </p:cNvPr>
          <p:cNvSpPr>
            <a:spLocks noGrp="1"/>
          </p:cNvSpPr>
          <p:nvPr>
            <p:ph type="dt" sz="half" idx="10"/>
          </p:nvPr>
        </p:nvSpPr>
        <p:spPr/>
        <p:txBody>
          <a:bodyPr/>
          <a:lstStyle/>
          <a:p>
            <a:fld id="{133C4A86-EE5E-430A-B201-DD153C1D7118}" type="datetime3">
              <a:rPr lang="en-US" smtClean="0"/>
              <a:t>14 July 2026</a:t>
            </a:fld>
            <a:endParaRPr lang="en-IN"/>
          </a:p>
        </p:txBody>
      </p:sp>
      <p:sp>
        <p:nvSpPr>
          <p:cNvPr id="4" name="Footer Placeholder 3">
            <a:extLst>
              <a:ext uri="{FF2B5EF4-FFF2-40B4-BE49-F238E27FC236}">
                <a16:creationId xmlns:a16="http://schemas.microsoft.com/office/drawing/2014/main" id="{F0E3D948-3FD6-54EB-FA88-0A79DFDE04C2}"/>
              </a:ext>
            </a:extLst>
          </p:cNvPr>
          <p:cNvSpPr>
            <a:spLocks noGrp="1"/>
          </p:cNvSpPr>
          <p:nvPr>
            <p:ph type="ftr" sz="quarter" idx="11"/>
          </p:nvPr>
        </p:nvSpPr>
        <p:spPr/>
        <p:txBody>
          <a:bodyPr/>
          <a:lstStyle/>
          <a:p>
            <a:r>
              <a:rPr lang="en-US"/>
              <a:t>REVA Academy for Corporate Excellence – RACE | race.reva.edu.in</a:t>
            </a:r>
            <a:endParaRPr lang="en-IN"/>
          </a:p>
        </p:txBody>
      </p:sp>
      <p:sp>
        <p:nvSpPr>
          <p:cNvPr id="5" name="Slide Number Placeholder 4">
            <a:extLst>
              <a:ext uri="{FF2B5EF4-FFF2-40B4-BE49-F238E27FC236}">
                <a16:creationId xmlns:a16="http://schemas.microsoft.com/office/drawing/2014/main" id="{7B42A27F-E85E-D7BE-820F-5D7F4EA3A5D6}"/>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23287177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C4A645-4076-0DD1-F21F-7DA2E7DBEC8E}"/>
              </a:ext>
            </a:extLst>
          </p:cNvPr>
          <p:cNvSpPr>
            <a:spLocks noGrp="1"/>
          </p:cNvSpPr>
          <p:nvPr>
            <p:ph type="dt" sz="half" idx="10"/>
          </p:nvPr>
        </p:nvSpPr>
        <p:spPr/>
        <p:txBody>
          <a:bodyPr/>
          <a:lstStyle/>
          <a:p>
            <a:fld id="{BA0F3B7A-C703-449C-9BCB-CEBE69179CE9}" type="datetime3">
              <a:rPr lang="en-US" smtClean="0"/>
              <a:t>14 July 2026</a:t>
            </a:fld>
            <a:endParaRPr lang="en-IN"/>
          </a:p>
        </p:txBody>
      </p:sp>
      <p:sp>
        <p:nvSpPr>
          <p:cNvPr id="3" name="Footer Placeholder 2">
            <a:extLst>
              <a:ext uri="{FF2B5EF4-FFF2-40B4-BE49-F238E27FC236}">
                <a16:creationId xmlns:a16="http://schemas.microsoft.com/office/drawing/2014/main" id="{8C396299-65B8-236C-5185-326DF6281CE8}"/>
              </a:ext>
            </a:extLst>
          </p:cNvPr>
          <p:cNvSpPr>
            <a:spLocks noGrp="1"/>
          </p:cNvSpPr>
          <p:nvPr>
            <p:ph type="ftr" sz="quarter" idx="11"/>
          </p:nvPr>
        </p:nvSpPr>
        <p:spPr/>
        <p:txBody>
          <a:bodyPr/>
          <a:lstStyle/>
          <a:p>
            <a:r>
              <a:rPr lang="en-US"/>
              <a:t>REVA Academy for Corporate Excellence – RACE | race.reva.edu.in</a:t>
            </a:r>
            <a:endParaRPr lang="en-IN"/>
          </a:p>
        </p:txBody>
      </p:sp>
      <p:sp>
        <p:nvSpPr>
          <p:cNvPr id="4" name="Slide Number Placeholder 3">
            <a:extLst>
              <a:ext uri="{FF2B5EF4-FFF2-40B4-BE49-F238E27FC236}">
                <a16:creationId xmlns:a16="http://schemas.microsoft.com/office/drawing/2014/main" id="{D82C14A8-2899-01EE-55FF-D21207C4938D}"/>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16406766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489C4-3A76-6231-0EB8-B7C0DF9B01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D70766E-B614-6E76-EE88-55095546DC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0F98D78-1D4B-6D37-81ED-B8EA609694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49C743-95E7-DA77-7E6B-91D4BDC2902D}"/>
              </a:ext>
            </a:extLst>
          </p:cNvPr>
          <p:cNvSpPr>
            <a:spLocks noGrp="1"/>
          </p:cNvSpPr>
          <p:nvPr>
            <p:ph type="dt" sz="half" idx="10"/>
          </p:nvPr>
        </p:nvSpPr>
        <p:spPr/>
        <p:txBody>
          <a:bodyPr/>
          <a:lstStyle/>
          <a:p>
            <a:fld id="{DA96A2E3-21D6-49A4-B7BE-5081A6C2E030}" type="datetime3">
              <a:rPr lang="en-US" smtClean="0"/>
              <a:t>14 July 2026</a:t>
            </a:fld>
            <a:endParaRPr lang="en-IN"/>
          </a:p>
        </p:txBody>
      </p:sp>
      <p:sp>
        <p:nvSpPr>
          <p:cNvPr id="6" name="Footer Placeholder 5">
            <a:extLst>
              <a:ext uri="{FF2B5EF4-FFF2-40B4-BE49-F238E27FC236}">
                <a16:creationId xmlns:a16="http://schemas.microsoft.com/office/drawing/2014/main" id="{2B7D41F0-E639-1C42-61E6-67955F562A96}"/>
              </a:ext>
            </a:extLst>
          </p:cNvPr>
          <p:cNvSpPr>
            <a:spLocks noGrp="1"/>
          </p:cNvSpPr>
          <p:nvPr>
            <p:ph type="ftr" sz="quarter" idx="11"/>
          </p:nvPr>
        </p:nvSpPr>
        <p:spPr/>
        <p:txBody>
          <a:bodyPr/>
          <a:lstStyle/>
          <a:p>
            <a:r>
              <a:rPr lang="en-US"/>
              <a:t>REVA Academy for Corporate Excellence – RACE | race.reva.edu.in</a:t>
            </a:r>
            <a:endParaRPr lang="en-IN"/>
          </a:p>
        </p:txBody>
      </p:sp>
      <p:sp>
        <p:nvSpPr>
          <p:cNvPr id="7" name="Slide Number Placeholder 6">
            <a:extLst>
              <a:ext uri="{FF2B5EF4-FFF2-40B4-BE49-F238E27FC236}">
                <a16:creationId xmlns:a16="http://schemas.microsoft.com/office/drawing/2014/main" id="{C22EF771-7E4C-27D5-A567-4DF5D5BF6DAE}"/>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12018110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3586A-A7F3-4A9F-305E-21667DAD2E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71AD13B-C499-3285-F0C2-B5D8500EB8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567E8D0-3A04-7DF5-1548-144A954F01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97146-77A6-BBD1-81B6-2FBA1D87B082}"/>
              </a:ext>
            </a:extLst>
          </p:cNvPr>
          <p:cNvSpPr>
            <a:spLocks noGrp="1"/>
          </p:cNvSpPr>
          <p:nvPr>
            <p:ph type="dt" sz="half" idx="10"/>
          </p:nvPr>
        </p:nvSpPr>
        <p:spPr/>
        <p:txBody>
          <a:bodyPr/>
          <a:lstStyle/>
          <a:p>
            <a:fld id="{693C6AB8-E909-429F-ABE1-7FDF375A8A24}" type="datetime3">
              <a:rPr lang="en-US" smtClean="0"/>
              <a:t>14 July 2026</a:t>
            </a:fld>
            <a:endParaRPr lang="en-IN"/>
          </a:p>
        </p:txBody>
      </p:sp>
      <p:sp>
        <p:nvSpPr>
          <p:cNvPr id="6" name="Footer Placeholder 5">
            <a:extLst>
              <a:ext uri="{FF2B5EF4-FFF2-40B4-BE49-F238E27FC236}">
                <a16:creationId xmlns:a16="http://schemas.microsoft.com/office/drawing/2014/main" id="{BAD01874-D9CC-80C3-6645-94CF4362A3CB}"/>
              </a:ext>
            </a:extLst>
          </p:cNvPr>
          <p:cNvSpPr>
            <a:spLocks noGrp="1"/>
          </p:cNvSpPr>
          <p:nvPr>
            <p:ph type="ftr" sz="quarter" idx="11"/>
          </p:nvPr>
        </p:nvSpPr>
        <p:spPr/>
        <p:txBody>
          <a:bodyPr/>
          <a:lstStyle/>
          <a:p>
            <a:r>
              <a:rPr lang="en-US"/>
              <a:t>REVA Academy for Corporate Excellence – RACE | race.reva.edu.in</a:t>
            </a:r>
            <a:endParaRPr lang="en-IN"/>
          </a:p>
        </p:txBody>
      </p:sp>
      <p:sp>
        <p:nvSpPr>
          <p:cNvPr id="7" name="Slide Number Placeholder 6">
            <a:extLst>
              <a:ext uri="{FF2B5EF4-FFF2-40B4-BE49-F238E27FC236}">
                <a16:creationId xmlns:a16="http://schemas.microsoft.com/office/drawing/2014/main" id="{05CACB1A-E2BD-5A9B-ACEB-ACE55378A27C}"/>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20233519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948CF-E4AA-AE25-988E-9AF6DED051C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AE07B0-B5FB-7F01-D1C7-8FD401701F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CF934E-37C1-DF05-2785-927F20E5C83A}"/>
              </a:ext>
            </a:extLst>
          </p:cNvPr>
          <p:cNvSpPr>
            <a:spLocks noGrp="1"/>
          </p:cNvSpPr>
          <p:nvPr>
            <p:ph type="dt" sz="half" idx="10"/>
          </p:nvPr>
        </p:nvSpPr>
        <p:spPr/>
        <p:txBody>
          <a:bodyPr/>
          <a:lstStyle/>
          <a:p>
            <a:fld id="{5E53A0AB-A797-49F1-91CA-409B68B2BAD3}" type="datetime3">
              <a:rPr lang="en-US" smtClean="0"/>
              <a:t>14 July 2026</a:t>
            </a:fld>
            <a:endParaRPr lang="en-IN"/>
          </a:p>
        </p:txBody>
      </p:sp>
      <p:sp>
        <p:nvSpPr>
          <p:cNvPr id="5" name="Footer Placeholder 4">
            <a:extLst>
              <a:ext uri="{FF2B5EF4-FFF2-40B4-BE49-F238E27FC236}">
                <a16:creationId xmlns:a16="http://schemas.microsoft.com/office/drawing/2014/main" id="{2186E886-8046-0491-18E0-C7DA49967E7F}"/>
              </a:ext>
            </a:extLst>
          </p:cNvPr>
          <p:cNvSpPr>
            <a:spLocks noGrp="1"/>
          </p:cNvSpPr>
          <p:nvPr>
            <p:ph type="ftr" sz="quarter" idx="11"/>
          </p:nvPr>
        </p:nvSpPr>
        <p:spPr/>
        <p:txBody>
          <a:bodyPr/>
          <a:lstStyle/>
          <a:p>
            <a:r>
              <a:rPr lang="en-US"/>
              <a:t>REVA Academy for Corporate Excellence – RACE | race.reva.edu.in</a:t>
            </a:r>
            <a:endParaRPr lang="en-IN"/>
          </a:p>
        </p:txBody>
      </p:sp>
      <p:sp>
        <p:nvSpPr>
          <p:cNvPr id="6" name="Slide Number Placeholder 5">
            <a:extLst>
              <a:ext uri="{FF2B5EF4-FFF2-40B4-BE49-F238E27FC236}">
                <a16:creationId xmlns:a16="http://schemas.microsoft.com/office/drawing/2014/main" id="{17AE8017-6C16-A82D-097D-828555708C9A}"/>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36648373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2A64DB-7E8E-77AA-AABA-01287D38E8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E38464-7BCC-168D-22E1-3396237C3F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CF9B8F-0D16-DFC3-1252-12480851D0A4}"/>
              </a:ext>
            </a:extLst>
          </p:cNvPr>
          <p:cNvSpPr>
            <a:spLocks noGrp="1"/>
          </p:cNvSpPr>
          <p:nvPr>
            <p:ph type="dt" sz="half" idx="10"/>
          </p:nvPr>
        </p:nvSpPr>
        <p:spPr/>
        <p:txBody>
          <a:bodyPr/>
          <a:lstStyle/>
          <a:p>
            <a:fld id="{4DAD4285-B41F-4602-8FE6-74B6B1A68E7C}" type="datetime3">
              <a:rPr lang="en-US" smtClean="0"/>
              <a:t>14 July 2026</a:t>
            </a:fld>
            <a:endParaRPr lang="en-IN"/>
          </a:p>
        </p:txBody>
      </p:sp>
      <p:sp>
        <p:nvSpPr>
          <p:cNvPr id="5" name="Footer Placeholder 4">
            <a:extLst>
              <a:ext uri="{FF2B5EF4-FFF2-40B4-BE49-F238E27FC236}">
                <a16:creationId xmlns:a16="http://schemas.microsoft.com/office/drawing/2014/main" id="{5331CA6E-6281-CC49-2B16-DD159250C466}"/>
              </a:ext>
            </a:extLst>
          </p:cNvPr>
          <p:cNvSpPr>
            <a:spLocks noGrp="1"/>
          </p:cNvSpPr>
          <p:nvPr>
            <p:ph type="ftr" sz="quarter" idx="11"/>
          </p:nvPr>
        </p:nvSpPr>
        <p:spPr/>
        <p:txBody>
          <a:bodyPr/>
          <a:lstStyle/>
          <a:p>
            <a:r>
              <a:rPr lang="en-US"/>
              <a:t>REVA Academy for Corporate Excellence – RACE | race.reva.edu.in</a:t>
            </a:r>
            <a:endParaRPr lang="en-IN"/>
          </a:p>
        </p:txBody>
      </p:sp>
      <p:sp>
        <p:nvSpPr>
          <p:cNvPr id="6" name="Slide Number Placeholder 5">
            <a:extLst>
              <a:ext uri="{FF2B5EF4-FFF2-40B4-BE49-F238E27FC236}">
                <a16:creationId xmlns:a16="http://schemas.microsoft.com/office/drawing/2014/main" id="{EDB0E7C1-2CA7-5D69-31E0-2E3ED2E15554}"/>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6657071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_01" preserve="1" userDrawn="1">
  <p:cSld name="2_01">
    <p:spTree>
      <p:nvGrpSpPr>
        <p:cNvPr id="1" name="Shape 12"/>
        <p:cNvGrpSpPr/>
        <p:nvPr/>
      </p:nvGrpSpPr>
      <p:grpSpPr>
        <a:xfrm>
          <a:off x="0" y="0"/>
          <a:ext cx="0" cy="0"/>
          <a:chOff x="0" y="0"/>
          <a:chExt cx="0" cy="0"/>
        </a:xfrm>
      </p:grpSpPr>
      <p:cxnSp>
        <p:nvCxnSpPr>
          <p:cNvPr id="12" name="Straight Connector 11"/>
          <p:cNvCxnSpPr/>
          <p:nvPr userDrawn="1"/>
        </p:nvCxnSpPr>
        <p:spPr>
          <a:xfrm>
            <a:off x="197815" y="1166622"/>
            <a:ext cx="117963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userDrawn="1"/>
        </p:nvSpPr>
        <p:spPr>
          <a:xfrm>
            <a:off x="5514882" y="393267"/>
            <a:ext cx="6479305" cy="492443"/>
          </a:xfrm>
          <a:prstGeom prst="rect">
            <a:avLst/>
          </a:prstGeom>
          <a:noFill/>
        </p:spPr>
        <p:txBody>
          <a:bodyPr wrap="square" rtlCol="0">
            <a:spAutoFit/>
          </a:bodyPr>
          <a:lstStyle/>
          <a:p>
            <a:pPr algn="r"/>
            <a:r>
              <a:rPr lang="en-IN" sz="1400" dirty="0">
                <a:latin typeface="+mj-lt"/>
              </a:rPr>
              <a:t>REVA Academy</a:t>
            </a:r>
            <a:r>
              <a:rPr lang="en-IN" sz="1400" baseline="0" dirty="0">
                <a:latin typeface="+mj-lt"/>
              </a:rPr>
              <a:t> for Corporate Excellence</a:t>
            </a:r>
          </a:p>
          <a:p>
            <a:pPr algn="r"/>
            <a:r>
              <a:rPr lang="en-IN" sz="1200" baseline="0" dirty="0">
                <a:latin typeface="+mj-lt"/>
              </a:rPr>
              <a:t>www.race.reva.edu.in </a:t>
            </a:r>
            <a:endParaRPr lang="en-IN" sz="1200" dirty="0">
              <a:latin typeface="+mj-lt"/>
            </a:endParaRP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7815" y="143294"/>
            <a:ext cx="2444405" cy="946221"/>
          </a:xfrm>
          <a:prstGeom prst="rect">
            <a:avLst/>
          </a:prstGeom>
        </p:spPr>
      </p:pic>
    </p:spTree>
    <p:extLst>
      <p:ext uri="{BB962C8B-B14F-4D97-AF65-F5344CB8AC3E}">
        <p14:creationId xmlns:p14="http://schemas.microsoft.com/office/powerpoint/2010/main" val="15991285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77889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atin typeface="Arial" panose="020B0604020202020204" pitchFamily="34" charset="0"/>
                <a:cs typeface="Arial" panose="020B0604020202020204" pitchFamily="34" charset="0"/>
              </a:defRPr>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ooter Placeholder 4"/>
          <p:cNvSpPr>
            <a:spLocks noGrp="1"/>
          </p:cNvSpPr>
          <p:nvPr>
            <p:ph type="ftr" sz="quarter" idx="3"/>
          </p:nvPr>
        </p:nvSpPr>
        <p:spPr>
          <a:xfrm>
            <a:off x="0" y="6555993"/>
            <a:ext cx="3840480" cy="302007"/>
          </a:xfrm>
          <a:prstGeom prst="rect">
            <a:avLst/>
          </a:prstGeom>
          <a:solidFill>
            <a:schemeClr val="bg1"/>
          </a:solidFill>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IN"/>
              <a:t>REVA Academy for Corporate Excellence – RACE | race.reva.edu.in</a:t>
            </a:r>
            <a:endParaRPr lang="en-US" dirty="0"/>
          </a:p>
        </p:txBody>
      </p:sp>
    </p:spTree>
    <p:extLst>
      <p:ext uri="{BB962C8B-B14F-4D97-AF65-F5344CB8AC3E}">
        <p14:creationId xmlns:p14="http://schemas.microsoft.com/office/powerpoint/2010/main" val="20601362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lvl1pPr>
              <a:defRPr>
                <a:latin typeface="Arial" panose="020B0604020202020204" pitchFamily="34" charset="0"/>
                <a:cs typeface="Arial" panose="020B0604020202020204" pitchFamily="34" charset="0"/>
              </a:defRPr>
            </a:lvl1pPr>
          </a:lstStyle>
          <a:p>
            <a:fld id="{0D0CCA17-D100-45DE-A2F3-E686E13D4486}" type="slidenum">
              <a:rPr lang="en-US" smtClean="0"/>
              <a:pPr/>
              <a:t>‹#›</a:t>
            </a:fld>
            <a:endParaRPr lang="en-US"/>
          </a:p>
        </p:txBody>
      </p:sp>
      <p:pic>
        <p:nvPicPr>
          <p:cNvPr id="8" name="Picture 7"/>
          <p:cNvPicPr>
            <a:picLocks noChangeAspect="1"/>
          </p:cNvPicPr>
          <p:nvPr userDrawn="1"/>
        </p:nvPicPr>
        <p:blipFill>
          <a:blip r:embed="rId2"/>
          <a:stretch>
            <a:fillRect/>
          </a:stretch>
        </p:blipFill>
        <p:spPr>
          <a:xfrm>
            <a:off x="9540239" y="16774"/>
            <a:ext cx="2577673" cy="687380"/>
          </a:xfrm>
          <a:prstGeom prst="rect">
            <a:avLst/>
          </a:prstGeom>
        </p:spPr>
      </p:pic>
      <p:sp>
        <p:nvSpPr>
          <p:cNvPr id="9" name="Footer Placeholder 4"/>
          <p:cNvSpPr>
            <a:spLocks noGrp="1"/>
          </p:cNvSpPr>
          <p:nvPr>
            <p:ph type="ftr" sz="quarter" idx="3"/>
          </p:nvPr>
        </p:nvSpPr>
        <p:spPr>
          <a:xfrm>
            <a:off x="0" y="6555993"/>
            <a:ext cx="3840480" cy="302007"/>
          </a:xfrm>
          <a:prstGeom prst="rect">
            <a:avLst/>
          </a:prstGeom>
          <a:solidFill>
            <a:schemeClr val="bg1"/>
          </a:solidFill>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IN"/>
              <a:t>REVA Academy for Corporate Excellence – RACE | race.reva.edu.in</a:t>
            </a:r>
            <a:endParaRPr lang="en-US" dirty="0"/>
          </a:p>
        </p:txBody>
      </p:sp>
    </p:spTree>
    <p:extLst>
      <p:ext uri="{BB962C8B-B14F-4D97-AF65-F5344CB8AC3E}">
        <p14:creationId xmlns:p14="http://schemas.microsoft.com/office/powerpoint/2010/main" val="29086719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p:cNvPicPr>
            <a:picLocks noChangeAspect="1"/>
          </p:cNvPicPr>
          <p:nvPr userDrawn="1"/>
        </p:nvPicPr>
        <p:blipFill>
          <a:blip r:embed="rId2"/>
          <a:stretch>
            <a:fillRect/>
          </a:stretch>
        </p:blipFill>
        <p:spPr>
          <a:xfrm>
            <a:off x="9631680" y="1534"/>
            <a:ext cx="2566262" cy="684266"/>
          </a:xfrm>
          <a:prstGeom prst="rect">
            <a:avLst/>
          </a:prstGeom>
        </p:spPr>
      </p:pic>
      <p:sp>
        <p:nvSpPr>
          <p:cNvPr id="9" name="Footer Placeholder 4"/>
          <p:cNvSpPr>
            <a:spLocks noGrp="1"/>
          </p:cNvSpPr>
          <p:nvPr>
            <p:ph type="ftr" sz="quarter" idx="10"/>
          </p:nvPr>
        </p:nvSpPr>
        <p:spPr>
          <a:xfrm>
            <a:off x="0" y="6555993"/>
            <a:ext cx="3840480" cy="302007"/>
          </a:xfrm>
          <a:prstGeom prst="rect">
            <a:avLst/>
          </a:prstGeom>
          <a:solidFill>
            <a:schemeClr val="bg1"/>
          </a:solidFill>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IN"/>
              <a:t>REVA Academy for Corporate Excellence – RACE | race.reva.edu.in</a:t>
            </a:r>
            <a:endParaRPr lang="en-US" dirty="0"/>
          </a:p>
        </p:txBody>
      </p:sp>
    </p:spTree>
    <p:extLst>
      <p:ext uri="{BB962C8B-B14F-4D97-AF65-F5344CB8AC3E}">
        <p14:creationId xmlns:p14="http://schemas.microsoft.com/office/powerpoint/2010/main" val="11391503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pic>
        <p:nvPicPr>
          <p:cNvPr id="6" name="Picture 5"/>
          <p:cNvPicPr>
            <a:picLocks noChangeAspect="1"/>
          </p:cNvPicPr>
          <p:nvPr userDrawn="1"/>
        </p:nvPicPr>
        <p:blipFill>
          <a:blip r:embed="rId2"/>
          <a:stretch>
            <a:fillRect/>
          </a:stretch>
        </p:blipFill>
        <p:spPr>
          <a:xfrm>
            <a:off x="9707879" y="32014"/>
            <a:ext cx="2407921" cy="642113"/>
          </a:xfrm>
          <a:prstGeom prst="rect">
            <a:avLst/>
          </a:prstGeom>
        </p:spPr>
      </p:pic>
      <p:sp>
        <p:nvSpPr>
          <p:cNvPr id="7" name="Footer Placeholder 4"/>
          <p:cNvSpPr>
            <a:spLocks noGrp="1"/>
          </p:cNvSpPr>
          <p:nvPr>
            <p:ph type="ftr" sz="quarter" idx="3"/>
          </p:nvPr>
        </p:nvSpPr>
        <p:spPr>
          <a:xfrm>
            <a:off x="0" y="6555993"/>
            <a:ext cx="3840480" cy="302007"/>
          </a:xfrm>
          <a:prstGeom prst="rect">
            <a:avLst/>
          </a:prstGeom>
          <a:solidFill>
            <a:schemeClr val="bg1"/>
          </a:solidFill>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IN"/>
              <a:t>REVA Academy for Corporate Excellence – RACE | race.reva.edu.in</a:t>
            </a:r>
            <a:endParaRPr lang="en-US" dirty="0"/>
          </a:p>
        </p:txBody>
      </p:sp>
    </p:spTree>
    <p:extLst>
      <p:ext uri="{BB962C8B-B14F-4D97-AF65-F5344CB8AC3E}">
        <p14:creationId xmlns:p14="http://schemas.microsoft.com/office/powerpoint/2010/main" val="9792616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9540240" y="32014"/>
            <a:ext cx="2608152" cy="695508"/>
          </a:xfrm>
          <a:prstGeom prst="rect">
            <a:avLst/>
          </a:prstGeom>
        </p:spPr>
      </p:pic>
      <p:sp>
        <p:nvSpPr>
          <p:cNvPr id="4" name="Footer Placeholder 4"/>
          <p:cNvSpPr>
            <a:spLocks noGrp="1"/>
          </p:cNvSpPr>
          <p:nvPr>
            <p:ph type="ftr" sz="quarter" idx="3"/>
          </p:nvPr>
        </p:nvSpPr>
        <p:spPr>
          <a:xfrm>
            <a:off x="0" y="6555993"/>
            <a:ext cx="3840480" cy="302007"/>
          </a:xfrm>
          <a:prstGeom prst="rect">
            <a:avLst/>
          </a:prstGeom>
          <a:solidFill>
            <a:schemeClr val="bg1"/>
          </a:solidFill>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IN"/>
              <a:t>REVA Academy for Corporate Excellence – RACE | race.reva.edu.in</a:t>
            </a:r>
            <a:endParaRPr lang="en-US" dirty="0"/>
          </a:p>
        </p:txBody>
      </p:sp>
    </p:spTree>
    <p:extLst>
      <p:ext uri="{BB962C8B-B14F-4D97-AF65-F5344CB8AC3E}">
        <p14:creationId xmlns:p14="http://schemas.microsoft.com/office/powerpoint/2010/main" val="18326267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2_Main Slide #2">
    <p:spTree>
      <p:nvGrpSpPr>
        <p:cNvPr id="1" name=""/>
        <p:cNvGrpSpPr/>
        <p:nvPr/>
      </p:nvGrpSpPr>
      <p:grpSpPr>
        <a:xfrm>
          <a:off x="0" y="0"/>
          <a:ext cx="0" cy="0"/>
          <a:chOff x="0" y="0"/>
          <a:chExt cx="0" cy="0"/>
        </a:xfrm>
      </p:grpSpPr>
      <p:sp>
        <p:nvSpPr>
          <p:cNvPr id="31" name="www.websitename.com"/>
          <p:cNvSpPr txBox="1">
            <a:spLocks noGrp="1"/>
          </p:cNvSpPr>
          <p:nvPr>
            <p:ph type="body" sz="quarter" idx="13"/>
          </p:nvPr>
        </p:nvSpPr>
        <p:spPr>
          <a:xfrm rot="16200000">
            <a:off x="11153149" y="3366675"/>
            <a:ext cx="1442703" cy="124650"/>
          </a:xfrm>
          <a:prstGeom prst="rect">
            <a:avLst/>
          </a:prstGeom>
        </p:spPr>
        <p:txBody>
          <a:bodyPr wrap="none" lIns="0" tIns="0" rIns="0" bIns="0" anchor="ctr">
            <a:spAutoFit/>
          </a:bodyPr>
          <a:lstStyle>
            <a:lvl1pPr>
              <a:defRPr sz="900">
                <a:solidFill>
                  <a:srgbClr val="6A6E77"/>
                </a:solidFill>
                <a:latin typeface="Montserrat Light"/>
                <a:ea typeface="Montserrat Light"/>
                <a:cs typeface="Montserrat Light"/>
                <a:sym typeface="Montserrat Light"/>
              </a:defRPr>
            </a:lvl1pPr>
          </a:lstStyle>
          <a:p>
            <a:r>
              <a:t>www.websitename.com</a:t>
            </a:r>
          </a:p>
        </p:txBody>
      </p:sp>
      <p:sp>
        <p:nvSpPr>
          <p:cNvPr id="32" name="uplock"/>
          <p:cNvSpPr txBox="1">
            <a:spLocks noGrp="1"/>
          </p:cNvSpPr>
          <p:nvPr>
            <p:ph type="body" sz="quarter" idx="14"/>
          </p:nvPr>
        </p:nvSpPr>
        <p:spPr>
          <a:xfrm rot="16200000">
            <a:off x="-30351" y="3342438"/>
            <a:ext cx="695703" cy="173124"/>
          </a:xfrm>
          <a:prstGeom prst="rect">
            <a:avLst/>
          </a:prstGeom>
        </p:spPr>
        <p:txBody>
          <a:bodyPr wrap="none" lIns="0" tIns="0" rIns="0" bIns="0" anchor="ctr">
            <a:spAutoFit/>
          </a:bodyPr>
          <a:lstStyle>
            <a:lvl1pPr>
              <a:defRPr sz="1250">
                <a:solidFill>
                  <a:srgbClr val="1C1F25"/>
                </a:solidFill>
                <a:latin typeface="Montserrat Bold"/>
                <a:ea typeface="Montserrat Bold"/>
                <a:cs typeface="Montserrat Bold"/>
                <a:sym typeface="Montserrat Bold"/>
              </a:defRPr>
            </a:lvl1pPr>
          </a:lstStyle>
          <a:p>
            <a:r>
              <a:t>uplock</a:t>
            </a:r>
          </a:p>
        </p:txBody>
      </p:sp>
      <p:sp>
        <p:nvSpPr>
          <p:cNvPr id="33" name="Slide Number"/>
          <p:cNvSpPr txBox="1">
            <a:spLocks noGrp="1"/>
          </p:cNvSpPr>
          <p:nvPr>
            <p:ph type="sldNum" sz="quarter" idx="2"/>
          </p:nvPr>
        </p:nvSpPr>
        <p:spPr>
          <a:xfrm>
            <a:off x="11407421" y="6476735"/>
            <a:ext cx="147397" cy="139701"/>
          </a:xfrm>
          <a:prstGeom prst="rect">
            <a:avLst/>
          </a:prstGeom>
        </p:spPr>
        <p:txBody>
          <a:bodyPr/>
          <a:lstStyle/>
          <a:p>
            <a:fld id="{86CB4B4D-7CA3-9044-876B-883B54F8677D}" type="slidenum">
              <a:t>‹#›</a:t>
            </a:fld>
            <a:endParaRPr/>
          </a:p>
        </p:txBody>
      </p:sp>
      <p:sp>
        <p:nvSpPr>
          <p:cNvPr id="7" name="Picture Placeholder 2">
            <a:extLst>
              <a:ext uri="{FF2B5EF4-FFF2-40B4-BE49-F238E27FC236}">
                <a16:creationId xmlns:a16="http://schemas.microsoft.com/office/drawing/2014/main" id="{C1CFBFE9-716E-4CC4-9BA2-ADF2F90D6429}"/>
              </a:ext>
            </a:extLst>
          </p:cNvPr>
          <p:cNvSpPr>
            <a:spLocks noGrp="1"/>
          </p:cNvSpPr>
          <p:nvPr>
            <p:ph type="pic" sz="quarter" idx="32" hasCustomPrompt="1"/>
          </p:nvPr>
        </p:nvSpPr>
        <p:spPr>
          <a:xfrm>
            <a:off x="633909" y="1"/>
            <a:ext cx="2731691" cy="6858000"/>
          </a:xfrm>
          <a:prstGeom prst="rect">
            <a:avLst/>
          </a:prstGeom>
          <a:solidFill>
            <a:schemeClr val="bg1">
              <a:lumMod val="95000"/>
            </a:schemeClr>
          </a:solidFill>
        </p:spPr>
        <p:txBody>
          <a:bodyPr anchor="ctr"/>
          <a:lstStyle>
            <a:lvl1pPr>
              <a:defRPr sz="1000"/>
            </a:lvl1pPr>
          </a:lstStyle>
          <a:p>
            <a:r>
              <a:rPr lang="en-US" dirty="0"/>
              <a:t>Click to Insert Image</a:t>
            </a:r>
          </a:p>
        </p:txBody>
      </p:sp>
    </p:spTree>
    <p:extLst>
      <p:ext uri="{BB962C8B-B14F-4D97-AF65-F5344CB8AC3E}">
        <p14:creationId xmlns:p14="http://schemas.microsoft.com/office/powerpoint/2010/main" val="4052850256"/>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270"/>
            <a:ext cx="12192000" cy="6855461"/>
          </a:xfrm>
          <a:prstGeom prst="rect">
            <a:avLst/>
          </a:prstGeom>
        </p:spPr>
      </p:pic>
      <p:grpSp>
        <p:nvGrpSpPr>
          <p:cNvPr id="16" name="Group 15"/>
          <p:cNvGrpSpPr/>
          <p:nvPr userDrawn="1"/>
        </p:nvGrpSpPr>
        <p:grpSpPr>
          <a:xfrm>
            <a:off x="237032" y="177459"/>
            <a:ext cx="11717936" cy="1204427"/>
            <a:chOff x="107455" y="133094"/>
            <a:chExt cx="8788452" cy="90332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455" y="133094"/>
              <a:ext cx="2245885" cy="903320"/>
            </a:xfrm>
            <a:prstGeom prst="rect">
              <a:avLst/>
            </a:prstGeom>
          </p:spPr>
        </p:pic>
        <p:sp>
          <p:nvSpPr>
            <p:cNvPr id="14" name="TextBox 13"/>
            <p:cNvSpPr txBox="1"/>
            <p:nvPr userDrawn="1"/>
          </p:nvSpPr>
          <p:spPr>
            <a:xfrm>
              <a:off x="4791740" y="133094"/>
              <a:ext cx="4104167" cy="469408"/>
            </a:xfrm>
            <a:prstGeom prst="rect">
              <a:avLst/>
            </a:prstGeom>
            <a:noFill/>
          </p:spPr>
          <p:txBody>
            <a:bodyPr wrap="square" rtlCol="0">
              <a:spAutoFit/>
            </a:bodyPr>
            <a:lstStyle/>
            <a:p>
              <a:pPr algn="r"/>
              <a:r>
                <a:rPr lang="en-IN" sz="1867" b="1" dirty="0">
                  <a:latin typeface="Calibri" panose="020F0502020204030204" pitchFamily="34" charset="0"/>
                  <a:cs typeface="Calibri" panose="020F0502020204030204" pitchFamily="34" charset="0"/>
                </a:rPr>
                <a:t>REVA Academy for Corporate Excellence (RACE)</a:t>
              </a:r>
            </a:p>
            <a:p>
              <a:pPr algn="r"/>
              <a:r>
                <a:rPr lang="en-IN" sz="1600" dirty="0">
                  <a:latin typeface="Calibri" panose="020F0502020204030204" pitchFamily="34" charset="0"/>
                  <a:cs typeface="Calibri" panose="020F0502020204030204" pitchFamily="34" charset="0"/>
                </a:rPr>
                <a:t>www.race.reva.edu.in</a:t>
              </a:r>
            </a:p>
          </p:txBody>
        </p:sp>
      </p:grpSp>
    </p:spTree>
    <p:extLst>
      <p:ext uri="{BB962C8B-B14F-4D97-AF65-F5344CB8AC3E}">
        <p14:creationId xmlns:p14="http://schemas.microsoft.com/office/powerpoint/2010/main" val="26712805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270"/>
            <a:ext cx="12192000" cy="6855461"/>
          </a:xfrm>
          <a:prstGeom prst="rect">
            <a:avLst/>
          </a:prstGeom>
        </p:spPr>
      </p:pic>
      <p:grpSp>
        <p:nvGrpSpPr>
          <p:cNvPr id="16" name="Group 15"/>
          <p:cNvGrpSpPr/>
          <p:nvPr userDrawn="1"/>
        </p:nvGrpSpPr>
        <p:grpSpPr>
          <a:xfrm>
            <a:off x="237032" y="177459"/>
            <a:ext cx="11717936" cy="1204427"/>
            <a:chOff x="107455" y="133094"/>
            <a:chExt cx="8788452" cy="90332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455" y="133094"/>
              <a:ext cx="2245885" cy="903320"/>
            </a:xfrm>
            <a:prstGeom prst="rect">
              <a:avLst/>
            </a:prstGeom>
          </p:spPr>
        </p:pic>
        <p:sp>
          <p:nvSpPr>
            <p:cNvPr id="14" name="TextBox 13"/>
            <p:cNvSpPr txBox="1"/>
            <p:nvPr userDrawn="1"/>
          </p:nvSpPr>
          <p:spPr>
            <a:xfrm>
              <a:off x="4791740" y="133094"/>
              <a:ext cx="4104167" cy="469408"/>
            </a:xfrm>
            <a:prstGeom prst="rect">
              <a:avLst/>
            </a:prstGeom>
            <a:noFill/>
          </p:spPr>
          <p:txBody>
            <a:bodyPr wrap="square" rtlCol="0">
              <a:spAutoFit/>
            </a:bodyPr>
            <a:lstStyle/>
            <a:p>
              <a:pPr algn="r"/>
              <a:r>
                <a:rPr lang="en-IN" sz="1867" b="1" dirty="0">
                  <a:latin typeface="Calibri" panose="020F0502020204030204" pitchFamily="34" charset="0"/>
                  <a:cs typeface="Calibri" panose="020F0502020204030204" pitchFamily="34" charset="0"/>
                </a:rPr>
                <a:t>REVA Academy for Corporate Excellence (RACE)</a:t>
              </a:r>
            </a:p>
            <a:p>
              <a:pPr algn="r"/>
              <a:r>
                <a:rPr lang="en-IN" sz="1600" dirty="0">
                  <a:latin typeface="Calibri" panose="020F0502020204030204" pitchFamily="34" charset="0"/>
                  <a:cs typeface="Calibri" panose="020F0502020204030204" pitchFamily="34" charset="0"/>
                </a:rPr>
                <a:t>www.race.reva.edu.in</a:t>
              </a:r>
            </a:p>
          </p:txBody>
        </p:sp>
      </p:grpSp>
    </p:spTree>
    <p:extLst>
      <p:ext uri="{BB962C8B-B14F-4D97-AF65-F5344CB8AC3E}">
        <p14:creationId xmlns:p14="http://schemas.microsoft.com/office/powerpoint/2010/main" val="20112879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2_01" userDrawn="1">
  <p:cSld name="3_01">
    <p:spTree>
      <p:nvGrpSpPr>
        <p:cNvPr id="1" name="Shape 12"/>
        <p:cNvGrpSpPr/>
        <p:nvPr/>
      </p:nvGrpSpPr>
      <p:grpSpPr>
        <a:xfrm>
          <a:off x="0" y="0"/>
          <a:ext cx="0" cy="0"/>
          <a:chOff x="0" y="0"/>
          <a:chExt cx="0" cy="0"/>
        </a:xfrm>
      </p:grpSpPr>
      <p:cxnSp>
        <p:nvCxnSpPr>
          <p:cNvPr id="12" name="Straight Connector 11"/>
          <p:cNvCxnSpPr/>
          <p:nvPr userDrawn="1"/>
        </p:nvCxnSpPr>
        <p:spPr>
          <a:xfrm>
            <a:off x="197815" y="1166622"/>
            <a:ext cx="117963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userDrawn="1"/>
        </p:nvSpPr>
        <p:spPr>
          <a:xfrm>
            <a:off x="5514882" y="393267"/>
            <a:ext cx="6479305" cy="492443"/>
          </a:xfrm>
          <a:prstGeom prst="rect">
            <a:avLst/>
          </a:prstGeom>
          <a:noFill/>
        </p:spPr>
        <p:txBody>
          <a:bodyPr wrap="square" rtlCol="0">
            <a:spAutoFit/>
          </a:bodyPr>
          <a:lstStyle/>
          <a:p>
            <a:pPr algn="r"/>
            <a:r>
              <a:rPr lang="en-IN" sz="1400" dirty="0">
                <a:latin typeface="+mj-lt"/>
              </a:rPr>
              <a:t>REVA Academy</a:t>
            </a:r>
            <a:r>
              <a:rPr lang="en-IN" sz="1400" baseline="0" dirty="0">
                <a:latin typeface="+mj-lt"/>
              </a:rPr>
              <a:t> for Corporate Excellence</a:t>
            </a:r>
          </a:p>
          <a:p>
            <a:pPr algn="r"/>
            <a:r>
              <a:rPr lang="en-IN" sz="1200" baseline="0" dirty="0">
                <a:latin typeface="+mj-lt"/>
              </a:rPr>
              <a:t>www.race.reva.edu.in </a:t>
            </a:r>
            <a:endParaRPr lang="en-IN" sz="1200" dirty="0">
              <a:latin typeface="+mj-lt"/>
            </a:endParaRP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7815" y="143294"/>
            <a:ext cx="2444405" cy="946221"/>
          </a:xfrm>
          <a:prstGeom prst="rect">
            <a:avLst/>
          </a:prstGeom>
        </p:spPr>
      </p:pic>
    </p:spTree>
    <p:extLst>
      <p:ext uri="{BB962C8B-B14F-4D97-AF65-F5344CB8AC3E}">
        <p14:creationId xmlns:p14="http://schemas.microsoft.com/office/powerpoint/2010/main" val="1745074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8382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F1468A9-DCD9-466F-99E8-72F5C99304C3}"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dirty="0">
              <a:ln>
                <a:noFill/>
              </a:ln>
              <a:solidFill>
                <a:prstClr val="black">
                  <a:tint val="75000"/>
                </a:prstClr>
              </a:solidFill>
              <a:effectLst/>
              <a:uLnTx/>
              <a:uFillTx/>
              <a:latin typeface="Roboto Slab"/>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01D3BC5-34EF-44B2-83AC-D5533E46F0A6}"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14834108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5BC2F2-4D2A-A620-8B97-4370377B1B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721170-226C-1291-214E-AA69A4A822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2BC54E-B23E-83D9-219D-3E94E86A8B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9B8086-8CEF-4375-ABEF-185B80135AEB}" type="datetime3">
              <a:rPr lang="en-US" smtClean="0"/>
              <a:t>14 July 2026</a:t>
            </a:fld>
            <a:endParaRPr lang="en-IN"/>
          </a:p>
        </p:txBody>
      </p:sp>
      <p:sp>
        <p:nvSpPr>
          <p:cNvPr id="5" name="Footer Placeholder 4">
            <a:extLst>
              <a:ext uri="{FF2B5EF4-FFF2-40B4-BE49-F238E27FC236}">
                <a16:creationId xmlns:a16="http://schemas.microsoft.com/office/drawing/2014/main" id="{815C31A5-9A34-06DF-31F6-C0E8F5A81E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REVA Academy for Corporate Excellence – RACE | race.reva.edu.in</a:t>
            </a:r>
            <a:endParaRPr lang="en-IN"/>
          </a:p>
        </p:txBody>
      </p:sp>
      <p:sp>
        <p:nvSpPr>
          <p:cNvPr id="6" name="Slide Number Placeholder 5">
            <a:extLst>
              <a:ext uri="{FF2B5EF4-FFF2-40B4-BE49-F238E27FC236}">
                <a16:creationId xmlns:a16="http://schemas.microsoft.com/office/drawing/2014/main" id="{A85A8EB8-6738-EBF2-0CE3-80E7244AE7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57AB3F-FF13-4C22-A1FE-9E11B92D325E}" type="slidenum">
              <a:rPr lang="en-IN" smtClean="0"/>
              <a:t>‹#›</a:t>
            </a:fld>
            <a:endParaRPr lang="en-IN"/>
          </a:p>
        </p:txBody>
      </p:sp>
    </p:spTree>
    <p:extLst>
      <p:ext uri="{BB962C8B-B14F-4D97-AF65-F5344CB8AC3E}">
        <p14:creationId xmlns:p14="http://schemas.microsoft.com/office/powerpoint/2010/main" val="2369992768"/>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7875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539629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hdr="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ieeexplore-ieee-org-reva.knimbus.com/author/37089905575" TargetMode="External"/><Relationship Id="rId2" Type="http://schemas.openxmlformats.org/officeDocument/2006/relationships/hyperlink" Target="https://ieeexplore-ieee-org-reva.knimbus.com/author/37085803052"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ieeexplore-ieee-org-reva.knimbus.com/document/10459480" TargetMode="External"/><Relationship Id="rId2" Type="http://schemas.openxmlformats.org/officeDocument/2006/relationships/hyperlink" Target="https://ieeexplore-ieee-org-reva.knimbus.com/document/10815757" TargetMode="External"/><Relationship Id="rId1" Type="http://schemas.openxmlformats.org/officeDocument/2006/relationships/slideLayout" Target="../slideLayouts/slideLayout2.xml"/><Relationship Id="rId5" Type="http://schemas.openxmlformats.org/officeDocument/2006/relationships/hyperlink" Target="https://ieeexplore-ieee-org-reva.knimbus.com/document/11014830" TargetMode="External"/><Relationship Id="rId4" Type="http://schemas.openxmlformats.org/officeDocument/2006/relationships/hyperlink" Target="https://ieeexplore-ieee-org-reva.knimbus.com/document/10685598"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1383" y="1899380"/>
            <a:ext cx="5905501" cy="1998307"/>
          </a:xfrm>
        </p:spPr>
        <p:txBody>
          <a:bodyPr anchor="ctr">
            <a:noAutofit/>
          </a:bodyPr>
          <a:lstStyle/>
          <a:p>
            <a:pPr algn="l">
              <a:lnSpc>
                <a:spcPct val="100000"/>
              </a:lnSpc>
            </a:pPr>
            <a:r>
              <a:rPr lang="en-US" sz="3200" b="1" dirty="0">
                <a:cs typeface="Arial" panose="020B0604020202020204" pitchFamily="34" charset="0"/>
              </a:rPr>
              <a:t>AI-Based Vulnerability Prioritization Engine using SBOM Context</a:t>
            </a:r>
            <a:endParaRPr lang="en-US" sz="2800" dirty="0">
              <a:cs typeface="Arial" panose="020B0604020202020204" pitchFamily="34" charset="0"/>
            </a:endParaRPr>
          </a:p>
        </p:txBody>
      </p:sp>
      <p:sp>
        <p:nvSpPr>
          <p:cNvPr id="3" name="Subtitle 2"/>
          <p:cNvSpPr>
            <a:spLocks noGrp="1"/>
          </p:cNvSpPr>
          <p:nvPr>
            <p:ph type="subTitle" idx="1"/>
          </p:nvPr>
        </p:nvSpPr>
        <p:spPr>
          <a:xfrm>
            <a:off x="5754994" y="2915884"/>
            <a:ext cx="5905500" cy="2232346"/>
          </a:xfrm>
        </p:spPr>
        <p:txBody>
          <a:bodyPr>
            <a:noAutofit/>
          </a:bodyPr>
          <a:lstStyle/>
          <a:p>
            <a:pPr algn="r"/>
            <a:r>
              <a:rPr lang="en-US" sz="1800" b="1" dirty="0">
                <a:solidFill>
                  <a:schemeClr val="bg1"/>
                </a:solidFill>
                <a:latin typeface="+mj-lt"/>
                <a:cs typeface="Arial" panose="020B0604020202020204" pitchFamily="34" charset="0"/>
              </a:rPr>
              <a:t>Name: Akil Kumar M N</a:t>
            </a:r>
          </a:p>
          <a:p>
            <a:pPr algn="r"/>
            <a:endParaRPr lang="en-US" sz="1800" b="1" dirty="0">
              <a:solidFill>
                <a:schemeClr val="bg1"/>
              </a:solidFill>
              <a:latin typeface="+mj-lt"/>
              <a:cs typeface="Arial" panose="020B0604020202020204" pitchFamily="34" charset="0"/>
            </a:endParaRPr>
          </a:p>
          <a:p>
            <a:pPr algn="r"/>
            <a:r>
              <a:rPr lang="en-US" sz="1400" dirty="0">
                <a:solidFill>
                  <a:schemeClr val="bg1"/>
                </a:solidFill>
                <a:cs typeface="Arial" panose="020B0604020202020204" pitchFamily="34" charset="0"/>
              </a:rPr>
              <a:t>Program: </a:t>
            </a:r>
            <a:r>
              <a:rPr lang="en-US" sz="1400" dirty="0" err="1">
                <a:solidFill>
                  <a:schemeClr val="bg1"/>
                </a:solidFill>
                <a:cs typeface="Arial" panose="020B0604020202020204" pitchFamily="34" charset="0"/>
              </a:rPr>
              <a:t>M.Tech</a:t>
            </a:r>
            <a:r>
              <a:rPr lang="en-US" sz="1400" dirty="0">
                <a:solidFill>
                  <a:schemeClr val="bg1"/>
                </a:solidFill>
                <a:cs typeface="Arial" panose="020B0604020202020204" pitchFamily="34" charset="0"/>
              </a:rPr>
              <a:t> in Cyber Security</a:t>
            </a:r>
          </a:p>
          <a:p>
            <a:pPr algn="r"/>
            <a:r>
              <a:rPr lang="en-US" sz="1400" dirty="0">
                <a:solidFill>
                  <a:schemeClr val="bg1"/>
                </a:solidFill>
                <a:cs typeface="Arial" panose="020B0604020202020204" pitchFamily="34" charset="0"/>
              </a:rPr>
              <a:t>Batch: CS10</a:t>
            </a:r>
          </a:p>
          <a:p>
            <a:pPr algn="r"/>
            <a:r>
              <a:rPr lang="en-US" sz="1400" dirty="0">
                <a:solidFill>
                  <a:schemeClr val="bg1"/>
                </a:solidFill>
                <a:cs typeface="Arial" panose="020B0604020202020204" pitchFamily="34" charset="0"/>
              </a:rPr>
              <a:t>SRN: R22MTC51</a:t>
            </a:r>
          </a:p>
          <a:p>
            <a:pPr algn="r"/>
            <a:r>
              <a:rPr lang="en-US" sz="1400" dirty="0">
                <a:solidFill>
                  <a:schemeClr val="bg1"/>
                </a:solidFill>
                <a:cs typeface="Arial" panose="020B0604020202020204" pitchFamily="34" charset="0"/>
              </a:rPr>
              <a:t>Date: 5</a:t>
            </a:r>
            <a:r>
              <a:rPr lang="en-US" sz="1400" baseline="30000" dirty="0">
                <a:solidFill>
                  <a:schemeClr val="bg1"/>
                </a:solidFill>
                <a:cs typeface="Arial" panose="020B0604020202020204" pitchFamily="34" charset="0"/>
              </a:rPr>
              <a:t>th</a:t>
            </a:r>
            <a:r>
              <a:rPr lang="en-US" sz="1400" dirty="0">
                <a:solidFill>
                  <a:schemeClr val="bg1"/>
                </a:solidFill>
                <a:cs typeface="Arial" panose="020B0604020202020204" pitchFamily="34" charset="0"/>
              </a:rPr>
              <a:t> March 2026</a:t>
            </a:r>
          </a:p>
          <a:p>
            <a:pPr algn="r"/>
            <a:r>
              <a:rPr lang="en-US" sz="1400" dirty="0">
                <a:solidFill>
                  <a:schemeClr val="bg1"/>
                </a:solidFill>
                <a:cs typeface="Arial" panose="020B0604020202020204" pitchFamily="34" charset="0"/>
              </a:rPr>
              <a:t>Capstone 1/2: 2</a:t>
            </a:r>
          </a:p>
        </p:txBody>
      </p:sp>
      <p:sp>
        <p:nvSpPr>
          <p:cNvPr id="7" name="Title 1"/>
          <p:cNvSpPr txBox="1">
            <a:spLocks/>
          </p:cNvSpPr>
          <p:nvPr/>
        </p:nvSpPr>
        <p:spPr>
          <a:xfrm>
            <a:off x="5485425" y="6119446"/>
            <a:ext cx="6175069" cy="35260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lang="en-IN" sz="1600" dirty="0">
                <a:solidFill>
                  <a:prstClr val="white"/>
                </a:solidFill>
                <a:latin typeface="Roboto Slab"/>
                <a:ea typeface="Calibri" panose="020F0502020204030204" pitchFamily="34" charset="0"/>
                <a:cs typeface="Arial" panose="020B0604020202020204" pitchFamily="34" charset="0"/>
              </a:rPr>
              <a:t>race</a:t>
            </a:r>
            <a:r>
              <a:rPr kumimoji="0" lang="en-IN" sz="1600" b="0" i="0" u="none" strike="noStrike" kern="1200" cap="none" spc="0" normalizeH="0" baseline="0" noProof="0" dirty="0">
                <a:ln>
                  <a:noFill/>
                </a:ln>
                <a:solidFill>
                  <a:prstClr val="white"/>
                </a:solidFill>
                <a:effectLst/>
                <a:uLnTx/>
                <a:uFillTx/>
                <a:latin typeface="Roboto Slab"/>
                <a:ea typeface="Calibri" panose="020F0502020204030204" pitchFamily="34" charset="0"/>
                <a:cs typeface="Arial" panose="020B0604020202020204" pitchFamily="34" charset="0"/>
              </a:rPr>
              <a:t>.reva.edu.in</a:t>
            </a:r>
          </a:p>
        </p:txBody>
      </p:sp>
      <p:sp>
        <p:nvSpPr>
          <p:cNvPr id="8" name="Title 2"/>
          <p:cNvSpPr txBox="1">
            <a:spLocks/>
          </p:cNvSpPr>
          <p:nvPr/>
        </p:nvSpPr>
        <p:spPr>
          <a:xfrm>
            <a:off x="6646333" y="316049"/>
            <a:ext cx="5267501" cy="5798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r" defTabSz="914400" rtl="0" eaLnBrk="1" fontAlgn="auto" latinLnBrk="0" hangingPunct="1">
              <a:lnSpc>
                <a:spcPct val="90000"/>
              </a:lnSpc>
              <a:spcBef>
                <a:spcPct val="0"/>
              </a:spcBef>
              <a:spcAft>
                <a:spcPts val="0"/>
              </a:spcAft>
              <a:buClrTx/>
              <a:buSzTx/>
              <a:buFontTx/>
              <a:buNone/>
              <a:tabLst/>
              <a:defRPr/>
            </a:pPr>
            <a:r>
              <a:rPr kumimoji="0" lang="en-IN" sz="1400" b="1" i="0" u="none" strike="noStrike" kern="1200" cap="none" spc="0" normalizeH="0" baseline="0" noProof="0" dirty="0">
                <a:ln>
                  <a:noFill/>
                </a:ln>
                <a:solidFill>
                  <a:srgbClr val="595959"/>
                </a:solidFill>
                <a:effectLst/>
                <a:uLnTx/>
                <a:uFillTx/>
                <a:latin typeface="Roboto Slab"/>
                <a:ea typeface="+mj-ea"/>
                <a:cs typeface="+mj-cs"/>
              </a:rPr>
              <a:t>REVA Academy for Corporate Excellence (RACE)</a:t>
            </a:r>
          </a:p>
        </p:txBody>
      </p:sp>
    </p:spTree>
    <p:extLst>
      <p:ext uri="{BB962C8B-B14F-4D97-AF65-F5344CB8AC3E}">
        <p14:creationId xmlns:p14="http://schemas.microsoft.com/office/powerpoint/2010/main" val="3819035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Agenda</a:t>
            </a:r>
          </a:p>
        </p:txBody>
      </p:sp>
      <p:grpSp>
        <p:nvGrpSpPr>
          <p:cNvPr id="9" name="Group 8">
            <a:extLst>
              <a:ext uri="{FF2B5EF4-FFF2-40B4-BE49-F238E27FC236}">
                <a16:creationId xmlns:a16="http://schemas.microsoft.com/office/drawing/2014/main" id="{37F06B10-F2B9-45AE-BAEE-3A25BDC40F60}"/>
              </a:ext>
            </a:extLst>
          </p:cNvPr>
          <p:cNvGrpSpPr/>
          <p:nvPr/>
        </p:nvGrpSpPr>
        <p:grpSpPr>
          <a:xfrm>
            <a:off x="738295" y="1665297"/>
            <a:ext cx="3684148" cy="716410"/>
            <a:chOff x="1848112" y="1575921"/>
            <a:chExt cx="5288092" cy="781718"/>
          </a:xfrm>
        </p:grpSpPr>
        <p:sp>
          <p:nvSpPr>
            <p:cNvPr id="10" name="TextBox 9"/>
            <p:cNvSpPr txBox="1"/>
            <p:nvPr/>
          </p:nvSpPr>
          <p:spPr>
            <a:xfrm>
              <a:off x="2628512" y="2088972"/>
              <a:ext cx="4507692" cy="268667"/>
            </a:xfrm>
            <a:prstGeom prst="rect">
              <a:avLst/>
            </a:prstGeom>
            <a:noFill/>
          </p:spPr>
          <p:txBody>
            <a:bodyPr wrap="square" rtlCol="0">
              <a:spAutoFit/>
            </a:bodyPr>
            <a:lstStyle/>
            <a:p>
              <a:r>
                <a:rPr lang="en-US" altLang="ko-KR" sz="1000" dirty="0">
                  <a:solidFill>
                    <a:schemeClr val="tx1">
                      <a:lumMod val="75000"/>
                      <a:lumOff val="25000"/>
                    </a:schemeClr>
                  </a:solidFill>
                  <a:latin typeface="+mj-lt"/>
                  <a:cs typeface="Arial" pitchFamily="34" charset="0"/>
                </a:rPr>
                <a:t>Background | Current status | Why this study  </a:t>
              </a:r>
            </a:p>
          </p:txBody>
        </p:sp>
        <p:sp>
          <p:nvSpPr>
            <p:cNvPr id="11" name="TextBox 10"/>
            <p:cNvSpPr txBox="1"/>
            <p:nvPr/>
          </p:nvSpPr>
          <p:spPr>
            <a:xfrm>
              <a:off x="2602027" y="1662793"/>
              <a:ext cx="4507692" cy="403000"/>
            </a:xfrm>
            <a:prstGeom prst="rect">
              <a:avLst/>
            </a:prstGeom>
            <a:noFill/>
          </p:spPr>
          <p:txBody>
            <a:bodyPr wrap="square" lIns="108000" rIns="108000" rtlCol="0">
              <a:spAutoFit/>
            </a:bodyPr>
            <a:lstStyle/>
            <a:p>
              <a:r>
                <a:rPr lang="en-US" altLang="ko-KR" b="1" dirty="0">
                  <a:solidFill>
                    <a:schemeClr val="tx1">
                      <a:lumMod val="75000"/>
                      <a:lumOff val="25000"/>
                    </a:schemeClr>
                  </a:solidFill>
                  <a:latin typeface="+mj-lt"/>
                  <a:cs typeface="Arial" pitchFamily="34" charset="0"/>
                </a:rPr>
                <a:t>Introduction</a:t>
              </a:r>
              <a:endParaRPr lang="ko-KR" altLang="en-US" b="1" dirty="0">
                <a:solidFill>
                  <a:schemeClr val="tx1">
                    <a:lumMod val="75000"/>
                    <a:lumOff val="25000"/>
                  </a:schemeClr>
                </a:solidFill>
                <a:latin typeface="+mj-lt"/>
                <a:cs typeface="Arial" pitchFamily="34" charset="0"/>
              </a:endParaRPr>
            </a:p>
          </p:txBody>
        </p:sp>
        <p:sp>
          <p:nvSpPr>
            <p:cNvPr id="12" name="TextBox 11"/>
            <p:cNvSpPr txBox="1"/>
            <p:nvPr/>
          </p:nvSpPr>
          <p:spPr>
            <a:xfrm>
              <a:off x="1848112" y="1575921"/>
              <a:ext cx="958095" cy="570917"/>
            </a:xfrm>
            <a:prstGeom prst="rect">
              <a:avLst/>
            </a:prstGeom>
            <a:noFill/>
          </p:spPr>
          <p:txBody>
            <a:bodyPr wrap="square" lIns="108000" rIns="108000" rtlCol="0">
              <a:spAutoFit/>
            </a:bodyPr>
            <a:lstStyle/>
            <a:p>
              <a:pPr algn="ctr"/>
              <a:r>
                <a:rPr lang="en-US" altLang="ko-KR" sz="2800" b="1" dirty="0">
                  <a:solidFill>
                    <a:schemeClr val="tx1">
                      <a:lumMod val="75000"/>
                      <a:lumOff val="25000"/>
                    </a:schemeClr>
                  </a:solidFill>
                  <a:latin typeface="+mj-lt"/>
                  <a:cs typeface="Arial" pitchFamily="34" charset="0"/>
                </a:rPr>
                <a:t>01</a:t>
              </a:r>
              <a:endParaRPr lang="ko-KR" altLang="en-US" sz="2800" b="1" dirty="0">
                <a:solidFill>
                  <a:schemeClr val="tx1">
                    <a:lumMod val="75000"/>
                    <a:lumOff val="25000"/>
                  </a:schemeClr>
                </a:solidFill>
                <a:latin typeface="+mj-lt"/>
                <a:cs typeface="Arial" pitchFamily="34" charset="0"/>
              </a:endParaRPr>
            </a:p>
          </p:txBody>
        </p:sp>
      </p:grpSp>
      <p:grpSp>
        <p:nvGrpSpPr>
          <p:cNvPr id="13" name="Group 12">
            <a:extLst>
              <a:ext uri="{FF2B5EF4-FFF2-40B4-BE49-F238E27FC236}">
                <a16:creationId xmlns:a16="http://schemas.microsoft.com/office/drawing/2014/main" id="{48C572D2-FF82-4F09-A87C-3D3A60EF1C3D}"/>
              </a:ext>
            </a:extLst>
          </p:cNvPr>
          <p:cNvGrpSpPr/>
          <p:nvPr/>
        </p:nvGrpSpPr>
        <p:grpSpPr>
          <a:xfrm>
            <a:off x="566654" y="2735611"/>
            <a:ext cx="5244336" cy="680781"/>
            <a:chOff x="1848112" y="1575921"/>
            <a:chExt cx="5244336" cy="680781"/>
          </a:xfrm>
        </p:grpSpPr>
        <p:sp>
          <p:nvSpPr>
            <p:cNvPr id="14" name="TextBox 13">
              <a:extLst>
                <a:ext uri="{FF2B5EF4-FFF2-40B4-BE49-F238E27FC236}">
                  <a16:creationId xmlns:a16="http://schemas.microsoft.com/office/drawing/2014/main" id="{4C6F8FA6-DB08-4060-9832-77D337D2BF55}"/>
                </a:ext>
              </a:extLst>
            </p:cNvPr>
            <p:cNvSpPr txBox="1"/>
            <p:nvPr/>
          </p:nvSpPr>
          <p:spPr>
            <a:xfrm>
              <a:off x="2584756" y="2010481"/>
              <a:ext cx="4507692" cy="246221"/>
            </a:xfrm>
            <a:prstGeom prst="rect">
              <a:avLst/>
            </a:prstGeom>
            <a:noFill/>
          </p:spPr>
          <p:txBody>
            <a:bodyPr wrap="square" rtlCol="0">
              <a:spAutoFit/>
            </a:bodyPr>
            <a:lstStyle/>
            <a:p>
              <a:r>
                <a:rPr lang="en-US" altLang="ko-KR" sz="1000" dirty="0">
                  <a:solidFill>
                    <a:schemeClr val="tx1">
                      <a:lumMod val="75000"/>
                      <a:lumOff val="25000"/>
                    </a:schemeClr>
                  </a:solidFill>
                  <a:latin typeface="+mj-lt"/>
                  <a:ea typeface="FZShuTi" pitchFamily="2" charset="-122"/>
                  <a:cs typeface="Arial" pitchFamily="34" charset="0"/>
                </a:rPr>
                <a:t>Seminal works | Summary | Research Gap</a:t>
              </a:r>
              <a:endParaRPr lang="en-US" altLang="ko-KR" sz="1000" dirty="0">
                <a:solidFill>
                  <a:schemeClr val="tx1">
                    <a:lumMod val="75000"/>
                    <a:lumOff val="25000"/>
                  </a:schemeClr>
                </a:solidFill>
                <a:latin typeface="+mj-lt"/>
                <a:cs typeface="Arial" pitchFamily="34" charset="0"/>
              </a:endParaRPr>
            </a:p>
          </p:txBody>
        </p:sp>
        <p:sp>
          <p:nvSpPr>
            <p:cNvPr id="15" name="TextBox 14">
              <a:extLst>
                <a:ext uri="{FF2B5EF4-FFF2-40B4-BE49-F238E27FC236}">
                  <a16:creationId xmlns:a16="http://schemas.microsoft.com/office/drawing/2014/main" id="{4FCF8A9D-7E22-4279-8535-9C4F0258D7B9}"/>
                </a:ext>
              </a:extLst>
            </p:cNvPr>
            <p:cNvSpPr txBox="1"/>
            <p:nvPr/>
          </p:nvSpPr>
          <p:spPr>
            <a:xfrm>
              <a:off x="2584756" y="1641794"/>
              <a:ext cx="4507692" cy="369332"/>
            </a:xfrm>
            <a:prstGeom prst="rect">
              <a:avLst/>
            </a:prstGeom>
            <a:noFill/>
          </p:spPr>
          <p:txBody>
            <a:bodyPr wrap="square" lIns="108000" rIns="108000" rtlCol="0">
              <a:spAutoFit/>
            </a:bodyPr>
            <a:lstStyle/>
            <a:p>
              <a:r>
                <a:rPr lang="en-US" altLang="ko-KR" b="1" dirty="0">
                  <a:solidFill>
                    <a:schemeClr val="tx1">
                      <a:lumMod val="75000"/>
                      <a:lumOff val="25000"/>
                    </a:schemeClr>
                  </a:solidFill>
                  <a:latin typeface="+mj-lt"/>
                  <a:cs typeface="Arial" pitchFamily="34" charset="0"/>
                </a:rPr>
                <a:t>Literature Review</a:t>
              </a:r>
              <a:endParaRPr lang="ko-KR" altLang="en-US" b="1" dirty="0">
                <a:solidFill>
                  <a:schemeClr val="tx1">
                    <a:lumMod val="75000"/>
                    <a:lumOff val="25000"/>
                  </a:schemeClr>
                </a:solidFill>
                <a:latin typeface="+mj-lt"/>
                <a:cs typeface="Arial" pitchFamily="34" charset="0"/>
              </a:endParaRPr>
            </a:p>
          </p:txBody>
        </p:sp>
        <p:sp>
          <p:nvSpPr>
            <p:cNvPr id="16" name="TextBox 15">
              <a:extLst>
                <a:ext uri="{FF2B5EF4-FFF2-40B4-BE49-F238E27FC236}">
                  <a16:creationId xmlns:a16="http://schemas.microsoft.com/office/drawing/2014/main" id="{3E6D74D0-F347-4E58-A9D8-7E9536FAAEC3}"/>
                </a:ext>
              </a:extLst>
            </p:cNvPr>
            <p:cNvSpPr txBox="1"/>
            <p:nvPr/>
          </p:nvSpPr>
          <p:spPr>
            <a:xfrm>
              <a:off x="1848112" y="1575921"/>
              <a:ext cx="958096" cy="523220"/>
            </a:xfrm>
            <a:prstGeom prst="rect">
              <a:avLst/>
            </a:prstGeom>
            <a:noFill/>
          </p:spPr>
          <p:txBody>
            <a:bodyPr wrap="square" lIns="108000" rIns="108000" rtlCol="0">
              <a:spAutoFit/>
            </a:bodyPr>
            <a:lstStyle/>
            <a:p>
              <a:pPr algn="ctr"/>
              <a:r>
                <a:rPr lang="en-US" altLang="ko-KR" sz="2800" b="1" dirty="0">
                  <a:solidFill>
                    <a:schemeClr val="tx1">
                      <a:lumMod val="75000"/>
                      <a:lumOff val="25000"/>
                    </a:schemeClr>
                  </a:solidFill>
                  <a:latin typeface="+mj-lt"/>
                  <a:cs typeface="Arial" pitchFamily="34" charset="0"/>
                </a:rPr>
                <a:t>02</a:t>
              </a:r>
              <a:endParaRPr lang="ko-KR" altLang="en-US" sz="2800" b="1" dirty="0">
                <a:solidFill>
                  <a:schemeClr val="tx1">
                    <a:lumMod val="75000"/>
                    <a:lumOff val="25000"/>
                  </a:schemeClr>
                </a:solidFill>
                <a:latin typeface="+mj-lt"/>
                <a:cs typeface="Arial" pitchFamily="34" charset="0"/>
              </a:endParaRPr>
            </a:p>
          </p:txBody>
        </p:sp>
      </p:grpSp>
      <p:grpSp>
        <p:nvGrpSpPr>
          <p:cNvPr id="17" name="Group 16">
            <a:extLst>
              <a:ext uri="{FF2B5EF4-FFF2-40B4-BE49-F238E27FC236}">
                <a16:creationId xmlns:a16="http://schemas.microsoft.com/office/drawing/2014/main" id="{C66517ED-D341-498B-BF06-476933A43F6B}"/>
              </a:ext>
            </a:extLst>
          </p:cNvPr>
          <p:cNvGrpSpPr/>
          <p:nvPr/>
        </p:nvGrpSpPr>
        <p:grpSpPr>
          <a:xfrm>
            <a:off x="692558" y="4990383"/>
            <a:ext cx="4493778" cy="805558"/>
            <a:chOff x="1830629" y="1575337"/>
            <a:chExt cx="5282581" cy="805558"/>
          </a:xfrm>
        </p:grpSpPr>
        <p:sp>
          <p:nvSpPr>
            <p:cNvPr id="18" name="TextBox 17">
              <a:extLst>
                <a:ext uri="{FF2B5EF4-FFF2-40B4-BE49-F238E27FC236}">
                  <a16:creationId xmlns:a16="http://schemas.microsoft.com/office/drawing/2014/main" id="{7DDE46A4-1F4F-419B-85C6-1ABD9A677D50}"/>
                </a:ext>
              </a:extLst>
            </p:cNvPr>
            <p:cNvSpPr txBox="1"/>
            <p:nvPr/>
          </p:nvSpPr>
          <p:spPr>
            <a:xfrm>
              <a:off x="2605518" y="1980785"/>
              <a:ext cx="4507692" cy="400110"/>
            </a:xfrm>
            <a:prstGeom prst="rect">
              <a:avLst/>
            </a:prstGeom>
            <a:noFill/>
          </p:spPr>
          <p:txBody>
            <a:bodyPr wrap="square" rtlCol="0">
              <a:spAutoFit/>
            </a:bodyPr>
            <a:lstStyle/>
            <a:p>
              <a:r>
                <a:rPr lang="en-US" altLang="ko-KR" sz="1000" dirty="0">
                  <a:solidFill>
                    <a:schemeClr val="tx1">
                      <a:lumMod val="75000"/>
                      <a:lumOff val="25000"/>
                    </a:schemeClr>
                  </a:solidFill>
                  <a:latin typeface="+mj-lt"/>
                  <a:cs typeface="Arial" pitchFamily="34" charset="0"/>
                </a:rPr>
                <a:t>Primary &amp; Secondary Objectives | Expected Outcome</a:t>
              </a:r>
            </a:p>
            <a:p>
              <a:r>
                <a:rPr lang="en-US" altLang="ko-KR" sz="1000" dirty="0">
                  <a:solidFill>
                    <a:schemeClr val="tx1">
                      <a:lumMod val="75000"/>
                      <a:lumOff val="25000"/>
                    </a:schemeClr>
                  </a:solidFill>
                  <a:latin typeface="+mj-lt"/>
                  <a:cs typeface="Arial" pitchFamily="34" charset="0"/>
                </a:rPr>
                <a:t> </a:t>
              </a:r>
            </a:p>
          </p:txBody>
        </p:sp>
        <p:sp>
          <p:nvSpPr>
            <p:cNvPr id="19" name="TextBox 18">
              <a:extLst>
                <a:ext uri="{FF2B5EF4-FFF2-40B4-BE49-F238E27FC236}">
                  <a16:creationId xmlns:a16="http://schemas.microsoft.com/office/drawing/2014/main" id="{190EC436-1B46-49D9-A7E4-ADECB5E929DF}"/>
                </a:ext>
              </a:extLst>
            </p:cNvPr>
            <p:cNvSpPr txBox="1"/>
            <p:nvPr/>
          </p:nvSpPr>
          <p:spPr>
            <a:xfrm>
              <a:off x="2535876" y="1642552"/>
              <a:ext cx="4507692" cy="369332"/>
            </a:xfrm>
            <a:prstGeom prst="rect">
              <a:avLst/>
            </a:prstGeom>
            <a:noFill/>
          </p:spPr>
          <p:txBody>
            <a:bodyPr wrap="square" lIns="108000" rIns="108000" rtlCol="0">
              <a:spAutoFit/>
            </a:bodyPr>
            <a:lstStyle/>
            <a:p>
              <a:r>
                <a:rPr lang="en-US" altLang="ko-KR" b="1" dirty="0">
                  <a:solidFill>
                    <a:schemeClr val="tx1">
                      <a:lumMod val="75000"/>
                      <a:lumOff val="25000"/>
                    </a:schemeClr>
                  </a:solidFill>
                  <a:latin typeface="+mj-lt"/>
                  <a:cs typeface="Arial" pitchFamily="34" charset="0"/>
                </a:rPr>
                <a:t> Project Objectives  </a:t>
              </a:r>
              <a:endParaRPr lang="ko-KR" altLang="en-US" b="1" dirty="0">
                <a:solidFill>
                  <a:schemeClr val="tx1">
                    <a:lumMod val="75000"/>
                    <a:lumOff val="25000"/>
                  </a:schemeClr>
                </a:solidFill>
                <a:latin typeface="+mj-lt"/>
                <a:cs typeface="Arial" pitchFamily="34" charset="0"/>
              </a:endParaRPr>
            </a:p>
          </p:txBody>
        </p:sp>
        <p:sp>
          <p:nvSpPr>
            <p:cNvPr id="20" name="TextBox 19">
              <a:extLst>
                <a:ext uri="{FF2B5EF4-FFF2-40B4-BE49-F238E27FC236}">
                  <a16:creationId xmlns:a16="http://schemas.microsoft.com/office/drawing/2014/main" id="{CF831A6C-272F-4BDD-8F88-4227AAB90FB2}"/>
                </a:ext>
              </a:extLst>
            </p:cNvPr>
            <p:cNvSpPr txBox="1"/>
            <p:nvPr/>
          </p:nvSpPr>
          <p:spPr>
            <a:xfrm>
              <a:off x="1830629" y="1575337"/>
              <a:ext cx="958096" cy="523220"/>
            </a:xfrm>
            <a:prstGeom prst="rect">
              <a:avLst/>
            </a:prstGeom>
            <a:noFill/>
          </p:spPr>
          <p:txBody>
            <a:bodyPr wrap="square" lIns="108000" rIns="108000" rtlCol="0">
              <a:spAutoFit/>
            </a:bodyPr>
            <a:lstStyle/>
            <a:p>
              <a:pPr algn="ctr"/>
              <a:r>
                <a:rPr lang="en-US" altLang="ko-KR" sz="2800" b="1" dirty="0">
                  <a:solidFill>
                    <a:schemeClr val="tx1">
                      <a:lumMod val="75000"/>
                      <a:lumOff val="25000"/>
                    </a:schemeClr>
                  </a:solidFill>
                  <a:latin typeface="+mj-lt"/>
                  <a:cs typeface="Arial" pitchFamily="34" charset="0"/>
                </a:rPr>
                <a:t>04</a:t>
              </a:r>
              <a:endParaRPr lang="ko-KR" altLang="en-US" sz="2800" b="1" dirty="0">
                <a:solidFill>
                  <a:schemeClr val="tx1">
                    <a:lumMod val="75000"/>
                    <a:lumOff val="25000"/>
                  </a:schemeClr>
                </a:solidFill>
                <a:latin typeface="+mj-lt"/>
                <a:cs typeface="Arial" pitchFamily="34" charset="0"/>
              </a:endParaRPr>
            </a:p>
          </p:txBody>
        </p:sp>
      </p:grpSp>
      <p:grpSp>
        <p:nvGrpSpPr>
          <p:cNvPr id="5" name="Group 4"/>
          <p:cNvGrpSpPr/>
          <p:nvPr/>
        </p:nvGrpSpPr>
        <p:grpSpPr>
          <a:xfrm>
            <a:off x="6315038" y="1740858"/>
            <a:ext cx="3715984" cy="620982"/>
            <a:chOff x="366296" y="5072998"/>
            <a:chExt cx="5339298" cy="620982"/>
          </a:xfrm>
        </p:grpSpPr>
        <p:grpSp>
          <p:nvGrpSpPr>
            <p:cNvPr id="21" name="Group 20">
              <a:extLst>
                <a:ext uri="{FF2B5EF4-FFF2-40B4-BE49-F238E27FC236}">
                  <a16:creationId xmlns:a16="http://schemas.microsoft.com/office/drawing/2014/main" id="{1DEE4032-D811-4C99-AE03-98362C887B64}"/>
                </a:ext>
              </a:extLst>
            </p:cNvPr>
            <p:cNvGrpSpPr/>
            <p:nvPr/>
          </p:nvGrpSpPr>
          <p:grpSpPr>
            <a:xfrm>
              <a:off x="366296" y="5072998"/>
              <a:ext cx="5339298" cy="523220"/>
              <a:chOff x="1683508" y="1590033"/>
              <a:chExt cx="5339298" cy="523220"/>
            </a:xfrm>
          </p:grpSpPr>
          <p:sp>
            <p:nvSpPr>
              <p:cNvPr id="23" name="TextBox 22">
                <a:extLst>
                  <a:ext uri="{FF2B5EF4-FFF2-40B4-BE49-F238E27FC236}">
                    <a16:creationId xmlns:a16="http://schemas.microsoft.com/office/drawing/2014/main" id="{3DFCC804-6C1D-4C67-B274-1978635DA6F9}"/>
                  </a:ext>
                </a:extLst>
              </p:cNvPr>
              <p:cNvSpPr txBox="1"/>
              <p:nvPr/>
            </p:nvSpPr>
            <p:spPr>
              <a:xfrm>
                <a:off x="2515114" y="1626240"/>
                <a:ext cx="4507692" cy="369332"/>
              </a:xfrm>
              <a:prstGeom prst="rect">
                <a:avLst/>
              </a:prstGeom>
              <a:noFill/>
            </p:spPr>
            <p:txBody>
              <a:bodyPr wrap="square" lIns="108000" rIns="108000" rtlCol="0">
                <a:spAutoFit/>
              </a:bodyPr>
              <a:lstStyle/>
              <a:p>
                <a:r>
                  <a:rPr lang="en-US" altLang="ko-KR" b="1" dirty="0">
                    <a:solidFill>
                      <a:schemeClr val="tx1">
                        <a:lumMod val="75000"/>
                        <a:lumOff val="25000"/>
                      </a:schemeClr>
                    </a:solidFill>
                    <a:latin typeface="+mj-lt"/>
                    <a:cs typeface="Arial" pitchFamily="34" charset="0"/>
                  </a:rPr>
                  <a:t>Project Methodology  </a:t>
                </a:r>
                <a:endParaRPr lang="ko-KR" altLang="en-US" b="1" dirty="0">
                  <a:solidFill>
                    <a:schemeClr val="tx1">
                      <a:lumMod val="75000"/>
                      <a:lumOff val="25000"/>
                    </a:schemeClr>
                  </a:solidFill>
                  <a:latin typeface="+mj-lt"/>
                  <a:cs typeface="Arial" pitchFamily="34" charset="0"/>
                </a:endParaRPr>
              </a:p>
            </p:txBody>
          </p:sp>
          <p:sp>
            <p:nvSpPr>
              <p:cNvPr id="24" name="TextBox 23">
                <a:extLst>
                  <a:ext uri="{FF2B5EF4-FFF2-40B4-BE49-F238E27FC236}">
                    <a16:creationId xmlns:a16="http://schemas.microsoft.com/office/drawing/2014/main" id="{7B7AC64B-48B2-4F4F-A626-7901145018C6}"/>
                  </a:ext>
                </a:extLst>
              </p:cNvPr>
              <p:cNvSpPr txBox="1"/>
              <p:nvPr/>
            </p:nvSpPr>
            <p:spPr>
              <a:xfrm>
                <a:off x="1683508" y="1590033"/>
                <a:ext cx="958096" cy="523220"/>
              </a:xfrm>
              <a:prstGeom prst="rect">
                <a:avLst/>
              </a:prstGeom>
              <a:noFill/>
            </p:spPr>
            <p:txBody>
              <a:bodyPr wrap="square" lIns="108000" rIns="108000" rtlCol="0">
                <a:spAutoFit/>
              </a:bodyPr>
              <a:lstStyle/>
              <a:p>
                <a:pPr algn="ctr"/>
                <a:r>
                  <a:rPr lang="en-US" altLang="ko-KR" sz="2800" b="1" dirty="0">
                    <a:solidFill>
                      <a:schemeClr val="tx1">
                        <a:lumMod val="75000"/>
                        <a:lumOff val="25000"/>
                      </a:schemeClr>
                    </a:solidFill>
                    <a:latin typeface="+mj-lt"/>
                    <a:cs typeface="Arial" pitchFamily="34" charset="0"/>
                  </a:rPr>
                  <a:t>05</a:t>
                </a:r>
                <a:endParaRPr lang="ko-KR" altLang="en-US" sz="2800" b="1" dirty="0">
                  <a:solidFill>
                    <a:schemeClr val="tx1">
                      <a:lumMod val="75000"/>
                      <a:lumOff val="25000"/>
                    </a:schemeClr>
                  </a:solidFill>
                  <a:latin typeface="+mj-lt"/>
                  <a:cs typeface="Arial" pitchFamily="34" charset="0"/>
                </a:endParaRPr>
              </a:p>
            </p:txBody>
          </p:sp>
        </p:grpSp>
        <p:sp>
          <p:nvSpPr>
            <p:cNvPr id="3" name="Rectangle 2"/>
            <p:cNvSpPr/>
            <p:nvPr/>
          </p:nvSpPr>
          <p:spPr>
            <a:xfrm>
              <a:off x="1228051" y="5440064"/>
              <a:ext cx="2840842" cy="253916"/>
            </a:xfrm>
            <a:prstGeom prst="rect">
              <a:avLst/>
            </a:prstGeom>
          </p:spPr>
          <p:txBody>
            <a:bodyPr wrap="none">
              <a:spAutoFit/>
            </a:bodyPr>
            <a:lstStyle/>
            <a:p>
              <a:r>
                <a:rPr lang="en-US" sz="1050" dirty="0"/>
                <a:t>Conceptual Framework | Research Design</a:t>
              </a:r>
            </a:p>
          </p:txBody>
        </p:sp>
      </p:grpSp>
      <p:grpSp>
        <p:nvGrpSpPr>
          <p:cNvPr id="25" name="Group 24">
            <a:extLst>
              <a:ext uri="{FF2B5EF4-FFF2-40B4-BE49-F238E27FC236}">
                <a16:creationId xmlns:a16="http://schemas.microsoft.com/office/drawing/2014/main" id="{37F06B10-F2B9-45AE-BAEE-3A25BDC40F60}"/>
              </a:ext>
            </a:extLst>
          </p:cNvPr>
          <p:cNvGrpSpPr/>
          <p:nvPr/>
        </p:nvGrpSpPr>
        <p:grpSpPr>
          <a:xfrm>
            <a:off x="6345492" y="2735563"/>
            <a:ext cx="3848699" cy="676334"/>
            <a:chOff x="1848112" y="1575921"/>
            <a:chExt cx="5360890" cy="676334"/>
          </a:xfrm>
        </p:grpSpPr>
        <p:sp>
          <p:nvSpPr>
            <p:cNvPr id="26" name="TextBox 25"/>
            <p:cNvSpPr txBox="1"/>
            <p:nvPr/>
          </p:nvSpPr>
          <p:spPr>
            <a:xfrm>
              <a:off x="2701310" y="2006034"/>
              <a:ext cx="4507692" cy="246221"/>
            </a:xfrm>
            <a:prstGeom prst="rect">
              <a:avLst/>
            </a:prstGeom>
            <a:noFill/>
          </p:spPr>
          <p:txBody>
            <a:bodyPr wrap="square" rtlCol="0">
              <a:spAutoFit/>
            </a:bodyPr>
            <a:lstStyle/>
            <a:p>
              <a:r>
                <a:rPr lang="en-US" altLang="ko-KR" sz="1000" dirty="0">
                  <a:solidFill>
                    <a:schemeClr val="tx1">
                      <a:lumMod val="75000"/>
                      <a:lumOff val="25000"/>
                    </a:schemeClr>
                  </a:solidFill>
                  <a:latin typeface="+mj-lt"/>
                  <a:cs typeface="Arial" pitchFamily="34" charset="0"/>
                </a:rPr>
                <a:t> </a:t>
              </a:r>
            </a:p>
          </p:txBody>
        </p:sp>
        <p:sp>
          <p:nvSpPr>
            <p:cNvPr id="27" name="TextBox 26"/>
            <p:cNvSpPr txBox="1"/>
            <p:nvPr/>
          </p:nvSpPr>
          <p:spPr>
            <a:xfrm>
              <a:off x="2645983" y="1652044"/>
              <a:ext cx="4507692" cy="369332"/>
            </a:xfrm>
            <a:prstGeom prst="rect">
              <a:avLst/>
            </a:prstGeom>
            <a:noFill/>
          </p:spPr>
          <p:txBody>
            <a:bodyPr wrap="square" lIns="108000" rIns="108000" rtlCol="0">
              <a:spAutoFit/>
            </a:bodyPr>
            <a:lstStyle/>
            <a:p>
              <a:r>
                <a:rPr lang="en-US" altLang="ko-KR" b="1" dirty="0">
                  <a:solidFill>
                    <a:schemeClr val="tx1">
                      <a:lumMod val="75000"/>
                      <a:lumOff val="25000"/>
                    </a:schemeClr>
                  </a:solidFill>
                  <a:latin typeface="+mj-lt"/>
                  <a:cs typeface="Arial" pitchFamily="34" charset="0"/>
                </a:rPr>
                <a:t>Proposed Solution</a:t>
              </a:r>
              <a:endParaRPr lang="ko-KR" altLang="en-US" b="1" dirty="0">
                <a:solidFill>
                  <a:schemeClr val="tx1">
                    <a:lumMod val="75000"/>
                    <a:lumOff val="25000"/>
                  </a:schemeClr>
                </a:solidFill>
                <a:latin typeface="+mj-lt"/>
                <a:cs typeface="Arial" pitchFamily="34" charset="0"/>
              </a:endParaRPr>
            </a:p>
          </p:txBody>
        </p:sp>
        <p:sp>
          <p:nvSpPr>
            <p:cNvPr id="28" name="TextBox 27"/>
            <p:cNvSpPr txBox="1"/>
            <p:nvPr/>
          </p:nvSpPr>
          <p:spPr>
            <a:xfrm>
              <a:off x="1848112" y="1575921"/>
              <a:ext cx="958096" cy="523220"/>
            </a:xfrm>
            <a:prstGeom prst="rect">
              <a:avLst/>
            </a:prstGeom>
            <a:noFill/>
          </p:spPr>
          <p:txBody>
            <a:bodyPr wrap="square" lIns="108000" rIns="108000" rtlCol="0">
              <a:spAutoFit/>
            </a:bodyPr>
            <a:lstStyle/>
            <a:p>
              <a:pPr algn="ctr"/>
              <a:r>
                <a:rPr lang="en-US" altLang="ko-KR" sz="2800" b="1" dirty="0">
                  <a:solidFill>
                    <a:schemeClr val="tx1">
                      <a:lumMod val="75000"/>
                      <a:lumOff val="25000"/>
                    </a:schemeClr>
                  </a:solidFill>
                  <a:latin typeface="+mj-lt"/>
                  <a:cs typeface="Arial" pitchFamily="34" charset="0"/>
                </a:rPr>
                <a:t>06</a:t>
              </a:r>
              <a:endParaRPr lang="ko-KR" altLang="en-US" sz="2800" b="1" dirty="0">
                <a:solidFill>
                  <a:schemeClr val="tx1">
                    <a:lumMod val="75000"/>
                    <a:lumOff val="25000"/>
                  </a:schemeClr>
                </a:solidFill>
                <a:latin typeface="+mj-lt"/>
                <a:cs typeface="Arial" pitchFamily="34" charset="0"/>
              </a:endParaRPr>
            </a:p>
          </p:txBody>
        </p:sp>
      </p:grpSp>
      <p:grpSp>
        <p:nvGrpSpPr>
          <p:cNvPr id="43" name="Group 42"/>
          <p:cNvGrpSpPr/>
          <p:nvPr/>
        </p:nvGrpSpPr>
        <p:grpSpPr>
          <a:xfrm>
            <a:off x="608162" y="3850475"/>
            <a:ext cx="5244336" cy="691368"/>
            <a:chOff x="530900" y="5058886"/>
            <a:chExt cx="5244336" cy="691368"/>
          </a:xfrm>
        </p:grpSpPr>
        <p:grpSp>
          <p:nvGrpSpPr>
            <p:cNvPr id="44" name="Group 43">
              <a:extLst>
                <a:ext uri="{FF2B5EF4-FFF2-40B4-BE49-F238E27FC236}">
                  <a16:creationId xmlns:a16="http://schemas.microsoft.com/office/drawing/2014/main" id="{1DEE4032-D811-4C99-AE03-98362C887B64}"/>
                </a:ext>
              </a:extLst>
            </p:cNvPr>
            <p:cNvGrpSpPr/>
            <p:nvPr/>
          </p:nvGrpSpPr>
          <p:grpSpPr>
            <a:xfrm>
              <a:off x="530900" y="5058886"/>
              <a:ext cx="5244336" cy="523220"/>
              <a:chOff x="1848112" y="1575921"/>
              <a:chExt cx="5244336" cy="523220"/>
            </a:xfrm>
          </p:grpSpPr>
          <p:sp>
            <p:nvSpPr>
              <p:cNvPr id="47" name="TextBox 46">
                <a:extLst>
                  <a:ext uri="{FF2B5EF4-FFF2-40B4-BE49-F238E27FC236}">
                    <a16:creationId xmlns:a16="http://schemas.microsoft.com/office/drawing/2014/main" id="{3DFCC804-6C1D-4C67-B274-1978635DA6F9}"/>
                  </a:ext>
                </a:extLst>
              </p:cNvPr>
              <p:cNvSpPr txBox="1"/>
              <p:nvPr/>
            </p:nvSpPr>
            <p:spPr>
              <a:xfrm>
                <a:off x="2584756" y="1641696"/>
                <a:ext cx="4507692" cy="369332"/>
              </a:xfrm>
              <a:prstGeom prst="rect">
                <a:avLst/>
              </a:prstGeom>
              <a:noFill/>
            </p:spPr>
            <p:txBody>
              <a:bodyPr wrap="square" lIns="108000" rIns="108000" rtlCol="0">
                <a:spAutoFit/>
              </a:bodyPr>
              <a:lstStyle/>
              <a:p>
                <a:r>
                  <a:rPr lang="en-US" altLang="ko-KR" b="1" dirty="0">
                    <a:solidFill>
                      <a:schemeClr val="tx1">
                        <a:lumMod val="75000"/>
                        <a:lumOff val="25000"/>
                      </a:schemeClr>
                    </a:solidFill>
                    <a:latin typeface="+mj-lt"/>
                    <a:cs typeface="Arial" pitchFamily="34" charset="0"/>
                  </a:rPr>
                  <a:t>Problem Statement</a:t>
                </a:r>
                <a:endParaRPr lang="ko-KR" altLang="en-US" b="1" dirty="0">
                  <a:solidFill>
                    <a:schemeClr val="tx1">
                      <a:lumMod val="75000"/>
                      <a:lumOff val="25000"/>
                    </a:schemeClr>
                  </a:solidFill>
                  <a:latin typeface="+mj-lt"/>
                  <a:cs typeface="Arial" pitchFamily="34" charset="0"/>
                </a:endParaRPr>
              </a:p>
            </p:txBody>
          </p:sp>
          <p:sp>
            <p:nvSpPr>
              <p:cNvPr id="48" name="TextBox 47">
                <a:extLst>
                  <a:ext uri="{FF2B5EF4-FFF2-40B4-BE49-F238E27FC236}">
                    <a16:creationId xmlns:a16="http://schemas.microsoft.com/office/drawing/2014/main" id="{7B7AC64B-48B2-4F4F-A626-7901145018C6}"/>
                  </a:ext>
                </a:extLst>
              </p:cNvPr>
              <p:cNvSpPr txBox="1"/>
              <p:nvPr/>
            </p:nvSpPr>
            <p:spPr>
              <a:xfrm>
                <a:off x="1848112" y="1575921"/>
                <a:ext cx="958096" cy="523220"/>
              </a:xfrm>
              <a:prstGeom prst="rect">
                <a:avLst/>
              </a:prstGeom>
              <a:noFill/>
            </p:spPr>
            <p:txBody>
              <a:bodyPr wrap="square" lIns="108000" rIns="108000" rtlCol="0">
                <a:spAutoFit/>
              </a:bodyPr>
              <a:lstStyle/>
              <a:p>
                <a:pPr algn="ctr"/>
                <a:r>
                  <a:rPr lang="en-US" altLang="ko-KR" sz="2800" b="1" dirty="0">
                    <a:solidFill>
                      <a:schemeClr val="tx1">
                        <a:lumMod val="75000"/>
                        <a:lumOff val="25000"/>
                      </a:schemeClr>
                    </a:solidFill>
                    <a:latin typeface="+mj-lt"/>
                    <a:cs typeface="Arial" pitchFamily="34" charset="0"/>
                  </a:rPr>
                  <a:t>03</a:t>
                </a:r>
                <a:endParaRPr lang="ko-KR" altLang="en-US" sz="2800" b="1" dirty="0">
                  <a:solidFill>
                    <a:schemeClr val="tx1">
                      <a:lumMod val="75000"/>
                      <a:lumOff val="25000"/>
                    </a:schemeClr>
                  </a:solidFill>
                  <a:latin typeface="+mj-lt"/>
                  <a:cs typeface="Arial" pitchFamily="34" charset="0"/>
                </a:endParaRPr>
              </a:p>
            </p:txBody>
          </p:sp>
        </p:grpSp>
        <p:sp>
          <p:nvSpPr>
            <p:cNvPr id="45" name="Rectangle 44"/>
            <p:cNvSpPr/>
            <p:nvPr/>
          </p:nvSpPr>
          <p:spPr>
            <a:xfrm>
              <a:off x="1267544" y="5496338"/>
              <a:ext cx="2206053" cy="253916"/>
            </a:xfrm>
            <a:prstGeom prst="rect">
              <a:avLst/>
            </a:prstGeom>
          </p:spPr>
          <p:txBody>
            <a:bodyPr wrap="none">
              <a:spAutoFit/>
            </a:bodyPr>
            <a:lstStyle/>
            <a:p>
              <a:r>
                <a:rPr lang="en-US" sz="1050" dirty="0"/>
                <a:t>Technical/Functional  Problem </a:t>
              </a:r>
            </a:p>
          </p:txBody>
        </p:sp>
      </p:grpSp>
      <p:grpSp>
        <p:nvGrpSpPr>
          <p:cNvPr id="49" name="Group 48">
            <a:extLst>
              <a:ext uri="{FF2B5EF4-FFF2-40B4-BE49-F238E27FC236}">
                <a16:creationId xmlns:a16="http://schemas.microsoft.com/office/drawing/2014/main" id="{37F06B10-F2B9-45AE-BAEE-3A25BDC40F60}"/>
              </a:ext>
            </a:extLst>
          </p:cNvPr>
          <p:cNvGrpSpPr/>
          <p:nvPr/>
        </p:nvGrpSpPr>
        <p:grpSpPr>
          <a:xfrm>
            <a:off x="6270794" y="3854159"/>
            <a:ext cx="4780000" cy="523220"/>
            <a:chOff x="1848112" y="1575921"/>
            <a:chExt cx="5237952" cy="523220"/>
          </a:xfrm>
        </p:grpSpPr>
        <p:sp>
          <p:nvSpPr>
            <p:cNvPr id="51" name="TextBox 50"/>
            <p:cNvSpPr txBox="1"/>
            <p:nvPr/>
          </p:nvSpPr>
          <p:spPr>
            <a:xfrm>
              <a:off x="2578371" y="1600386"/>
              <a:ext cx="4507693" cy="369332"/>
            </a:xfrm>
            <a:prstGeom prst="rect">
              <a:avLst/>
            </a:prstGeom>
            <a:noFill/>
          </p:spPr>
          <p:txBody>
            <a:bodyPr wrap="square" lIns="108000" rIns="108000" rtlCol="0">
              <a:spAutoFit/>
            </a:bodyPr>
            <a:lstStyle/>
            <a:p>
              <a:r>
                <a:rPr lang="en-US" altLang="ko-KR" b="1" dirty="0">
                  <a:solidFill>
                    <a:schemeClr val="tx1">
                      <a:lumMod val="75000"/>
                      <a:lumOff val="25000"/>
                    </a:schemeClr>
                  </a:solidFill>
                  <a:latin typeface="+mj-lt"/>
                  <a:cs typeface="Arial" pitchFamily="34" charset="0"/>
                </a:rPr>
                <a:t>Detailed Scope of Work</a:t>
              </a:r>
              <a:endParaRPr lang="ko-KR" altLang="en-US" b="1" dirty="0">
                <a:solidFill>
                  <a:schemeClr val="tx1">
                    <a:lumMod val="75000"/>
                    <a:lumOff val="25000"/>
                  </a:schemeClr>
                </a:solidFill>
                <a:latin typeface="+mj-lt"/>
                <a:cs typeface="Arial" pitchFamily="34" charset="0"/>
              </a:endParaRPr>
            </a:p>
          </p:txBody>
        </p:sp>
        <p:sp>
          <p:nvSpPr>
            <p:cNvPr id="52" name="TextBox 51"/>
            <p:cNvSpPr txBox="1"/>
            <p:nvPr/>
          </p:nvSpPr>
          <p:spPr>
            <a:xfrm>
              <a:off x="1848112" y="1575921"/>
              <a:ext cx="958096" cy="523220"/>
            </a:xfrm>
            <a:prstGeom prst="rect">
              <a:avLst/>
            </a:prstGeom>
            <a:noFill/>
          </p:spPr>
          <p:txBody>
            <a:bodyPr wrap="square" lIns="108000" rIns="108000" rtlCol="0">
              <a:spAutoFit/>
            </a:bodyPr>
            <a:lstStyle/>
            <a:p>
              <a:pPr algn="ctr"/>
              <a:r>
                <a:rPr lang="en-US" altLang="ko-KR" sz="2800" b="1" dirty="0">
                  <a:solidFill>
                    <a:schemeClr val="tx1">
                      <a:lumMod val="75000"/>
                      <a:lumOff val="25000"/>
                    </a:schemeClr>
                  </a:solidFill>
                  <a:latin typeface="+mj-lt"/>
                  <a:cs typeface="Arial" pitchFamily="34" charset="0"/>
                </a:rPr>
                <a:t>07</a:t>
              </a:r>
              <a:endParaRPr lang="ko-KR" altLang="en-US" sz="2800" b="1" dirty="0">
                <a:solidFill>
                  <a:schemeClr val="tx1">
                    <a:lumMod val="75000"/>
                    <a:lumOff val="25000"/>
                  </a:schemeClr>
                </a:solidFill>
                <a:latin typeface="+mj-lt"/>
                <a:cs typeface="Arial" pitchFamily="34" charset="0"/>
              </a:endParaRPr>
            </a:p>
          </p:txBody>
        </p:sp>
      </p:grpSp>
      <p:grpSp>
        <p:nvGrpSpPr>
          <p:cNvPr id="53" name="Group 52">
            <a:extLst>
              <a:ext uri="{FF2B5EF4-FFF2-40B4-BE49-F238E27FC236}">
                <a16:creationId xmlns:a16="http://schemas.microsoft.com/office/drawing/2014/main" id="{37F06B10-F2B9-45AE-BAEE-3A25BDC40F60}"/>
              </a:ext>
            </a:extLst>
          </p:cNvPr>
          <p:cNvGrpSpPr/>
          <p:nvPr/>
        </p:nvGrpSpPr>
        <p:grpSpPr>
          <a:xfrm>
            <a:off x="6383953" y="4844106"/>
            <a:ext cx="3647069" cy="807756"/>
            <a:chOff x="1848112" y="1575921"/>
            <a:chExt cx="5307517" cy="807756"/>
          </a:xfrm>
        </p:grpSpPr>
        <p:sp>
          <p:nvSpPr>
            <p:cNvPr id="54" name="TextBox 53"/>
            <p:cNvSpPr txBox="1"/>
            <p:nvPr/>
          </p:nvSpPr>
          <p:spPr>
            <a:xfrm>
              <a:off x="2647937" y="1983567"/>
              <a:ext cx="4507692" cy="400110"/>
            </a:xfrm>
            <a:prstGeom prst="rect">
              <a:avLst/>
            </a:prstGeom>
            <a:noFill/>
          </p:spPr>
          <p:txBody>
            <a:bodyPr wrap="square" rtlCol="0">
              <a:spAutoFit/>
            </a:bodyPr>
            <a:lstStyle/>
            <a:p>
              <a:r>
                <a:rPr lang="en-US" sz="1000" dirty="0"/>
                <a:t>Journal Articles | White Papers </a:t>
              </a:r>
            </a:p>
            <a:p>
              <a:endParaRPr lang="en-US" altLang="ko-KR" sz="1000" dirty="0">
                <a:solidFill>
                  <a:schemeClr val="tx1">
                    <a:lumMod val="75000"/>
                    <a:lumOff val="25000"/>
                  </a:schemeClr>
                </a:solidFill>
                <a:latin typeface="+mj-lt"/>
                <a:cs typeface="Arial" pitchFamily="34" charset="0"/>
              </a:endParaRPr>
            </a:p>
          </p:txBody>
        </p:sp>
        <p:sp>
          <p:nvSpPr>
            <p:cNvPr id="55" name="TextBox 54"/>
            <p:cNvSpPr txBox="1"/>
            <p:nvPr/>
          </p:nvSpPr>
          <p:spPr>
            <a:xfrm>
              <a:off x="2647936" y="1626099"/>
              <a:ext cx="4507693" cy="369332"/>
            </a:xfrm>
            <a:prstGeom prst="rect">
              <a:avLst/>
            </a:prstGeom>
            <a:noFill/>
          </p:spPr>
          <p:txBody>
            <a:bodyPr wrap="square" lIns="108000" rIns="108000" rtlCol="0">
              <a:spAutoFit/>
            </a:bodyPr>
            <a:lstStyle/>
            <a:p>
              <a:r>
                <a:rPr lang="en-US" altLang="ko-KR" b="1" dirty="0">
                  <a:solidFill>
                    <a:schemeClr val="tx1">
                      <a:lumMod val="75000"/>
                      <a:lumOff val="25000"/>
                    </a:schemeClr>
                  </a:solidFill>
                  <a:latin typeface="+mj-lt"/>
                  <a:cs typeface="Arial" pitchFamily="34" charset="0"/>
                </a:rPr>
                <a:t>References</a:t>
              </a:r>
              <a:endParaRPr lang="ko-KR" altLang="en-US" b="1" dirty="0">
                <a:solidFill>
                  <a:schemeClr val="tx1">
                    <a:lumMod val="75000"/>
                    <a:lumOff val="25000"/>
                  </a:schemeClr>
                </a:solidFill>
                <a:latin typeface="+mj-lt"/>
                <a:cs typeface="Arial" pitchFamily="34" charset="0"/>
              </a:endParaRPr>
            </a:p>
          </p:txBody>
        </p:sp>
        <p:sp>
          <p:nvSpPr>
            <p:cNvPr id="56" name="TextBox 55"/>
            <p:cNvSpPr txBox="1"/>
            <p:nvPr/>
          </p:nvSpPr>
          <p:spPr>
            <a:xfrm>
              <a:off x="1848112" y="1575921"/>
              <a:ext cx="958096" cy="523220"/>
            </a:xfrm>
            <a:prstGeom prst="rect">
              <a:avLst/>
            </a:prstGeom>
            <a:noFill/>
          </p:spPr>
          <p:txBody>
            <a:bodyPr wrap="square" lIns="108000" rIns="108000" rtlCol="0">
              <a:spAutoFit/>
            </a:bodyPr>
            <a:lstStyle/>
            <a:p>
              <a:pPr algn="ctr"/>
              <a:r>
                <a:rPr lang="en-US" altLang="ko-KR" sz="2800" b="1" dirty="0">
                  <a:solidFill>
                    <a:schemeClr val="tx1">
                      <a:lumMod val="75000"/>
                      <a:lumOff val="25000"/>
                    </a:schemeClr>
                  </a:solidFill>
                  <a:latin typeface="+mj-lt"/>
                  <a:cs typeface="Arial" pitchFamily="34" charset="0"/>
                </a:rPr>
                <a:t>08</a:t>
              </a:r>
              <a:endParaRPr lang="ko-KR" altLang="en-US" sz="2800" b="1" dirty="0">
                <a:solidFill>
                  <a:schemeClr val="tx1">
                    <a:lumMod val="75000"/>
                    <a:lumOff val="25000"/>
                  </a:schemeClr>
                </a:solidFill>
                <a:latin typeface="+mj-lt"/>
                <a:cs typeface="Arial" pitchFamily="34" charset="0"/>
              </a:endParaRPr>
            </a:p>
          </p:txBody>
        </p:sp>
      </p:grpSp>
      <p:sp>
        <p:nvSpPr>
          <p:cNvPr id="2" name="Date Placeholder 1">
            <a:extLst>
              <a:ext uri="{FF2B5EF4-FFF2-40B4-BE49-F238E27FC236}">
                <a16:creationId xmlns:a16="http://schemas.microsoft.com/office/drawing/2014/main" id="{AEB98BC4-8BDF-A31B-7F68-4F2971CA6C9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61AF60D-223D-461F-A92F-539B6F408AF0}" type="datetime3">
              <a:rPr kumimoji="0" lang="en-US" sz="1200" b="0" i="0" u="none" strike="noStrike" kern="1200" cap="none" spc="0" normalizeH="0" baseline="0" noProof="0" smtClean="0">
                <a:ln>
                  <a:noFill/>
                </a:ln>
                <a:solidFill>
                  <a:schemeClr val="tx1"/>
                </a:solidFill>
                <a:effectLst/>
                <a:uLnTx/>
                <a:uFillTx/>
                <a:latin typeface="Roboto Slab"/>
                <a:ea typeface="+mn-ea"/>
                <a:cs typeface="+mn-cs"/>
              </a:rPr>
              <a:t>14 July 2026</a:t>
            </a:fld>
            <a:endParaRPr kumimoji="0" lang="en-US" sz="1200" b="0" i="0" u="none" strike="noStrike" kern="1200" cap="none" spc="0" normalizeH="0" baseline="0" noProof="0">
              <a:ln>
                <a:noFill/>
              </a:ln>
              <a:solidFill>
                <a:schemeClr val="tx1"/>
              </a:solidFill>
              <a:effectLst/>
              <a:uLnTx/>
              <a:uFillTx/>
              <a:latin typeface="Roboto Slab"/>
              <a:ea typeface="+mn-ea"/>
              <a:cs typeface="+mn-cs"/>
            </a:endParaRPr>
          </a:p>
        </p:txBody>
      </p:sp>
      <p:sp>
        <p:nvSpPr>
          <p:cNvPr id="6" name="Footer Placeholder 5">
            <a:extLst>
              <a:ext uri="{FF2B5EF4-FFF2-40B4-BE49-F238E27FC236}">
                <a16:creationId xmlns:a16="http://schemas.microsoft.com/office/drawing/2014/main" id="{55B31472-8299-9197-981E-6E011EBDF926}"/>
              </a:ext>
            </a:extLst>
          </p:cNvPr>
          <p:cNvSpPr>
            <a:spLocks noGrp="1"/>
          </p:cNvSpPr>
          <p:nvPr>
            <p:ph type="ftr" sz="quarter" idx="3"/>
          </p:nvPr>
        </p:nvSpPr>
        <p:spPr/>
        <p:txBody>
          <a:bodyPr/>
          <a:lstStyle/>
          <a:p>
            <a:pPr>
              <a:defRPr/>
            </a:pPr>
            <a:r>
              <a:rPr lang="en-US">
                <a:solidFill>
                  <a:schemeClr val="tx1"/>
                </a:solidFill>
              </a:rPr>
              <a:t>REVA Academy for Corporate Excellence – RACE | race.reva.edu.in</a:t>
            </a:r>
            <a:endParaRPr lang="en-US" dirty="0">
              <a:solidFill>
                <a:schemeClr val="tx1"/>
              </a:solidFill>
            </a:endParaRPr>
          </a:p>
        </p:txBody>
      </p:sp>
      <p:sp>
        <p:nvSpPr>
          <p:cNvPr id="8" name="Slide Number Placeholder 7">
            <a:extLst>
              <a:ext uri="{FF2B5EF4-FFF2-40B4-BE49-F238E27FC236}">
                <a16:creationId xmlns:a16="http://schemas.microsoft.com/office/drawing/2014/main" id="{7085CCD4-5663-6CFF-9C18-AE2E2E78DD84}"/>
              </a:ext>
            </a:extLst>
          </p:cNvPr>
          <p:cNvSpPr>
            <a:spLocks noGrp="1"/>
          </p:cNvSpPr>
          <p:nvPr>
            <p:ph type="sldNum" sz="quarter" idx="12"/>
          </p:nvPr>
        </p:nvSpPr>
        <p:spPr/>
        <p:txBody>
          <a:bodyPr/>
          <a:lstStyle/>
          <a:p>
            <a:pPr>
              <a:defRPr/>
            </a:pPr>
            <a:endParaRPr lang="en-US" dirty="0"/>
          </a:p>
        </p:txBody>
      </p:sp>
      <p:sp>
        <p:nvSpPr>
          <p:cNvPr id="7" name="Rectangle 6">
            <a:extLst>
              <a:ext uri="{FF2B5EF4-FFF2-40B4-BE49-F238E27FC236}">
                <a16:creationId xmlns:a16="http://schemas.microsoft.com/office/drawing/2014/main" id="{9720F7DD-ADEE-B80B-303F-E825FFC65632}"/>
              </a:ext>
            </a:extLst>
          </p:cNvPr>
          <p:cNvSpPr/>
          <p:nvPr/>
        </p:nvSpPr>
        <p:spPr>
          <a:xfrm>
            <a:off x="6958021" y="3123126"/>
            <a:ext cx="2638864" cy="253916"/>
          </a:xfrm>
          <a:prstGeom prst="rect">
            <a:avLst/>
          </a:prstGeom>
        </p:spPr>
        <p:txBody>
          <a:bodyPr wrap="none">
            <a:spAutoFit/>
          </a:bodyPr>
          <a:lstStyle/>
          <a:p>
            <a:r>
              <a:rPr lang="en-US" sz="1050" dirty="0"/>
              <a:t>Solution Approach | Expected Outcome</a:t>
            </a:r>
          </a:p>
        </p:txBody>
      </p:sp>
    </p:spTree>
    <p:extLst>
      <p:ext uri="{BB962C8B-B14F-4D97-AF65-F5344CB8AC3E}">
        <p14:creationId xmlns:p14="http://schemas.microsoft.com/office/powerpoint/2010/main" val="3248360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FB0D-B6BF-17A1-5083-D53D1C7FC7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7B6815-C78F-C537-5A38-1CF8A9D56589}"/>
              </a:ext>
            </a:extLst>
          </p:cNvPr>
          <p:cNvSpPr>
            <a:spLocks noGrp="1"/>
          </p:cNvSpPr>
          <p:nvPr>
            <p:ph type="title"/>
          </p:nvPr>
        </p:nvSpPr>
        <p:spPr/>
        <p:txBody>
          <a:bodyPr>
            <a:normAutofit/>
          </a:bodyPr>
          <a:lstStyle/>
          <a:p>
            <a:r>
              <a:rPr lang="en-US" sz="3600" dirty="0">
                <a:cs typeface="Arial" panose="020B0604020202020204" pitchFamily="34" charset="0"/>
              </a:rPr>
              <a:t>Background Information</a:t>
            </a:r>
            <a:endParaRPr lang="en-IN" dirty="0"/>
          </a:p>
        </p:txBody>
      </p:sp>
      <p:sp>
        <p:nvSpPr>
          <p:cNvPr id="4" name="Date Placeholder 3">
            <a:extLst>
              <a:ext uri="{FF2B5EF4-FFF2-40B4-BE49-F238E27FC236}">
                <a16:creationId xmlns:a16="http://schemas.microsoft.com/office/drawing/2014/main" id="{B81F57BA-F00B-F8C5-25C8-23E2885C9E2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3B8BAC-E469-4454-8372-98C2A6AAEDD1}" type="datetime3">
              <a:rPr kumimoji="0" lang="en-US" sz="1200" b="0" i="0" u="none" strike="noStrike" kern="1200" cap="none" spc="0" normalizeH="0" baseline="0" noProof="0" smtClean="0">
                <a:ln>
                  <a:noFill/>
                </a:ln>
                <a:solidFill>
                  <a:schemeClr val="tx1"/>
                </a:solidFill>
                <a:effectLst/>
                <a:uLnTx/>
                <a:uFillTx/>
                <a:latin typeface="Roboto Slab"/>
                <a:ea typeface="+mn-ea"/>
                <a:cs typeface="+mn-cs"/>
              </a:rPr>
              <a:t>14 July 2026</a:t>
            </a:fld>
            <a:endParaRPr kumimoji="0" lang="en-US" sz="1200" b="0" i="0" u="none" strike="noStrike" kern="1200" cap="none" spc="0" normalizeH="0" baseline="0" noProof="0" dirty="0">
              <a:ln>
                <a:noFill/>
              </a:ln>
              <a:solidFill>
                <a:schemeClr val="tx1"/>
              </a:solidFill>
              <a:effectLst/>
              <a:uLnTx/>
              <a:uFillTx/>
              <a:latin typeface="Roboto Slab"/>
              <a:ea typeface="+mn-ea"/>
              <a:cs typeface="+mn-cs"/>
            </a:endParaRPr>
          </a:p>
        </p:txBody>
      </p:sp>
      <p:sp>
        <p:nvSpPr>
          <p:cNvPr id="6" name="Slide Number Placeholder 5">
            <a:extLst>
              <a:ext uri="{FF2B5EF4-FFF2-40B4-BE49-F238E27FC236}">
                <a16:creationId xmlns:a16="http://schemas.microsoft.com/office/drawing/2014/main" id="{0F793F2A-7EE2-ED4A-3A00-B6A8A492B5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3</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sp>
        <p:nvSpPr>
          <p:cNvPr id="2" name="Footer Placeholder 1">
            <a:extLst>
              <a:ext uri="{FF2B5EF4-FFF2-40B4-BE49-F238E27FC236}">
                <a16:creationId xmlns:a16="http://schemas.microsoft.com/office/drawing/2014/main" id="{38C9784C-F8E2-45C6-7051-69C00F20FDA3}"/>
              </a:ext>
            </a:extLst>
          </p:cNvPr>
          <p:cNvSpPr>
            <a:spLocks noGrp="1"/>
          </p:cNvSpPr>
          <p:nvPr>
            <p:ph type="ftr" sz="quarter" idx="3"/>
          </p:nvPr>
        </p:nvSpPr>
        <p:spPr/>
        <p:txBody>
          <a:bodyPr/>
          <a:lstStyle/>
          <a:p>
            <a:pPr algn="r">
              <a:defRPr/>
            </a:pPr>
            <a:r>
              <a:rPr lang="en-US">
                <a:solidFill>
                  <a:schemeClr val="tx1"/>
                </a:solidFill>
              </a:rPr>
              <a:t>REVA Academy for Corporate Excellence – RACE | race.reva.edu.in</a:t>
            </a:r>
            <a:endParaRPr lang="en-US" dirty="0">
              <a:solidFill>
                <a:schemeClr val="tx1"/>
              </a:solidFill>
            </a:endParaRPr>
          </a:p>
        </p:txBody>
      </p:sp>
      <p:sp>
        <p:nvSpPr>
          <p:cNvPr id="3" name="TextBox 2">
            <a:extLst>
              <a:ext uri="{FF2B5EF4-FFF2-40B4-BE49-F238E27FC236}">
                <a16:creationId xmlns:a16="http://schemas.microsoft.com/office/drawing/2014/main" id="{29C07CA8-F446-DDDC-2EAA-D980BEF00F3A}"/>
              </a:ext>
            </a:extLst>
          </p:cNvPr>
          <p:cNvSpPr txBox="1"/>
          <p:nvPr/>
        </p:nvSpPr>
        <p:spPr>
          <a:xfrm>
            <a:off x="592304" y="1520538"/>
            <a:ext cx="11405605" cy="3143746"/>
          </a:xfrm>
          <a:prstGeom prst="rect">
            <a:avLst/>
          </a:prstGeom>
          <a:noFill/>
        </p:spPr>
        <p:txBody>
          <a:bodyPr wrap="square" rtlCol="0">
            <a:spAutoFit/>
          </a:bodyPr>
          <a:lstStyle/>
          <a:p>
            <a:pPr>
              <a:lnSpc>
                <a:spcPct val="150000"/>
              </a:lnSpc>
            </a:pPr>
            <a:r>
              <a:rPr lang="en-US" b="1" dirty="0"/>
              <a:t>Background</a:t>
            </a:r>
            <a:endParaRPr lang="en-IN" dirty="0"/>
          </a:p>
          <a:p>
            <a:pPr>
              <a:lnSpc>
                <a:spcPct val="150000"/>
              </a:lnSpc>
            </a:pPr>
            <a:r>
              <a:rPr lang="en-IN" sz="1600" dirty="0"/>
              <a:t>Traditional vulnerability management relies heavily on static CVSS scores, which fails to reflect the real-world risk, causing in efficiencies in risk prioritization and exposing system to cyber attacks</a:t>
            </a:r>
          </a:p>
          <a:p>
            <a:pPr>
              <a:lnSpc>
                <a:spcPct val="150000"/>
              </a:lnSpc>
            </a:pPr>
            <a:endParaRPr lang="en-IN" dirty="0"/>
          </a:p>
          <a:p>
            <a:pPr>
              <a:lnSpc>
                <a:spcPct val="150000"/>
              </a:lnSpc>
            </a:pPr>
            <a:r>
              <a:rPr lang="en-US" b="1" dirty="0"/>
              <a:t>Why This Study</a:t>
            </a:r>
            <a:endParaRPr lang="en-IN" dirty="0"/>
          </a:p>
          <a:p>
            <a:pPr>
              <a:lnSpc>
                <a:spcPct val="150000"/>
              </a:lnSpc>
            </a:pPr>
            <a:r>
              <a:rPr lang="en-US" sz="1600" dirty="0"/>
              <a:t>This study proposes a risk-based prioritization framework integrating CVSS scores and SBOM data with threat intelligence and asset criticality to offer a proactive solution with business context-aware prioritization to generate context aware risk scores aiming to reduce risk exposure.</a:t>
            </a:r>
            <a:endParaRPr lang="en-IN" sz="1600" dirty="0"/>
          </a:p>
        </p:txBody>
      </p:sp>
    </p:spTree>
    <p:extLst>
      <p:ext uri="{BB962C8B-B14F-4D97-AF65-F5344CB8AC3E}">
        <p14:creationId xmlns:p14="http://schemas.microsoft.com/office/powerpoint/2010/main" val="156437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0DE61-58C3-25BA-C95A-5D5322CF7198}"/>
              </a:ext>
            </a:extLst>
          </p:cNvPr>
          <p:cNvSpPr>
            <a:spLocks noGrp="1"/>
          </p:cNvSpPr>
          <p:nvPr>
            <p:ph type="title"/>
          </p:nvPr>
        </p:nvSpPr>
        <p:spPr>
          <a:xfrm>
            <a:off x="3399919" y="304490"/>
            <a:ext cx="8382000" cy="670055"/>
          </a:xfrm>
        </p:spPr>
        <p:txBody>
          <a:bodyPr>
            <a:normAutofit/>
          </a:bodyPr>
          <a:lstStyle/>
          <a:p>
            <a:r>
              <a:rPr lang="en-US" altLang="ko-KR" dirty="0">
                <a:cs typeface="Arial" panose="020B0604020202020204" pitchFamily="34" charset="0"/>
              </a:rPr>
              <a:t>Literature Review</a:t>
            </a:r>
            <a:endParaRPr lang="en-IN" dirty="0">
              <a:cs typeface="Arial" panose="020B0604020202020204" pitchFamily="34" charset="0"/>
            </a:endParaRPr>
          </a:p>
        </p:txBody>
      </p:sp>
      <p:sp>
        <p:nvSpPr>
          <p:cNvPr id="3" name="Date Placeholder 2">
            <a:extLst>
              <a:ext uri="{FF2B5EF4-FFF2-40B4-BE49-F238E27FC236}">
                <a16:creationId xmlns:a16="http://schemas.microsoft.com/office/drawing/2014/main" id="{AC3AF0E5-4D51-3DB0-2EAE-F7C3562A81C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23CDB30-232F-4967-8FE5-2B51CA38926D}"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Footer Placeholder 5">
            <a:extLst>
              <a:ext uri="{FF2B5EF4-FFF2-40B4-BE49-F238E27FC236}">
                <a16:creationId xmlns:a16="http://schemas.microsoft.com/office/drawing/2014/main" id="{4DF37903-95EF-8CD2-FC46-A437CEFF07C4}"/>
              </a:ext>
            </a:extLst>
          </p:cNvPr>
          <p:cNvSpPr>
            <a:spLocks noGrp="1"/>
          </p:cNvSpPr>
          <p:nvPr>
            <p:ph type="ftr" sz="quarter" idx="3"/>
          </p:nvPr>
        </p:nvSpPr>
        <p:spPr/>
        <p:txBody>
          <a:bodyPr/>
          <a:lstStyle/>
          <a:p>
            <a:pPr>
              <a:defRPr/>
            </a:pPr>
            <a:r>
              <a:rPr lang="en-US">
                <a:solidFill>
                  <a:prstClr val="black">
                    <a:tint val="75000"/>
                  </a:prstClr>
                </a:solidFill>
              </a:rPr>
              <a:t>REVA Academy for Corporate Excellence – RACE | race.reva.edu.in</a:t>
            </a:r>
            <a:endParaRPr lang="en-US" dirty="0">
              <a:solidFill>
                <a:prstClr val="black">
                  <a:tint val="75000"/>
                </a:prstClr>
              </a:solidFill>
            </a:endParaRPr>
          </a:p>
        </p:txBody>
      </p:sp>
      <p:sp>
        <p:nvSpPr>
          <p:cNvPr id="8" name="TextBox 7">
            <a:extLst>
              <a:ext uri="{FF2B5EF4-FFF2-40B4-BE49-F238E27FC236}">
                <a16:creationId xmlns:a16="http://schemas.microsoft.com/office/drawing/2014/main" id="{7007C3E1-884F-0757-CFF8-A39FB23E5A9E}"/>
              </a:ext>
            </a:extLst>
          </p:cNvPr>
          <p:cNvSpPr txBox="1"/>
          <p:nvPr/>
        </p:nvSpPr>
        <p:spPr>
          <a:xfrm>
            <a:off x="7274227" y="1125022"/>
            <a:ext cx="4507692" cy="246221"/>
          </a:xfrm>
          <a:prstGeom prst="rect">
            <a:avLst/>
          </a:prstGeom>
          <a:noFill/>
        </p:spPr>
        <p:txBody>
          <a:bodyPr wrap="square" rtlCol="0">
            <a:spAutoFit/>
          </a:bodyPr>
          <a:lstStyle/>
          <a:p>
            <a:pPr algn="r"/>
            <a:r>
              <a:rPr lang="en-US" altLang="ko-KR" sz="1000" dirty="0">
                <a:solidFill>
                  <a:srgbClr val="FF0000"/>
                </a:solidFill>
                <a:latin typeface="+mj-lt"/>
                <a:ea typeface="FZShuTi" pitchFamily="2" charset="-122"/>
                <a:cs typeface="Arial" pitchFamily="34" charset="0"/>
              </a:rPr>
              <a:t>Seminal works | Summary | Research Gap</a:t>
            </a:r>
            <a:endParaRPr lang="en-US" altLang="ko-KR" sz="1000" dirty="0">
              <a:solidFill>
                <a:srgbClr val="FF0000"/>
              </a:solidFill>
              <a:latin typeface="+mj-lt"/>
              <a:cs typeface="Arial" pitchFamily="34" charset="0"/>
            </a:endParaRPr>
          </a:p>
        </p:txBody>
      </p:sp>
      <p:sp>
        <p:nvSpPr>
          <p:cNvPr id="10" name="Slide Number Placeholder 5">
            <a:extLst>
              <a:ext uri="{FF2B5EF4-FFF2-40B4-BE49-F238E27FC236}">
                <a16:creationId xmlns:a16="http://schemas.microsoft.com/office/drawing/2014/main" id="{6A1465D7-94FF-1DC7-7AFE-2361B83CBA5A}"/>
              </a:ext>
            </a:extLst>
          </p:cNvPr>
          <p:cNvSpPr>
            <a:spLocks noGrp="1"/>
          </p:cNvSpPr>
          <p:nvPr>
            <p:ph type="sldNum" sz="quarter" idx="12"/>
          </p:nvPr>
        </p:nvSpPr>
        <p:spPr>
          <a:xfrm>
            <a:off x="9194324" y="638278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latin typeface="Roboto Slab"/>
                <a:ea typeface="+mn-ea"/>
                <a:cs typeface="+mn-cs"/>
              </a:rPr>
              <a:t>4</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graphicFrame>
        <p:nvGraphicFramePr>
          <p:cNvPr id="4" name="Table 7">
            <a:extLst>
              <a:ext uri="{FF2B5EF4-FFF2-40B4-BE49-F238E27FC236}">
                <a16:creationId xmlns:a16="http://schemas.microsoft.com/office/drawing/2014/main" id="{317F542D-5C99-EFAA-E62B-E94F99DABE54}"/>
              </a:ext>
            </a:extLst>
          </p:cNvPr>
          <p:cNvGraphicFramePr>
            <a:graphicFrameLocks noGrp="1"/>
          </p:cNvGraphicFramePr>
          <p:nvPr>
            <p:extLst>
              <p:ext uri="{D42A27DB-BD31-4B8C-83A1-F6EECF244321}">
                <p14:modId xmlns:p14="http://schemas.microsoft.com/office/powerpoint/2010/main" val="2745605520"/>
              </p:ext>
            </p:extLst>
          </p:nvPr>
        </p:nvGraphicFramePr>
        <p:xfrm>
          <a:off x="254475" y="1084525"/>
          <a:ext cx="11715148" cy="5363746"/>
        </p:xfrm>
        <a:graphic>
          <a:graphicData uri="http://schemas.openxmlformats.org/drawingml/2006/table">
            <a:tbl>
              <a:tblPr firstRow="1" bandRow="1">
                <a:tableStyleId>{073A0DAA-6AF3-43AB-8588-CEC1D06C72B9}</a:tableStyleId>
              </a:tblPr>
              <a:tblGrid>
                <a:gridCol w="315513">
                  <a:extLst>
                    <a:ext uri="{9D8B030D-6E8A-4147-A177-3AD203B41FA5}">
                      <a16:colId xmlns:a16="http://schemas.microsoft.com/office/drawing/2014/main" val="1961210798"/>
                    </a:ext>
                  </a:extLst>
                </a:gridCol>
                <a:gridCol w="1679133">
                  <a:extLst>
                    <a:ext uri="{9D8B030D-6E8A-4147-A177-3AD203B41FA5}">
                      <a16:colId xmlns:a16="http://schemas.microsoft.com/office/drawing/2014/main" val="3306537469"/>
                    </a:ext>
                  </a:extLst>
                </a:gridCol>
                <a:gridCol w="1159621">
                  <a:extLst>
                    <a:ext uri="{9D8B030D-6E8A-4147-A177-3AD203B41FA5}">
                      <a16:colId xmlns:a16="http://schemas.microsoft.com/office/drawing/2014/main" val="1633340882"/>
                    </a:ext>
                  </a:extLst>
                </a:gridCol>
                <a:gridCol w="573405">
                  <a:extLst>
                    <a:ext uri="{9D8B030D-6E8A-4147-A177-3AD203B41FA5}">
                      <a16:colId xmlns:a16="http://schemas.microsoft.com/office/drawing/2014/main" val="16426956"/>
                    </a:ext>
                  </a:extLst>
                </a:gridCol>
                <a:gridCol w="2810924">
                  <a:extLst>
                    <a:ext uri="{9D8B030D-6E8A-4147-A177-3AD203B41FA5}">
                      <a16:colId xmlns:a16="http://schemas.microsoft.com/office/drawing/2014/main" val="333333027"/>
                    </a:ext>
                  </a:extLst>
                </a:gridCol>
                <a:gridCol w="2784203">
                  <a:extLst>
                    <a:ext uri="{9D8B030D-6E8A-4147-A177-3AD203B41FA5}">
                      <a16:colId xmlns:a16="http://schemas.microsoft.com/office/drawing/2014/main" val="858140143"/>
                    </a:ext>
                  </a:extLst>
                </a:gridCol>
                <a:gridCol w="2392349">
                  <a:extLst>
                    <a:ext uri="{9D8B030D-6E8A-4147-A177-3AD203B41FA5}">
                      <a16:colId xmlns:a16="http://schemas.microsoft.com/office/drawing/2014/main" val="367764134"/>
                    </a:ext>
                  </a:extLst>
                </a:gridCol>
              </a:tblGrid>
              <a:tr h="389192">
                <a:tc>
                  <a:txBody>
                    <a:bodyPr/>
                    <a:lstStyle/>
                    <a:p>
                      <a:pPr algn="ctr"/>
                      <a:r>
                        <a:rPr lang="en-IN" sz="800" dirty="0">
                          <a:latin typeface="Times New Roman" panose="02020603050405020304" pitchFamily="18" charset="0"/>
                          <a:cs typeface="Times New Roman" panose="02020603050405020304" pitchFamily="18" charset="0"/>
                        </a:rPr>
                        <a:t>No.</a:t>
                      </a:r>
                    </a:p>
                  </a:txBody>
                  <a:tcPr anchor="ctr"/>
                </a:tc>
                <a:tc>
                  <a:txBody>
                    <a:bodyPr/>
                    <a:lstStyle/>
                    <a:p>
                      <a:pPr algn="ctr"/>
                      <a:r>
                        <a:rPr lang="en-IN" sz="800" dirty="0">
                          <a:latin typeface="Times New Roman" panose="02020603050405020304" pitchFamily="18" charset="0"/>
                          <a:cs typeface="Times New Roman" panose="02020603050405020304" pitchFamily="18" charset="0"/>
                        </a:rPr>
                        <a:t>Title</a:t>
                      </a:r>
                    </a:p>
                  </a:txBody>
                  <a:tcPr anchor="ctr"/>
                </a:tc>
                <a:tc>
                  <a:txBody>
                    <a:bodyPr/>
                    <a:lstStyle/>
                    <a:p>
                      <a:pPr algn="ctr"/>
                      <a:r>
                        <a:rPr lang="en-IN" sz="800" dirty="0">
                          <a:latin typeface="Times New Roman" panose="02020603050405020304" pitchFamily="18" charset="0"/>
                          <a:cs typeface="Times New Roman" panose="02020603050405020304" pitchFamily="18" charset="0"/>
                        </a:rPr>
                        <a:t>Author and Year</a:t>
                      </a:r>
                    </a:p>
                  </a:txBody>
                  <a:tcPr anchor="ctr"/>
                </a:tc>
                <a:tc>
                  <a:txBody>
                    <a:bodyPr/>
                    <a:lstStyle/>
                    <a:p>
                      <a:pPr algn="ctr"/>
                      <a:r>
                        <a:rPr lang="en-IN" sz="800" dirty="0">
                          <a:latin typeface="Times New Roman" panose="02020603050405020304" pitchFamily="18" charset="0"/>
                          <a:cs typeface="Times New Roman" panose="02020603050405020304" pitchFamily="18" charset="0"/>
                        </a:rPr>
                        <a:t>Journal </a:t>
                      </a:r>
                    </a:p>
                  </a:txBody>
                  <a:tcPr anchor="ctr"/>
                </a:tc>
                <a:tc>
                  <a:txBody>
                    <a:bodyPr/>
                    <a:lstStyle/>
                    <a:p>
                      <a:pPr algn="ctr"/>
                      <a:r>
                        <a:rPr lang="en-IN" sz="800" dirty="0">
                          <a:latin typeface="Times New Roman" panose="02020603050405020304" pitchFamily="18" charset="0"/>
                          <a:cs typeface="Times New Roman" panose="02020603050405020304" pitchFamily="18" charset="0"/>
                        </a:rPr>
                        <a:t>Description</a:t>
                      </a:r>
                    </a:p>
                  </a:txBody>
                  <a:tcPr anchor="ctr"/>
                </a:tc>
                <a:tc>
                  <a:txBody>
                    <a:bodyPr/>
                    <a:lstStyle/>
                    <a:p>
                      <a:pPr algn="ctr"/>
                      <a:r>
                        <a:rPr lang="en-IN" sz="800" dirty="0">
                          <a:latin typeface="Times New Roman" panose="02020603050405020304" pitchFamily="18" charset="0"/>
                          <a:cs typeface="Times New Roman" panose="02020603050405020304" pitchFamily="18" charset="0"/>
                        </a:rPr>
                        <a:t>Insights </a:t>
                      </a:r>
                    </a:p>
                  </a:txBody>
                  <a:tcPr anchor="ctr"/>
                </a:tc>
                <a:tc>
                  <a:txBody>
                    <a:bodyPr/>
                    <a:lstStyle/>
                    <a:p>
                      <a:pPr algn="ctr"/>
                      <a:r>
                        <a:rPr lang="en-IN" sz="800" dirty="0">
                          <a:latin typeface="Times New Roman" panose="02020603050405020304" pitchFamily="18" charset="0"/>
                          <a:cs typeface="Times New Roman" panose="02020603050405020304" pitchFamily="18" charset="0"/>
                        </a:rPr>
                        <a:t>Research Gaps/Comments</a:t>
                      </a:r>
                    </a:p>
                  </a:txBody>
                  <a:tcPr anchor="ctr"/>
                </a:tc>
                <a:extLst>
                  <a:ext uri="{0D108BD9-81ED-4DB2-BD59-A6C34878D82A}">
                    <a16:rowId xmlns:a16="http://schemas.microsoft.com/office/drawing/2014/main" val="1770980956"/>
                  </a:ext>
                </a:extLst>
              </a:tr>
              <a:tr h="883942">
                <a:tc>
                  <a:txBody>
                    <a:bodyPr/>
                    <a:lstStyle/>
                    <a:p>
                      <a:pPr algn="l"/>
                      <a:r>
                        <a:rPr lang="en-US" sz="900" dirty="0">
                          <a:latin typeface="Times New Roman" panose="02020603050405020304" pitchFamily="18" charset="0"/>
                          <a:cs typeface="Times New Roman" panose="02020603050405020304" pitchFamily="18" charset="0"/>
                        </a:rPr>
                        <a:t>1</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r>
                        <a:rPr lang="en-US" sz="900" dirty="0">
                          <a:latin typeface="Times New Roman" panose="02020603050405020304" pitchFamily="18" charset="0"/>
                          <a:cs typeface="Times New Roman" panose="02020603050405020304" pitchFamily="18" charset="0"/>
                        </a:rPr>
                        <a:t>A Statistical Approach to Severity Aware Vulnerability Prioritization</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r>
                        <a:rPr lang="en-IN" sz="900" kern="1200" dirty="0">
                          <a:solidFill>
                            <a:schemeClr val="dk1"/>
                          </a:solidFill>
                          <a:effectLst/>
                          <a:latin typeface="Times New Roman" panose="02020603050405020304" pitchFamily="18" charset="0"/>
                          <a:ea typeface="+mn-ea"/>
                          <a:cs typeface="Times New Roman" panose="02020603050405020304" pitchFamily="18" charset="0"/>
                        </a:rPr>
                        <a:t>Year: 2024</a:t>
                      </a:r>
                    </a:p>
                    <a:p>
                      <a:pPr lvl="0" algn="l"/>
                      <a:r>
                        <a:rPr lang="en-IN" sz="900" kern="1200" dirty="0">
                          <a:solidFill>
                            <a:schemeClr val="dk1"/>
                          </a:solidFill>
                          <a:effectLst/>
                          <a:latin typeface="Times New Roman" panose="02020603050405020304" pitchFamily="18" charset="0"/>
                          <a:ea typeface="+mn-ea"/>
                          <a:cs typeface="Times New Roman" panose="02020603050405020304" pitchFamily="18" charset="0"/>
                        </a:rPr>
                        <a:t>Authors:</a:t>
                      </a:r>
                    </a:p>
                    <a:p>
                      <a:pPr algn="l"/>
                      <a:r>
                        <a:rPr lang="en-IN" sz="900" kern="1200" dirty="0">
                          <a:solidFill>
                            <a:schemeClr val="dk1"/>
                          </a:solidFill>
                          <a:effectLst/>
                          <a:latin typeface="Times New Roman" panose="02020603050405020304" pitchFamily="18" charset="0"/>
                          <a:ea typeface="+mn-ea"/>
                          <a:cs typeface="Times New Roman" panose="02020603050405020304" pitchFamily="18" charset="0"/>
                        </a:rPr>
                        <a:t>Miguel </a:t>
                      </a:r>
                      <a:r>
                        <a:rPr lang="en-IN" sz="900" kern="1200" dirty="0" err="1">
                          <a:solidFill>
                            <a:schemeClr val="dk1"/>
                          </a:solidFill>
                          <a:effectLst/>
                          <a:latin typeface="Times New Roman" panose="02020603050405020304" pitchFamily="18" charset="0"/>
                          <a:ea typeface="+mn-ea"/>
                          <a:cs typeface="Times New Roman" panose="02020603050405020304" pitchFamily="18" charset="0"/>
                        </a:rPr>
                        <a:t>Bicudo</a:t>
                      </a:r>
                      <a:r>
                        <a:rPr lang="en-IN" sz="900" kern="1200" dirty="0">
                          <a:solidFill>
                            <a:schemeClr val="dk1"/>
                          </a:solidFill>
                          <a:effectLst/>
                          <a:latin typeface="Times New Roman" panose="02020603050405020304" pitchFamily="18" charset="0"/>
                          <a:ea typeface="+mn-ea"/>
                          <a:cs typeface="Times New Roman" panose="02020603050405020304" pitchFamily="18" charset="0"/>
                        </a:rPr>
                        <a:t>, </a:t>
                      </a:r>
                      <a:r>
                        <a:rPr lang="en-IN" sz="900" kern="1200" dirty="0" err="1">
                          <a:solidFill>
                            <a:schemeClr val="dk1"/>
                          </a:solidFill>
                          <a:effectLst/>
                          <a:latin typeface="Times New Roman" panose="02020603050405020304" pitchFamily="18" charset="0"/>
                          <a:ea typeface="+mn-ea"/>
                          <a:cs typeface="Times New Roman" panose="02020603050405020304" pitchFamily="18" charset="0"/>
                        </a:rPr>
                        <a:t>Cainã</a:t>
                      </a:r>
                      <a:r>
                        <a:rPr lang="en-IN" sz="900" kern="1200" dirty="0">
                          <a:solidFill>
                            <a:schemeClr val="dk1"/>
                          </a:solidFill>
                          <a:effectLst/>
                          <a:latin typeface="Times New Roman" panose="02020603050405020304" pitchFamily="18" charset="0"/>
                          <a:ea typeface="+mn-ea"/>
                          <a:cs typeface="Times New Roman" panose="02020603050405020304" pitchFamily="18" charset="0"/>
                        </a:rPr>
                        <a:t> Pereira, Lucas Miranda, and  many more</a:t>
                      </a:r>
                    </a:p>
                  </a:txBody>
                  <a:tcPr anchor="ctr"/>
                </a:tc>
                <a:tc>
                  <a:txBody>
                    <a:bodyPr/>
                    <a:lstStyle/>
                    <a:p>
                      <a:pPr algn="l"/>
                      <a:r>
                        <a:rPr lang="en-US" sz="900" kern="1200" dirty="0">
                          <a:solidFill>
                            <a:schemeClr val="dk1"/>
                          </a:solidFill>
                          <a:effectLst/>
                          <a:latin typeface="Times New Roman" panose="02020603050405020304" pitchFamily="18" charset="0"/>
                          <a:ea typeface="+mn-ea"/>
                          <a:cs typeface="Times New Roman" panose="02020603050405020304" pitchFamily="18" charset="0"/>
                        </a:rPr>
                        <a:t>IEEE</a:t>
                      </a:r>
                      <a:endParaRPr lang="en-IN" sz="90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900" dirty="0">
                          <a:latin typeface="Times New Roman" panose="02020603050405020304" pitchFamily="18" charset="0"/>
                          <a:cs typeface="Times New Roman" panose="02020603050405020304" pitchFamily="18" charset="0"/>
                        </a:rPr>
                        <a:t>The study integrates historical weaponization data with CVSS scores to predict vulnerability severity, aiding better patch management.</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marL="228600" indent="-228600" algn="l">
                        <a:buAutoNum type="arabicPeriod"/>
                      </a:pPr>
                      <a:r>
                        <a:rPr lang="en-US" sz="900" dirty="0">
                          <a:latin typeface="Times New Roman" panose="02020603050405020304" pitchFamily="18" charset="0"/>
                          <a:cs typeface="Times New Roman" panose="02020603050405020304" pitchFamily="18" charset="0"/>
                        </a:rPr>
                        <a:t>Prioritizes vulnerabilities based on real-world risk.</a:t>
                      </a:r>
                    </a:p>
                    <a:p>
                      <a:pPr marL="228600" indent="-228600" algn="l">
                        <a:buAutoNum type="arabicPeriod"/>
                      </a:pPr>
                      <a:r>
                        <a:rPr lang="en-US" sz="900" dirty="0">
                          <a:latin typeface="Times New Roman" panose="02020603050405020304" pitchFamily="18" charset="0"/>
                          <a:cs typeface="Times New Roman" panose="02020603050405020304" pitchFamily="18" charset="0"/>
                        </a:rPr>
                        <a:t>Balances timely patching with system stability.</a:t>
                      </a:r>
                    </a:p>
                    <a:p>
                      <a:pPr marL="228600" indent="-228600" algn="l">
                        <a:buAutoNum type="arabicPeriod"/>
                      </a:pPr>
                      <a:r>
                        <a:rPr lang="en-US" sz="900" dirty="0">
                          <a:latin typeface="Times New Roman" panose="02020603050405020304" pitchFamily="18" charset="0"/>
                          <a:cs typeface="Times New Roman" panose="02020603050405020304" pitchFamily="18" charset="0"/>
                        </a:rPr>
                        <a:t>Enhances patch management efficiency.</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900" kern="1200" dirty="0">
                          <a:solidFill>
                            <a:schemeClr val="dk1"/>
                          </a:solidFill>
                          <a:effectLst/>
                          <a:latin typeface="Times New Roman" panose="02020603050405020304" pitchFamily="18" charset="0"/>
                          <a:ea typeface="+mn-ea"/>
                          <a:cs typeface="Times New Roman" panose="02020603050405020304" pitchFamily="18" charset="0"/>
                        </a:rPr>
                        <a:t>The project introduces a </a:t>
                      </a:r>
                      <a:r>
                        <a:rPr lang="en-IN" sz="900" b="1" kern="1200" dirty="0">
                          <a:solidFill>
                            <a:schemeClr val="dk1"/>
                          </a:solidFill>
                          <a:effectLst/>
                          <a:latin typeface="Times New Roman" panose="02020603050405020304" pitchFamily="18" charset="0"/>
                          <a:ea typeface="+mn-ea"/>
                          <a:cs typeface="Times New Roman" panose="02020603050405020304" pitchFamily="18" charset="0"/>
                        </a:rPr>
                        <a:t>risk-scoring engine</a:t>
                      </a:r>
                      <a:r>
                        <a:rPr lang="en-IN" sz="900" kern="1200" dirty="0">
                          <a:solidFill>
                            <a:schemeClr val="dk1"/>
                          </a:solidFill>
                          <a:effectLst/>
                          <a:latin typeface="Times New Roman" panose="02020603050405020304" pitchFamily="18" charset="0"/>
                          <a:ea typeface="+mn-ea"/>
                          <a:cs typeface="Times New Roman" panose="02020603050405020304" pitchFamily="18" charset="0"/>
                        </a:rPr>
                        <a:t> that integrates not only CVSS and EPSS but also real-time TI feeds.</a:t>
                      </a:r>
                    </a:p>
                    <a:p>
                      <a:pPr algn="l"/>
                      <a:endParaRPr lang="en-IN" sz="9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72393717"/>
                  </a:ext>
                </a:extLst>
              </a:tr>
              <a:tr h="237839">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28284863"/>
                  </a:ext>
                </a:extLst>
              </a:tr>
              <a:tr h="1016533">
                <a:tc>
                  <a:txBody>
                    <a:bodyPr/>
                    <a:lstStyle/>
                    <a:p>
                      <a:pPr algn="l"/>
                      <a:r>
                        <a:rPr lang="en-US" sz="900" dirty="0">
                          <a:latin typeface="Times New Roman" panose="02020603050405020304" pitchFamily="18" charset="0"/>
                          <a:cs typeface="Times New Roman" panose="02020603050405020304" pitchFamily="18" charset="0"/>
                        </a:rPr>
                        <a:t>2</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effectLst/>
                          <a:latin typeface="Times New Roman" panose="02020603050405020304" pitchFamily="18" charset="0"/>
                          <a:ea typeface="+mn-ea"/>
                          <a:cs typeface="Times New Roman" panose="02020603050405020304" pitchFamily="18" charset="0"/>
                        </a:rPr>
                        <a:t>User Vulnerabilities in AI-Driven Systems: Current Cybersecurity Threat Dynamics and Malicious Exploits in Supply Chain Management and Project Management</a:t>
                      </a:r>
                      <a:endParaRPr lang="en-IN" sz="90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l"/>
                      <a:r>
                        <a:rPr lang="en-IN" sz="900" kern="1200" dirty="0">
                          <a:solidFill>
                            <a:schemeClr val="dk1"/>
                          </a:solidFill>
                          <a:effectLst/>
                          <a:latin typeface="Times New Roman" panose="02020603050405020304" pitchFamily="18" charset="0"/>
                          <a:ea typeface="+mn-ea"/>
                          <a:cs typeface="Times New Roman" panose="02020603050405020304" pitchFamily="18" charset="0"/>
                        </a:rPr>
                        <a:t>Year: 2024 </a:t>
                      </a:r>
                    </a:p>
                    <a:p>
                      <a:pPr algn="l"/>
                      <a:r>
                        <a:rPr lang="en-IN" sz="900" kern="1200" dirty="0">
                          <a:solidFill>
                            <a:schemeClr val="dk1"/>
                          </a:solidFill>
                          <a:effectLst/>
                          <a:latin typeface="Times New Roman" panose="02020603050405020304" pitchFamily="18" charset="0"/>
                          <a:ea typeface="+mn-ea"/>
                          <a:cs typeface="Times New Roman" panose="02020603050405020304" pitchFamily="18" charset="0"/>
                        </a:rPr>
                        <a:t>Authors : Joseph Squillace, Justice Cappella, Andrew Sepp</a:t>
                      </a:r>
                    </a:p>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r>
                        <a:rPr lang="en-US" sz="900" dirty="0">
                          <a:latin typeface="Times New Roman" panose="02020603050405020304" pitchFamily="18" charset="0"/>
                          <a:cs typeface="Times New Roman" panose="02020603050405020304" pitchFamily="18" charset="0"/>
                        </a:rPr>
                        <a:t>IEEE</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r>
                        <a:rPr lang="en-US" sz="900" dirty="0">
                          <a:latin typeface="Times New Roman" panose="02020603050405020304" pitchFamily="18" charset="0"/>
                          <a:cs typeface="Times New Roman" panose="02020603050405020304" pitchFamily="18" charset="0"/>
                        </a:rPr>
                        <a:t>The study explores the cybersecurity vulnerabilities of AI and ML in critical infrastructure, with a focus on supply chain and project management. It highlights how AI and ML improve operations but also pose new risks, identifying threats and misuse cases through case studies.</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marL="228600" indent="-228600" algn="l">
                        <a:buAutoNum type="arabicPeriod"/>
                      </a:pPr>
                      <a:r>
                        <a:rPr lang="en-US" sz="900" dirty="0">
                          <a:latin typeface="Times New Roman" panose="02020603050405020304" pitchFamily="18" charset="0"/>
                          <a:cs typeface="Times New Roman" panose="02020603050405020304" pitchFamily="18" charset="0"/>
                        </a:rPr>
                        <a:t>AI and ML introduce both operational benefits and exploitable risks.</a:t>
                      </a:r>
                    </a:p>
                    <a:p>
                      <a:pPr marL="228600" indent="-228600" algn="l">
                        <a:buAutoNum type="arabicPeriod"/>
                      </a:pPr>
                      <a:r>
                        <a:rPr lang="en-US" sz="900" dirty="0">
                          <a:latin typeface="Times New Roman" panose="02020603050405020304" pitchFamily="18" charset="0"/>
                          <a:cs typeface="Times New Roman" panose="02020603050405020304" pitchFamily="18" charset="0"/>
                        </a:rPr>
                        <a:t>Case studies reveal potential flaws and automation of cyberattacks</a:t>
                      </a:r>
                    </a:p>
                    <a:p>
                      <a:pPr marL="228600" indent="-228600" algn="l">
                        <a:buAutoNum type="arabicPeriod"/>
                      </a:pPr>
                      <a:r>
                        <a:rPr lang="en-US" sz="900" dirty="0">
                          <a:latin typeface="Times New Roman" panose="02020603050405020304" pitchFamily="18" charset="0"/>
                          <a:cs typeface="Times New Roman" panose="02020603050405020304" pitchFamily="18" charset="0"/>
                        </a:rPr>
                        <a:t>Emphasizes the need for improved security practices in critical infrastructure</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r>
                        <a:rPr lang="en-US" sz="900" dirty="0">
                          <a:latin typeface="Times New Roman" panose="02020603050405020304" pitchFamily="18" charset="0"/>
                          <a:cs typeface="Times New Roman" panose="02020603050405020304" pitchFamily="18" charset="0"/>
                        </a:rPr>
                        <a:t>The paper focuses on AI and ML's role in securing PII and organizational policies but overlooks their application in vulnerability management, particularly in integrating real-time threat intelligence, asset criticality, and business impact for effective patch prioritization.</a:t>
                      </a:r>
                      <a:endParaRPr lang="en-IN" sz="9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24518318"/>
                  </a:ext>
                </a:extLst>
              </a:tr>
              <a:tr h="237839">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55293202"/>
                  </a:ext>
                </a:extLst>
              </a:tr>
              <a:tr h="1149125">
                <a:tc>
                  <a:txBody>
                    <a:bodyPr/>
                    <a:lstStyle/>
                    <a:p>
                      <a:pPr algn="l"/>
                      <a:r>
                        <a:rPr lang="en-US" sz="900" dirty="0">
                          <a:latin typeface="Times New Roman" panose="02020603050405020304" pitchFamily="18" charset="0"/>
                          <a:cs typeface="Times New Roman" panose="02020603050405020304" pitchFamily="18" charset="0"/>
                        </a:rPr>
                        <a:t>3.</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lvl="0"/>
                      <a:r>
                        <a:rPr lang="en-IN" sz="900" b="0" kern="1200" dirty="0">
                          <a:solidFill>
                            <a:schemeClr val="dk1"/>
                          </a:solidFill>
                          <a:effectLst/>
                          <a:latin typeface="Times New Roman" panose="02020603050405020304" pitchFamily="18" charset="0"/>
                          <a:ea typeface="+mn-ea"/>
                          <a:cs typeface="Times New Roman" panose="02020603050405020304" pitchFamily="18" charset="0"/>
                        </a:rPr>
                        <a:t>ERS0: Enhancing Military Cybersecurity with AI-Driven SBOM for Firmware Vulnerability Detection and Asset Management</a:t>
                      </a:r>
                    </a:p>
                  </a:txBody>
                  <a:tcPr anchor="ctr"/>
                </a:tc>
                <a:tc>
                  <a:txBody>
                    <a:bodyPr/>
                    <a:lstStyle/>
                    <a:p>
                      <a:pPr algn="l"/>
                      <a:r>
                        <a:rPr lang="en-IN" sz="900" kern="1200" dirty="0">
                          <a:solidFill>
                            <a:schemeClr val="dk1"/>
                          </a:solidFill>
                          <a:effectLst/>
                          <a:latin typeface="Times New Roman" panose="02020603050405020304" pitchFamily="18" charset="0"/>
                          <a:ea typeface="+mn-ea"/>
                          <a:cs typeface="Times New Roman" panose="02020603050405020304" pitchFamily="18" charset="0"/>
                        </a:rPr>
                        <a:t>Year:2024</a:t>
                      </a:r>
                    </a:p>
                    <a:p>
                      <a:pPr algn="l"/>
                      <a:r>
                        <a:rPr lang="en-IN" sz="900" kern="1200" dirty="0">
                          <a:solidFill>
                            <a:schemeClr val="dk1"/>
                          </a:solidFill>
                          <a:effectLst/>
                          <a:latin typeface="Times New Roman" panose="02020603050405020304" pitchFamily="18" charset="0"/>
                          <a:ea typeface="+mn-ea"/>
                          <a:cs typeface="Times New Roman" panose="02020603050405020304" pitchFamily="18" charset="0"/>
                        </a:rPr>
                        <a:t>Max </a:t>
                      </a:r>
                      <a:r>
                        <a:rPr lang="en-IN" sz="900" kern="1200" dirty="0" err="1">
                          <a:solidFill>
                            <a:schemeClr val="dk1"/>
                          </a:solidFill>
                          <a:effectLst/>
                          <a:latin typeface="Times New Roman" panose="02020603050405020304" pitchFamily="18" charset="0"/>
                          <a:ea typeface="+mn-ea"/>
                          <a:cs typeface="Times New Roman" panose="02020603050405020304" pitchFamily="18" charset="0"/>
                        </a:rPr>
                        <a:t>Beninger</a:t>
                      </a:r>
                      <a:r>
                        <a:rPr lang="en-IN" sz="900" kern="1200" dirty="0">
                          <a:solidFill>
                            <a:schemeClr val="dk1"/>
                          </a:solidFill>
                          <a:effectLst/>
                          <a:latin typeface="Times New Roman" panose="02020603050405020304" pitchFamily="18" charset="0"/>
                          <a:ea typeface="+mn-ea"/>
                          <a:cs typeface="Times New Roman" panose="02020603050405020304" pitchFamily="18" charset="0"/>
                        </a:rPr>
                        <a:t>; Philippe Charland; Steven H. H. Ding; Benjamin C.M. Fung</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r>
                        <a:rPr lang="en-US" sz="900" dirty="0">
                          <a:latin typeface="Times New Roman" panose="02020603050405020304" pitchFamily="18" charset="0"/>
                          <a:cs typeface="Times New Roman" panose="02020603050405020304" pitchFamily="18" charset="0"/>
                        </a:rPr>
                        <a:t>IEEE</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r>
                        <a:rPr lang="en-IN" sz="900" kern="1200" dirty="0">
                          <a:solidFill>
                            <a:schemeClr val="dk1"/>
                          </a:solidFill>
                          <a:effectLst/>
                          <a:latin typeface="Times New Roman" panose="02020603050405020304" pitchFamily="18" charset="0"/>
                          <a:ea typeface="+mn-ea"/>
                          <a:cs typeface="Times New Roman" panose="02020603050405020304" pitchFamily="18" charset="0"/>
                        </a:rPr>
                        <a:t>This paper outlines improving firmware security  by generating SBOMs from firmware using string matching and code clone detection inside firmware binaries to provide asset visibility and vulnerability detection for analysis and component identification</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marL="228600" indent="-228600" algn="l">
                        <a:buAutoNum type="arabicPeriod"/>
                      </a:pPr>
                      <a:r>
                        <a:rPr lang="en-US" sz="900" dirty="0">
                          <a:latin typeface="Times New Roman" panose="02020603050405020304" pitchFamily="18" charset="0"/>
                          <a:cs typeface="Times New Roman" panose="02020603050405020304" pitchFamily="18" charset="0"/>
                        </a:rPr>
                        <a:t>The methodology is tailored for military contexts with hierarchical structures.</a:t>
                      </a:r>
                    </a:p>
                    <a:p>
                      <a:pPr marL="228600" indent="-228600" algn="l">
                        <a:buAutoNum type="arabicPeriod"/>
                      </a:pPr>
                      <a:r>
                        <a:rPr lang="en-US" sz="900" dirty="0">
                          <a:latin typeface="Times New Roman" panose="02020603050405020304" pitchFamily="18" charset="0"/>
                          <a:cs typeface="Times New Roman" panose="02020603050405020304" pitchFamily="18" charset="0"/>
                        </a:rPr>
                        <a:t>Focuses on procedural clarity and continuous vulnerability management.</a:t>
                      </a:r>
                    </a:p>
                    <a:p>
                      <a:pPr marL="228600" indent="-228600" algn="l">
                        <a:buAutoNum type="arabicPeriod"/>
                      </a:pPr>
                      <a:r>
                        <a:rPr lang="en-US" sz="900" dirty="0">
                          <a:latin typeface="Times New Roman" panose="02020603050405020304" pitchFamily="18" charset="0"/>
                          <a:cs typeface="Times New Roman" panose="02020603050405020304" pitchFamily="18" charset="0"/>
                        </a:rPr>
                        <a:t>Highlights the need for comprehensive defense mechanisms against cyber risks.</a:t>
                      </a:r>
                      <a:endParaRPr lang="en-IN" sz="900" dirty="0">
                        <a:latin typeface="Times New Roman" panose="02020603050405020304" pitchFamily="18" charset="0"/>
                        <a:cs typeface="Times New Roman" panose="02020603050405020304" pitchFamily="18" charset="0"/>
                      </a:endParaRPr>
                    </a:p>
                  </a:txBody>
                  <a:tcPr anchor="ctr"/>
                </a:tc>
                <a:tc>
                  <a:txBody>
                    <a:bodyPr/>
                    <a:lstStyle/>
                    <a:p>
                      <a:r>
                        <a:rPr lang="en-IN" sz="900" kern="1200" dirty="0">
                          <a:solidFill>
                            <a:schemeClr val="dk1"/>
                          </a:solidFill>
                          <a:effectLst/>
                          <a:latin typeface="Times New Roman" panose="02020603050405020304" pitchFamily="18" charset="0"/>
                          <a:ea typeface="+mn-ea"/>
                          <a:cs typeface="Times New Roman" panose="02020603050405020304" pitchFamily="18" charset="0"/>
                        </a:rPr>
                        <a:t>The gap is that the abstract focuses on military vulnerability management procedures but doesn’t include real-time threat data or context aware vulnerability prioritization. </a:t>
                      </a:r>
                    </a:p>
                  </a:txBody>
                  <a:tcPr anchor="ctr"/>
                </a:tc>
                <a:extLst>
                  <a:ext uri="{0D108BD9-81ED-4DB2-BD59-A6C34878D82A}">
                    <a16:rowId xmlns:a16="http://schemas.microsoft.com/office/drawing/2014/main" val="1141476526"/>
                  </a:ext>
                </a:extLst>
              </a:tr>
              <a:tr h="237839">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640232611"/>
                  </a:ext>
                </a:extLst>
              </a:tr>
              <a:tr h="1145952">
                <a:tc>
                  <a:txBody>
                    <a:bodyPr/>
                    <a:lstStyle/>
                    <a:p>
                      <a:pPr algn="l"/>
                      <a:r>
                        <a:rPr lang="en-US" sz="900" dirty="0">
                          <a:latin typeface="Times New Roman" panose="02020603050405020304" pitchFamily="18" charset="0"/>
                          <a:cs typeface="Times New Roman" panose="02020603050405020304" pitchFamily="18" charset="0"/>
                        </a:rPr>
                        <a:t>4.</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lvl="0"/>
                      <a:r>
                        <a:rPr lang="en-IN" sz="900" b="1" kern="1200" dirty="0">
                          <a:solidFill>
                            <a:schemeClr val="dk1"/>
                          </a:solidFill>
                          <a:effectLst/>
                          <a:latin typeface="Times New Roman" panose="02020603050405020304" pitchFamily="18" charset="0"/>
                          <a:ea typeface="+mn-ea"/>
                          <a:cs typeface="Times New Roman" panose="02020603050405020304" pitchFamily="18" charset="0"/>
                        </a:rPr>
                        <a:t>Supply Chain Risk Analysis Via SBOM Data Enrichment</a:t>
                      </a:r>
                      <a:endParaRPr lang="en-IN" sz="90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l"/>
                      <a:r>
                        <a:rPr lang="en-IN" sz="900" dirty="0">
                          <a:latin typeface="Times New Roman" panose="02020603050405020304" pitchFamily="18" charset="0"/>
                          <a:cs typeface="Times New Roman" panose="02020603050405020304" pitchFamily="18" charset="0"/>
                        </a:rPr>
                        <a:t>Year: 2023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900" kern="1200" dirty="0" err="1">
                          <a:solidFill>
                            <a:schemeClr val="dk1"/>
                          </a:solidFill>
                          <a:effectLst/>
                          <a:latin typeface="Times New Roman" panose="02020603050405020304" pitchFamily="18" charset="0"/>
                          <a:ea typeface="+mn-ea"/>
                          <a:cs typeface="Times New Roman" panose="02020603050405020304" pitchFamily="18" charset="0"/>
                        </a:rPr>
                        <a:t>Authors:</a:t>
                      </a:r>
                      <a:r>
                        <a:rPr lang="en-IN" sz="900" u="sng" kern="1200" dirty="0" err="1">
                          <a:solidFill>
                            <a:srgbClr val="6EAC1C"/>
                          </a:solidFill>
                          <a:effectLst/>
                          <a:latin typeface="Times New Roman" panose="02020603050405020304" pitchFamily="18" charset="0"/>
                          <a:ea typeface="+mn-ea"/>
                          <a:cs typeface="Times New Roman" panose="02020603050405020304" pitchFamily="18" charset="0"/>
                          <a:hlinkClick r:id="rId2">
                            <a:extLst>
                              <a:ext uri="{A12FA001-AC4F-418D-AE19-62706E023703}">
                                <ahyp:hlinkClr xmlns:ahyp="http://schemas.microsoft.com/office/drawing/2018/hyperlinkcolor" val="tx"/>
                              </a:ext>
                            </a:extLst>
                          </a:hlinkClick>
                        </a:rPr>
                        <a:t>Antoine</a:t>
                      </a:r>
                      <a:r>
                        <a:rPr lang="en-IN" sz="900" u="sng" kern="1200" dirty="0">
                          <a:solidFill>
                            <a:schemeClr val="tx1"/>
                          </a:solidFill>
                          <a:effectLst/>
                          <a:latin typeface="Times New Roman" panose="02020603050405020304" pitchFamily="18" charset="0"/>
                          <a:ea typeface="+mn-ea"/>
                          <a:cs typeface="Times New Roman" panose="02020603050405020304" pitchFamily="18" charset="0"/>
                          <a:hlinkClick r:id="rId2">
                            <a:extLst>
                              <a:ext uri="{A12FA001-AC4F-418D-AE19-62706E023703}">
                                <ahyp:hlinkClr xmlns:ahyp="http://schemas.microsoft.com/office/drawing/2018/hyperlinkcolor" val="tx"/>
                              </a:ext>
                            </a:extLst>
                          </a:hlinkClick>
                        </a:rPr>
                        <a:t> Lemay</a:t>
                      </a:r>
                      <a:r>
                        <a:rPr lang="en-IN" sz="900" u="sng" kern="1200" dirty="0">
                          <a:solidFill>
                            <a:schemeClr val="tx1"/>
                          </a:solidFill>
                          <a:effectLst/>
                          <a:latin typeface="Times New Roman" panose="02020603050405020304" pitchFamily="18" charset="0"/>
                          <a:ea typeface="+mn-ea"/>
                          <a:cs typeface="Times New Roman" panose="02020603050405020304" pitchFamily="18" charset="0"/>
                        </a:rPr>
                        <a:t>; </a:t>
                      </a:r>
                      <a:r>
                        <a:rPr lang="en-IN" sz="900" u="sng" kern="1200" dirty="0">
                          <a:solidFill>
                            <a:schemeClr val="tx1"/>
                          </a:solidFill>
                          <a:effectLst/>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Neeraj Katiyar</a:t>
                      </a:r>
                      <a:endParaRPr lang="en-IN" sz="900" u="sng"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l"/>
                      <a:r>
                        <a:rPr lang="en-US" sz="900" dirty="0">
                          <a:latin typeface="Times New Roman" panose="02020603050405020304" pitchFamily="18" charset="0"/>
                          <a:cs typeface="Times New Roman" panose="02020603050405020304" pitchFamily="18" charset="0"/>
                        </a:rPr>
                        <a:t>IEEE</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r>
                        <a:rPr lang="en-IN" sz="900" kern="1200" dirty="0">
                          <a:solidFill>
                            <a:schemeClr val="dk1"/>
                          </a:solidFill>
                          <a:effectLst/>
                          <a:latin typeface="Times New Roman" panose="02020603050405020304" pitchFamily="18" charset="0"/>
                          <a:ea typeface="+mn-ea"/>
                          <a:cs typeface="Times New Roman" panose="02020603050405020304" pitchFamily="18" charset="0"/>
                        </a:rPr>
                        <a:t>The proposed approach enhances SBOM data with additional metadata such as vulnerability databases, dependency relationships, and supplier information. This enriched data is then used to perform risk analysis on software components and identify potential security issues within the supply chain.</a:t>
                      </a:r>
                    </a:p>
                  </a:txBody>
                  <a:tcPr anchor="ctr"/>
                </a:tc>
                <a:tc>
                  <a:txBody>
                    <a:bodyPr/>
                    <a:lstStyle/>
                    <a:p>
                      <a:pPr marL="228600" indent="-228600" algn="l">
                        <a:buAutoNum type="arabicPeriod"/>
                      </a:pPr>
                      <a:r>
                        <a:rPr lang="en-US" sz="900" dirty="0">
                          <a:latin typeface="Times New Roman" panose="02020603050405020304" pitchFamily="18" charset="0"/>
                          <a:cs typeface="Times New Roman" panose="02020603050405020304" pitchFamily="18" charset="0"/>
                        </a:rPr>
                        <a:t>Emphasized risk based on SBOM data for software analysis</a:t>
                      </a:r>
                    </a:p>
                    <a:p>
                      <a:pPr marL="228600" indent="-228600" algn="l">
                        <a:buAutoNum type="arabicPeriod"/>
                      </a:pPr>
                      <a:r>
                        <a:rPr lang="en-US" sz="900" dirty="0">
                          <a:latin typeface="Times New Roman" panose="02020603050405020304" pitchFamily="18" charset="0"/>
                          <a:cs typeface="Times New Roman" panose="02020603050405020304" pitchFamily="18" charset="0"/>
                        </a:rPr>
                        <a:t>Identifying Supply chain security issues </a:t>
                      </a:r>
                      <a:endParaRPr lang="en-IN" sz="900" dirty="0">
                        <a:latin typeface="Times New Roman" panose="02020603050405020304" pitchFamily="18" charset="0"/>
                        <a:cs typeface="Times New Roman" panose="02020603050405020304" pitchFamily="18" charset="0"/>
                      </a:endParaRPr>
                    </a:p>
                  </a:txBody>
                  <a:tcPr anchor="ctr"/>
                </a:tc>
                <a:tc>
                  <a:txBody>
                    <a:bodyPr/>
                    <a:lstStyle/>
                    <a:p>
                      <a:r>
                        <a:rPr lang="en-IN" sz="900" kern="1200" dirty="0">
                          <a:solidFill>
                            <a:schemeClr val="dk1"/>
                          </a:solidFill>
                          <a:effectLst/>
                          <a:latin typeface="Times New Roman" panose="02020603050405020304" pitchFamily="18" charset="0"/>
                          <a:ea typeface="+mn-ea"/>
                          <a:cs typeface="Times New Roman" panose="02020603050405020304" pitchFamily="18" charset="0"/>
                        </a:rPr>
                        <a:t>The framework enriches SBOM data but mainly relies on static analysis or rule-based risk evaluation and Context-Aware Vulnerability Prioritization</a:t>
                      </a:r>
                    </a:p>
                  </a:txBody>
                  <a:tcPr anchor="ctr"/>
                </a:tc>
                <a:extLst>
                  <a:ext uri="{0D108BD9-81ED-4DB2-BD59-A6C34878D82A}">
                    <a16:rowId xmlns:a16="http://schemas.microsoft.com/office/drawing/2014/main" val="4207836015"/>
                  </a:ext>
                </a:extLst>
              </a:tr>
            </a:tbl>
          </a:graphicData>
        </a:graphic>
      </p:graphicFrame>
    </p:spTree>
    <p:extLst>
      <p:ext uri="{BB962C8B-B14F-4D97-AF65-F5344CB8AC3E}">
        <p14:creationId xmlns:p14="http://schemas.microsoft.com/office/powerpoint/2010/main" val="630740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IN" dirty="0"/>
              <a:t>Problem Statement</a:t>
            </a:r>
          </a:p>
        </p:txBody>
      </p:sp>
      <p:sp>
        <p:nvSpPr>
          <p:cNvPr id="4" name="Date Placeholder 3">
            <a:extLst>
              <a:ext uri="{FF2B5EF4-FFF2-40B4-BE49-F238E27FC236}">
                <a16:creationId xmlns:a16="http://schemas.microsoft.com/office/drawing/2014/main" id="{701093FF-68FE-1A34-83ED-94CBF152C6E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624355F-68A3-4706-9176-BEF76A3AECFE}"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2" name="Footer Placeholder 1">
            <a:extLst>
              <a:ext uri="{FF2B5EF4-FFF2-40B4-BE49-F238E27FC236}">
                <a16:creationId xmlns:a16="http://schemas.microsoft.com/office/drawing/2014/main" id="{C05C1CE5-FC18-6472-E8D0-FDE5A3D14B6D}"/>
              </a:ext>
            </a:extLst>
          </p:cNvPr>
          <p:cNvSpPr>
            <a:spLocks noGrp="1"/>
          </p:cNvSpPr>
          <p:nvPr>
            <p:ph type="ftr" sz="quarter" idx="3"/>
          </p:nvPr>
        </p:nvSpPr>
        <p:spPr/>
        <p:txBody>
          <a:bodyPr/>
          <a:lstStyle/>
          <a:p>
            <a:pPr>
              <a:defRPr/>
            </a:pPr>
            <a:r>
              <a:rPr lang="en-US">
                <a:solidFill>
                  <a:prstClr val="black">
                    <a:tint val="75000"/>
                  </a:prstClr>
                </a:solidFill>
              </a:rPr>
              <a:t>REVA Academy for Corporate Excellence – RACE | race.reva.edu.in</a:t>
            </a:r>
            <a:endParaRPr lang="en-US" dirty="0">
              <a:solidFill>
                <a:prstClr val="black">
                  <a:tint val="75000"/>
                </a:prstClr>
              </a:solidFill>
            </a:endParaRPr>
          </a:p>
        </p:txBody>
      </p:sp>
      <p:sp>
        <p:nvSpPr>
          <p:cNvPr id="7" name="Slide Number Placeholder 5">
            <a:extLst>
              <a:ext uri="{FF2B5EF4-FFF2-40B4-BE49-F238E27FC236}">
                <a16:creationId xmlns:a16="http://schemas.microsoft.com/office/drawing/2014/main" id="{EFA32282-0253-0C86-D4DC-B461A5B742D3}"/>
              </a:ext>
            </a:extLst>
          </p:cNvPr>
          <p:cNvSpPr>
            <a:spLocks noGrp="1"/>
          </p:cNvSpPr>
          <p:nvPr>
            <p:ph type="sldNum" sz="quarter" idx="12"/>
          </p:nvPr>
        </p:nvSpPr>
        <p:spPr>
          <a:xfrm>
            <a:off x="9194324" y="638278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5</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sp>
        <p:nvSpPr>
          <p:cNvPr id="6" name="TextBox 5">
            <a:extLst>
              <a:ext uri="{FF2B5EF4-FFF2-40B4-BE49-F238E27FC236}">
                <a16:creationId xmlns:a16="http://schemas.microsoft.com/office/drawing/2014/main" id="{2B431783-1EB9-A874-0D5D-A3FB37C6E871}"/>
              </a:ext>
            </a:extLst>
          </p:cNvPr>
          <p:cNvSpPr txBox="1"/>
          <p:nvPr/>
        </p:nvSpPr>
        <p:spPr>
          <a:xfrm>
            <a:off x="1038895" y="1659285"/>
            <a:ext cx="9769151" cy="3497689"/>
          </a:xfrm>
          <a:prstGeom prst="rect">
            <a:avLst/>
          </a:prstGeom>
          <a:noFill/>
        </p:spPr>
        <p:txBody>
          <a:bodyPr wrap="square">
            <a:spAutoFit/>
          </a:bodyPr>
          <a:lstStyle/>
          <a:p>
            <a:r>
              <a:rPr lang="en-US" b="1" dirty="0"/>
              <a:t>Problem Statement:</a:t>
            </a:r>
          </a:p>
          <a:p>
            <a:endParaRPr lang="en-US" sz="1600" b="1" dirty="0"/>
          </a:p>
          <a:p>
            <a:pPr marL="285750" lvl="0" indent="-285750">
              <a:lnSpc>
                <a:spcPct val="150000"/>
              </a:lnSpc>
              <a:buFont typeface="Arial" panose="020B0604020202020204" pitchFamily="34" charset="0"/>
              <a:buChar char="•"/>
            </a:pPr>
            <a:r>
              <a:rPr lang="en-US" sz="1600" dirty="0"/>
              <a:t>Vulnerability management processes depend on </a:t>
            </a:r>
            <a:r>
              <a:rPr lang="en-US" sz="1600" b="1" dirty="0"/>
              <a:t>static CVSS scores</a:t>
            </a:r>
            <a:r>
              <a:rPr lang="en-US" sz="1600" dirty="0"/>
              <a:t>, which do not account for real-time exploitability.</a:t>
            </a:r>
            <a:endParaRPr lang="en-IN" sz="1600" dirty="0"/>
          </a:p>
          <a:p>
            <a:pPr marL="285750" lvl="0" indent="-285750">
              <a:lnSpc>
                <a:spcPct val="150000"/>
              </a:lnSpc>
              <a:buFont typeface="Arial" panose="020B0604020202020204" pitchFamily="34" charset="0"/>
              <a:buChar char="•"/>
            </a:pPr>
            <a:r>
              <a:rPr lang="en-US" sz="1600" b="1" dirty="0"/>
              <a:t>Asset criticality and business impact </a:t>
            </a:r>
            <a:r>
              <a:rPr lang="en-US" sz="1600" dirty="0"/>
              <a:t>are often overlooked in prioritizing vulnerabilities.</a:t>
            </a:r>
            <a:endParaRPr lang="en-IN" sz="1600" dirty="0"/>
          </a:p>
          <a:p>
            <a:pPr marL="285750" lvl="0" indent="-285750">
              <a:lnSpc>
                <a:spcPct val="150000"/>
              </a:lnSpc>
              <a:buFont typeface="Arial" panose="020B0604020202020204" pitchFamily="34" charset="0"/>
              <a:buChar char="•"/>
            </a:pPr>
            <a:r>
              <a:rPr lang="en-US" sz="1600" b="1" dirty="0"/>
              <a:t>Security teams struggle</a:t>
            </a:r>
            <a:r>
              <a:rPr lang="en-US" sz="1600" dirty="0"/>
              <a:t> to choose which critical vulnerabilities to patch first when many share the same CVSS score.</a:t>
            </a:r>
            <a:endParaRPr lang="en-IN" sz="1600" dirty="0"/>
          </a:p>
          <a:p>
            <a:pPr marL="285750" lvl="0" indent="-285750">
              <a:lnSpc>
                <a:spcPct val="150000"/>
              </a:lnSpc>
              <a:buFont typeface="Arial" panose="020B0604020202020204" pitchFamily="34" charset="0"/>
              <a:buChar char="•"/>
            </a:pPr>
            <a:r>
              <a:rPr lang="en-US" sz="1600" b="1" dirty="0"/>
              <a:t>Delayed remediation</a:t>
            </a:r>
            <a:r>
              <a:rPr lang="en-US" sz="1600" dirty="0"/>
              <a:t> of high-risk vulnerabilities increases exposure to cyberattacks.</a:t>
            </a:r>
            <a:endParaRPr lang="en-IN" sz="1600" dirty="0"/>
          </a:p>
          <a:p>
            <a:pPr marL="285750" lvl="0" indent="-285750">
              <a:lnSpc>
                <a:spcPct val="150000"/>
              </a:lnSpc>
              <a:buFont typeface="Arial" panose="020B0604020202020204" pitchFamily="34" charset="0"/>
              <a:buChar char="•"/>
            </a:pPr>
            <a:r>
              <a:rPr lang="en-US" sz="1600" b="1" dirty="0"/>
              <a:t>There is a need</a:t>
            </a:r>
            <a:r>
              <a:rPr lang="en-US" sz="1600" dirty="0"/>
              <a:t> for a dynamic risk-based model that incorporates EPSS, SBOM component data, asset exposure to generate context aware risk scores</a:t>
            </a:r>
            <a:endParaRPr lang="en-IN" sz="1600" dirty="0"/>
          </a:p>
        </p:txBody>
      </p:sp>
    </p:spTree>
    <p:extLst>
      <p:ext uri="{BB962C8B-B14F-4D97-AF65-F5344CB8AC3E}">
        <p14:creationId xmlns:p14="http://schemas.microsoft.com/office/powerpoint/2010/main" val="792159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IN" dirty="0"/>
              <a:t>Project Objectives</a:t>
            </a:r>
          </a:p>
        </p:txBody>
      </p:sp>
      <p:sp>
        <p:nvSpPr>
          <p:cNvPr id="4" name="Date Placeholder 3">
            <a:extLst>
              <a:ext uri="{FF2B5EF4-FFF2-40B4-BE49-F238E27FC236}">
                <a16:creationId xmlns:a16="http://schemas.microsoft.com/office/drawing/2014/main" id="{701093FF-68FE-1A34-83ED-94CBF152C6E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B35AC63-85E2-4B0A-AE28-6C24590349A3}"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2" name="Footer Placeholder 1">
            <a:extLst>
              <a:ext uri="{FF2B5EF4-FFF2-40B4-BE49-F238E27FC236}">
                <a16:creationId xmlns:a16="http://schemas.microsoft.com/office/drawing/2014/main" id="{C6FC11D2-400C-A9DD-49A8-4A6636086D7F}"/>
              </a:ext>
            </a:extLst>
          </p:cNvPr>
          <p:cNvSpPr>
            <a:spLocks noGrp="1"/>
          </p:cNvSpPr>
          <p:nvPr>
            <p:ph type="ftr" sz="quarter" idx="3"/>
          </p:nvPr>
        </p:nvSpPr>
        <p:spPr/>
        <p:txBody>
          <a:bodyPr/>
          <a:lstStyle/>
          <a:p>
            <a:pPr>
              <a:defRPr/>
            </a:pPr>
            <a:r>
              <a:rPr lang="en-US">
                <a:solidFill>
                  <a:prstClr val="black">
                    <a:tint val="75000"/>
                  </a:prstClr>
                </a:solidFill>
              </a:rPr>
              <a:t>REVA Academy for Corporate Excellence – RACE | race.reva.edu.in</a:t>
            </a:r>
            <a:endParaRPr lang="en-US" dirty="0">
              <a:solidFill>
                <a:prstClr val="black">
                  <a:tint val="75000"/>
                </a:prstClr>
              </a:solidFill>
            </a:endParaRPr>
          </a:p>
        </p:txBody>
      </p:sp>
      <p:sp>
        <p:nvSpPr>
          <p:cNvPr id="7" name="TextBox 6">
            <a:extLst>
              <a:ext uri="{FF2B5EF4-FFF2-40B4-BE49-F238E27FC236}">
                <a16:creationId xmlns:a16="http://schemas.microsoft.com/office/drawing/2014/main" id="{892F64B2-CAD8-04F5-3D77-1C42CEA0AB3C}"/>
              </a:ext>
            </a:extLst>
          </p:cNvPr>
          <p:cNvSpPr txBox="1"/>
          <p:nvPr/>
        </p:nvSpPr>
        <p:spPr>
          <a:xfrm>
            <a:off x="1276709" y="1859410"/>
            <a:ext cx="9917317" cy="2308324"/>
          </a:xfrm>
          <a:prstGeom prst="rect">
            <a:avLst/>
          </a:prstGeom>
          <a:noFill/>
        </p:spPr>
        <p:txBody>
          <a:bodyPr wrap="square" rtlCol="0">
            <a:spAutoFit/>
          </a:bodyPr>
          <a:lstStyle/>
          <a:p>
            <a:r>
              <a:rPr lang="en-US" dirty="0"/>
              <a:t>1. Prioritize vulnerabilities using:</a:t>
            </a:r>
            <a:endParaRPr lang="en-IN" dirty="0"/>
          </a:p>
          <a:p>
            <a:pPr marL="742950" lvl="1" indent="-285750">
              <a:buFont typeface="Arial" panose="020B0604020202020204" pitchFamily="34" charset="0"/>
              <a:buChar char="•"/>
            </a:pPr>
            <a:r>
              <a:rPr lang="en-US" dirty="0"/>
              <a:t>CVSS</a:t>
            </a:r>
            <a:endParaRPr lang="en-IN" dirty="0"/>
          </a:p>
          <a:p>
            <a:pPr marL="742950" lvl="1" indent="-285750">
              <a:buFont typeface="Arial" panose="020B0604020202020204" pitchFamily="34" charset="0"/>
              <a:buChar char="•"/>
            </a:pPr>
            <a:r>
              <a:rPr lang="en-US" dirty="0"/>
              <a:t>EPSS</a:t>
            </a:r>
            <a:endParaRPr lang="en-IN" dirty="0"/>
          </a:p>
          <a:p>
            <a:pPr marL="742950" lvl="1" indent="-285750">
              <a:buFont typeface="Arial" panose="020B0604020202020204" pitchFamily="34" charset="0"/>
              <a:buChar char="•"/>
            </a:pPr>
            <a:r>
              <a:rPr lang="en-US" dirty="0"/>
              <a:t>Exploit </a:t>
            </a:r>
            <a:r>
              <a:rPr lang="en-US"/>
              <a:t>availability </a:t>
            </a:r>
          </a:p>
          <a:p>
            <a:pPr marL="742950" lvl="1" indent="-285750">
              <a:buFont typeface="Arial" panose="020B0604020202020204" pitchFamily="34" charset="0"/>
              <a:buChar char="•"/>
            </a:pPr>
            <a:r>
              <a:rPr lang="en-US"/>
              <a:t>Likelihood</a:t>
            </a:r>
            <a:endParaRPr lang="en-IN" dirty="0"/>
          </a:p>
          <a:p>
            <a:pPr marL="742950" lvl="1" indent="-285750">
              <a:buFont typeface="Arial" panose="020B0604020202020204" pitchFamily="34" charset="0"/>
              <a:buChar char="•"/>
            </a:pPr>
            <a:r>
              <a:rPr lang="en-US" dirty="0"/>
              <a:t>Impact</a:t>
            </a:r>
            <a:br>
              <a:rPr lang="en-US" dirty="0"/>
            </a:br>
            <a:endParaRPr lang="en-IN" dirty="0"/>
          </a:p>
          <a:p>
            <a:r>
              <a:rPr lang="en-US" dirty="0"/>
              <a:t>2. Output: ranked dashboard with context-aware risk scores for vulnerability prioritization</a:t>
            </a:r>
            <a:endParaRPr lang="en-IN" dirty="0"/>
          </a:p>
        </p:txBody>
      </p:sp>
      <p:sp>
        <p:nvSpPr>
          <p:cNvPr id="9" name="Slide Number Placeholder 5">
            <a:extLst>
              <a:ext uri="{FF2B5EF4-FFF2-40B4-BE49-F238E27FC236}">
                <a16:creationId xmlns:a16="http://schemas.microsoft.com/office/drawing/2014/main" id="{2B28B806-AAC6-5C82-AFDF-3E839577A2CD}"/>
              </a:ext>
            </a:extLst>
          </p:cNvPr>
          <p:cNvSpPr>
            <a:spLocks noGrp="1"/>
          </p:cNvSpPr>
          <p:nvPr>
            <p:ph type="sldNum" sz="quarter" idx="12"/>
          </p:nvPr>
        </p:nvSpPr>
        <p:spPr>
          <a:xfrm>
            <a:off x="9194324" y="638278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6</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spTree>
    <p:extLst>
      <p:ext uri="{BB962C8B-B14F-4D97-AF65-F5344CB8AC3E}">
        <p14:creationId xmlns:p14="http://schemas.microsoft.com/office/powerpoint/2010/main" val="2125971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AEC98-9F5D-57A1-359A-44EAEF3B4E1C}"/>
              </a:ext>
            </a:extLst>
          </p:cNvPr>
          <p:cNvSpPr>
            <a:spLocks noGrp="1"/>
          </p:cNvSpPr>
          <p:nvPr>
            <p:ph type="title"/>
          </p:nvPr>
        </p:nvSpPr>
        <p:spPr/>
        <p:txBody>
          <a:bodyPr/>
          <a:lstStyle/>
          <a:p>
            <a:r>
              <a:rPr lang="en-IN" dirty="0"/>
              <a:t>Project Methodology</a:t>
            </a:r>
          </a:p>
        </p:txBody>
      </p:sp>
      <p:sp>
        <p:nvSpPr>
          <p:cNvPr id="3" name="Date Placeholder 2">
            <a:extLst>
              <a:ext uri="{FF2B5EF4-FFF2-40B4-BE49-F238E27FC236}">
                <a16:creationId xmlns:a16="http://schemas.microsoft.com/office/drawing/2014/main" id="{91A1F721-B5F5-098C-8F83-02B74829FBF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998867-FC48-43F7-B725-2634657F46DE}"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5" name="Footer Placeholder 4">
            <a:extLst>
              <a:ext uri="{FF2B5EF4-FFF2-40B4-BE49-F238E27FC236}">
                <a16:creationId xmlns:a16="http://schemas.microsoft.com/office/drawing/2014/main" id="{5037AF53-6640-9841-D930-5DC78170D4A1}"/>
              </a:ext>
            </a:extLst>
          </p:cNvPr>
          <p:cNvSpPr>
            <a:spLocks noGrp="1"/>
          </p:cNvSpPr>
          <p:nvPr>
            <p:ph type="ftr" sz="quarter" idx="3"/>
          </p:nvPr>
        </p:nvSpPr>
        <p:spPr/>
        <p:txBody>
          <a:bodyPr/>
          <a:lstStyle/>
          <a:p>
            <a:pPr>
              <a:defRPr/>
            </a:pPr>
            <a:r>
              <a:rPr lang="en-US">
                <a:solidFill>
                  <a:prstClr val="black">
                    <a:tint val="75000"/>
                  </a:prstClr>
                </a:solidFill>
              </a:rPr>
              <a:t>REVA Academy for Corporate Excellence – RACE | race.reva.edu.in</a:t>
            </a:r>
            <a:endParaRPr lang="en-US" dirty="0">
              <a:solidFill>
                <a:prstClr val="black">
                  <a:tint val="75000"/>
                </a:prstClr>
              </a:solidFill>
            </a:endParaRPr>
          </a:p>
        </p:txBody>
      </p:sp>
      <p:sp>
        <p:nvSpPr>
          <p:cNvPr id="8" name="Slide Number Placeholder 5">
            <a:extLst>
              <a:ext uri="{FF2B5EF4-FFF2-40B4-BE49-F238E27FC236}">
                <a16:creationId xmlns:a16="http://schemas.microsoft.com/office/drawing/2014/main" id="{464B88E2-1C07-A91D-9717-6A06119AB1AF}"/>
              </a:ext>
            </a:extLst>
          </p:cNvPr>
          <p:cNvSpPr>
            <a:spLocks noGrp="1"/>
          </p:cNvSpPr>
          <p:nvPr>
            <p:ph type="sldNum" sz="quarter" idx="12"/>
          </p:nvPr>
        </p:nvSpPr>
        <p:spPr>
          <a:xfrm>
            <a:off x="9194324" y="638278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7</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sp>
        <p:nvSpPr>
          <p:cNvPr id="4" name="TextBox 3">
            <a:extLst>
              <a:ext uri="{FF2B5EF4-FFF2-40B4-BE49-F238E27FC236}">
                <a16:creationId xmlns:a16="http://schemas.microsoft.com/office/drawing/2014/main" id="{D6470EA5-FDFE-F9F6-A5CA-DB7BE7A09A0C}"/>
              </a:ext>
            </a:extLst>
          </p:cNvPr>
          <p:cNvSpPr txBox="1"/>
          <p:nvPr/>
        </p:nvSpPr>
        <p:spPr>
          <a:xfrm>
            <a:off x="979712" y="1138647"/>
            <a:ext cx="10692881" cy="4614918"/>
          </a:xfrm>
          <a:prstGeom prst="rect">
            <a:avLst/>
          </a:prstGeom>
          <a:noFill/>
        </p:spPr>
        <p:txBody>
          <a:bodyPr wrap="square">
            <a:spAutoFit/>
          </a:bodyPr>
          <a:lstStyle/>
          <a:p>
            <a:pPr>
              <a:lnSpc>
                <a:spcPct val="115000"/>
              </a:lnSpc>
            </a:pPr>
            <a:r>
              <a:rPr lang="en-IN" sz="1600" b="1" dirty="0">
                <a:solidFill>
                  <a:srgbClr val="000000"/>
                </a:solidFill>
                <a:ea typeface="Calibri" panose="020F0502020204030204" pitchFamily="34" charset="0"/>
                <a:cs typeface="Times New Roman" panose="02020603050405020304" pitchFamily="18" charset="0"/>
              </a:rPr>
              <a:t>Methodology:</a:t>
            </a:r>
          </a:p>
          <a:p>
            <a:pPr>
              <a:lnSpc>
                <a:spcPct val="115000"/>
              </a:lnSpc>
            </a:pPr>
            <a:endParaRPr lang="en-IN" sz="1600" b="1" dirty="0">
              <a:solidFill>
                <a:srgbClr val="000000"/>
              </a:solidFill>
              <a:effectLst/>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sz="1600" dirty="0"/>
              <a:t>Input: CVEs and CVSS / Nessus Vulnerability Scanner.</a:t>
            </a:r>
            <a:endParaRPr lang="en-IN" sz="1600" dirty="0"/>
          </a:p>
          <a:p>
            <a:pPr marL="285750" lvl="0" indent="-285750">
              <a:buFont typeface="Arial" panose="020B0604020202020204" pitchFamily="34" charset="0"/>
              <a:buChar char="•"/>
            </a:pPr>
            <a:r>
              <a:rPr lang="en-IN" sz="1600" dirty="0"/>
              <a:t>Enrich data using:</a:t>
            </a:r>
          </a:p>
          <a:p>
            <a:pPr marL="742950" lvl="1" indent="-285750">
              <a:buFont typeface="Arial" panose="020B0604020202020204" pitchFamily="34" charset="0"/>
              <a:buChar char="•"/>
            </a:pPr>
            <a:r>
              <a:rPr lang="en-US" sz="1600" dirty="0"/>
              <a:t>SBOM Data component</a:t>
            </a:r>
            <a:endParaRPr lang="en-IN" sz="1600" dirty="0"/>
          </a:p>
          <a:p>
            <a:pPr marL="742950" lvl="1" indent="-285750">
              <a:buFont typeface="Arial" panose="020B0604020202020204" pitchFamily="34" charset="0"/>
              <a:buChar char="•"/>
            </a:pPr>
            <a:r>
              <a:rPr lang="en-US" sz="1600" dirty="0"/>
              <a:t>Exploits</a:t>
            </a:r>
            <a:r>
              <a:rPr lang="en-IN" sz="1600" dirty="0"/>
              <a:t> </a:t>
            </a:r>
          </a:p>
          <a:p>
            <a:pPr marL="742950" lvl="1" indent="-285750">
              <a:buFont typeface="Arial" panose="020B0604020202020204" pitchFamily="34" charset="0"/>
              <a:buChar char="•"/>
            </a:pPr>
            <a:r>
              <a:rPr lang="en-IN" sz="1600" dirty="0"/>
              <a:t>Calculating the Likelihood, Impact</a:t>
            </a:r>
          </a:p>
          <a:p>
            <a:pPr marL="742950" lvl="1" indent="-285750">
              <a:buFont typeface="Arial" panose="020B0604020202020204" pitchFamily="34" charset="0"/>
              <a:buChar char="•"/>
            </a:pPr>
            <a:r>
              <a:rPr lang="en-IN" sz="1600" dirty="0"/>
              <a:t>Apply formula to find the Risk based on Likelihood, Impact, Exploits, Scope change, EPSS</a:t>
            </a:r>
          </a:p>
          <a:p>
            <a:pPr marL="742950" lvl="1" indent="-285750">
              <a:buFont typeface="Arial" panose="020B0604020202020204" pitchFamily="34" charset="0"/>
              <a:buChar char="•"/>
            </a:pPr>
            <a:r>
              <a:rPr lang="en-IN" sz="1600" dirty="0"/>
              <a:t>Output </a:t>
            </a:r>
            <a:r>
              <a:rPr lang="en-US" sz="1600" dirty="0"/>
              <a:t>updated prioritized contextual Risk ranking</a:t>
            </a:r>
            <a:endParaRPr lang="en-IN" sz="1600" dirty="0"/>
          </a:p>
          <a:p>
            <a:pPr lvl="1"/>
            <a:endParaRPr lang="en-IN" sz="1600" dirty="0"/>
          </a:p>
          <a:p>
            <a:pPr lvl="1"/>
            <a:endParaRPr lang="en-IN" sz="1600" dirty="0"/>
          </a:p>
          <a:p>
            <a:r>
              <a:rPr lang="en-IN" sz="1600" b="1" dirty="0"/>
              <a:t>Implementation Phases</a:t>
            </a:r>
            <a:endParaRPr lang="en-IN" sz="1600" dirty="0"/>
          </a:p>
          <a:p>
            <a:pPr lvl="0"/>
            <a:r>
              <a:rPr lang="en-IN" sz="1600" dirty="0"/>
              <a:t>Phase 1: Data ingestion from SBOM</a:t>
            </a:r>
          </a:p>
          <a:p>
            <a:pPr lvl="0"/>
            <a:r>
              <a:rPr lang="en-IN" sz="1600" dirty="0"/>
              <a:t>Phase 2: Enrich data (CVE,EPSS, exploit info, likelihood)</a:t>
            </a:r>
          </a:p>
          <a:p>
            <a:pPr lvl="0"/>
            <a:r>
              <a:rPr lang="en-IN" sz="1600" dirty="0"/>
              <a:t>Phase 3: Compute risk score</a:t>
            </a:r>
          </a:p>
          <a:p>
            <a:pPr lvl="0"/>
            <a:r>
              <a:rPr lang="en-IN" sz="1600" dirty="0"/>
              <a:t>Phase 4: Output prioritized contextual risk scores</a:t>
            </a:r>
          </a:p>
          <a:p>
            <a:pPr lvl="0"/>
            <a:r>
              <a:rPr lang="en-IN" sz="1600" dirty="0"/>
              <a:t>Phase 5: Validate on known examples </a:t>
            </a:r>
          </a:p>
          <a:p>
            <a:pPr marL="285750" indent="-285750">
              <a:lnSpc>
                <a:spcPct val="115000"/>
              </a:lnSpc>
              <a:buFont typeface="Arial" panose="020B0604020202020204" pitchFamily="34" charset="0"/>
              <a:buChar char="•"/>
            </a:pPr>
            <a:endParaRPr lang="en-IN" sz="1600" dirty="0">
              <a:solidFill>
                <a:srgbClr val="000000"/>
              </a:solidFill>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51351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3600" dirty="0">
                <a:cs typeface="Arial" panose="020B0604020202020204" pitchFamily="34" charset="0"/>
              </a:rPr>
              <a:t>Proposed Solution</a:t>
            </a:r>
            <a:endParaRPr lang="en-IN" dirty="0"/>
          </a:p>
        </p:txBody>
      </p:sp>
      <p:sp>
        <p:nvSpPr>
          <p:cNvPr id="4" name="Date Placeholder 3">
            <a:extLst>
              <a:ext uri="{FF2B5EF4-FFF2-40B4-BE49-F238E27FC236}">
                <a16:creationId xmlns:a16="http://schemas.microsoft.com/office/drawing/2014/main" id="{3B3A3D7D-7812-0881-D790-3DDAE3C8D1E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40194F1-D0E0-404B-9636-4AD13125BA45}"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2" name="Footer Placeholder 1">
            <a:extLst>
              <a:ext uri="{FF2B5EF4-FFF2-40B4-BE49-F238E27FC236}">
                <a16:creationId xmlns:a16="http://schemas.microsoft.com/office/drawing/2014/main" id="{4318A742-B1D7-F86D-DFA9-2A323A4357B9}"/>
              </a:ext>
            </a:extLst>
          </p:cNvPr>
          <p:cNvSpPr>
            <a:spLocks noGrp="1"/>
          </p:cNvSpPr>
          <p:nvPr>
            <p:ph type="ftr" sz="quarter" idx="3"/>
          </p:nvPr>
        </p:nvSpPr>
        <p:spPr/>
        <p:txBody>
          <a:bodyPr/>
          <a:lstStyle/>
          <a:p>
            <a:pPr>
              <a:defRPr/>
            </a:pPr>
            <a:r>
              <a:rPr lang="en-US">
                <a:solidFill>
                  <a:prstClr val="black">
                    <a:tint val="75000"/>
                  </a:prstClr>
                </a:solidFill>
              </a:rPr>
              <a:t>REVA Academy for Corporate Excellence – RACE | race.reva.edu.in</a:t>
            </a:r>
            <a:endParaRPr lang="en-US" dirty="0">
              <a:solidFill>
                <a:prstClr val="black">
                  <a:tint val="75000"/>
                </a:prstClr>
              </a:solidFill>
            </a:endParaRPr>
          </a:p>
        </p:txBody>
      </p:sp>
      <p:sp>
        <p:nvSpPr>
          <p:cNvPr id="3" name="Slide Number Placeholder 5">
            <a:extLst>
              <a:ext uri="{FF2B5EF4-FFF2-40B4-BE49-F238E27FC236}">
                <a16:creationId xmlns:a16="http://schemas.microsoft.com/office/drawing/2014/main" id="{141D4B1C-6AE4-A8F2-E9FA-BC79218EF321}"/>
              </a:ext>
            </a:extLst>
          </p:cNvPr>
          <p:cNvSpPr>
            <a:spLocks noGrp="1"/>
          </p:cNvSpPr>
          <p:nvPr>
            <p:ph type="sldNum" sz="quarter" idx="12"/>
          </p:nvPr>
        </p:nvSpPr>
        <p:spPr>
          <a:xfrm>
            <a:off x="9194324" y="638278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8</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sp>
        <p:nvSpPr>
          <p:cNvPr id="6" name="Rectangle 5">
            <a:extLst>
              <a:ext uri="{FF2B5EF4-FFF2-40B4-BE49-F238E27FC236}">
                <a16:creationId xmlns:a16="http://schemas.microsoft.com/office/drawing/2014/main" id="{C1B23AEE-8984-BBB6-4DE7-9A4731D29DE7}"/>
              </a:ext>
            </a:extLst>
          </p:cNvPr>
          <p:cNvSpPr/>
          <p:nvPr/>
        </p:nvSpPr>
        <p:spPr>
          <a:xfrm>
            <a:off x="9129803" y="1123437"/>
            <a:ext cx="2638864" cy="253916"/>
          </a:xfrm>
          <a:prstGeom prst="rect">
            <a:avLst/>
          </a:prstGeom>
        </p:spPr>
        <p:txBody>
          <a:bodyPr wrap="none">
            <a:spAutoFit/>
          </a:bodyPr>
          <a:lstStyle/>
          <a:p>
            <a:r>
              <a:rPr lang="en-US" sz="1050" dirty="0">
                <a:solidFill>
                  <a:srgbClr val="FF0000"/>
                </a:solidFill>
              </a:rPr>
              <a:t>Solution Approach | Expected Outcome</a:t>
            </a:r>
          </a:p>
        </p:txBody>
      </p:sp>
      <p:sp>
        <p:nvSpPr>
          <p:cNvPr id="7" name="TextBox 6">
            <a:extLst>
              <a:ext uri="{FF2B5EF4-FFF2-40B4-BE49-F238E27FC236}">
                <a16:creationId xmlns:a16="http://schemas.microsoft.com/office/drawing/2014/main" id="{9E67EC8B-92C7-58A6-638E-32177BAA9DAA}"/>
              </a:ext>
            </a:extLst>
          </p:cNvPr>
          <p:cNvSpPr txBox="1"/>
          <p:nvPr/>
        </p:nvSpPr>
        <p:spPr>
          <a:xfrm>
            <a:off x="992220" y="1865179"/>
            <a:ext cx="10603149" cy="1500154"/>
          </a:xfrm>
          <a:prstGeom prst="rect">
            <a:avLst/>
          </a:prstGeom>
          <a:noFill/>
        </p:spPr>
        <p:txBody>
          <a:bodyPr wrap="square">
            <a:spAutoFit/>
          </a:bodyPr>
          <a:lstStyle/>
          <a:p>
            <a:pPr>
              <a:buNone/>
            </a:pPr>
            <a:r>
              <a:rPr lang="en-US" sz="1800" b="1" dirty="0"/>
              <a:t>Expected Results</a:t>
            </a:r>
          </a:p>
          <a:p>
            <a:pPr marL="285750" lvl="0" indent="-285750">
              <a:buFont typeface="Arial" panose="020B0604020202020204" pitchFamily="34" charset="0"/>
              <a:buChar char="•"/>
            </a:pPr>
            <a:r>
              <a:rPr lang="en-US" dirty="0"/>
              <a:t>Smarter identification of prioritized vulnerabilities.</a:t>
            </a:r>
            <a:endParaRPr lang="en-IN" dirty="0"/>
          </a:p>
          <a:p>
            <a:pPr marL="285750" lvl="0" indent="-285750">
              <a:buFont typeface="Arial" panose="020B0604020202020204" pitchFamily="34" charset="0"/>
              <a:buChar char="•"/>
            </a:pPr>
            <a:r>
              <a:rPr lang="en-US" dirty="0"/>
              <a:t>Reduction in patch workload and MTTR </a:t>
            </a:r>
            <a:r>
              <a:rPr lang="en-IN" dirty="0"/>
              <a:t>(Mean Time to Remediate).</a:t>
            </a:r>
          </a:p>
          <a:p>
            <a:pPr marL="285750" lvl="0" indent="-285750">
              <a:buFont typeface="Arial" panose="020B0604020202020204" pitchFamily="34" charset="0"/>
              <a:buChar char="•"/>
            </a:pPr>
            <a:r>
              <a:rPr lang="en-US" b="1" dirty="0"/>
              <a:t>Improved risk visibility</a:t>
            </a:r>
            <a:r>
              <a:rPr lang="en-US" dirty="0"/>
              <a:t> for more focused remediation efforts.</a:t>
            </a:r>
            <a:endParaRPr lang="en-IN" dirty="0"/>
          </a:p>
          <a:p>
            <a:pPr lvl="0">
              <a:lnSpc>
                <a:spcPct val="115000"/>
              </a:lnSpc>
              <a:buSzPts val="1000"/>
              <a:tabLst>
                <a:tab pos="457200" algn="l"/>
              </a:tabLst>
            </a:pPr>
            <a:endParaRPr lang="en-IN" sz="18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510827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C48D1-F57F-4856-A08A-5D67181FEE73}"/>
              </a:ext>
            </a:extLst>
          </p:cNvPr>
          <p:cNvSpPr>
            <a:spLocks noGrp="1"/>
          </p:cNvSpPr>
          <p:nvPr>
            <p:ph type="title"/>
          </p:nvPr>
        </p:nvSpPr>
        <p:spPr/>
        <p:txBody>
          <a:bodyPr>
            <a:normAutofit/>
          </a:bodyPr>
          <a:lstStyle/>
          <a:p>
            <a:r>
              <a:rPr lang="en-US" sz="3600" dirty="0">
                <a:cs typeface="Arial" panose="020B0604020202020204" pitchFamily="34" charset="0"/>
              </a:rPr>
              <a:t>References</a:t>
            </a:r>
            <a:endParaRPr lang="en-IN" dirty="0"/>
          </a:p>
        </p:txBody>
      </p:sp>
      <p:sp>
        <p:nvSpPr>
          <p:cNvPr id="5" name="Date Placeholder 4">
            <a:extLst>
              <a:ext uri="{FF2B5EF4-FFF2-40B4-BE49-F238E27FC236}">
                <a16:creationId xmlns:a16="http://schemas.microsoft.com/office/drawing/2014/main" id="{EF8F20FC-BC77-F5DE-DCB7-5A6A844B472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1E65501-01B6-4480-B71B-6C4C2316D7B9}"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3" name="Footer Placeholder 2">
            <a:extLst>
              <a:ext uri="{FF2B5EF4-FFF2-40B4-BE49-F238E27FC236}">
                <a16:creationId xmlns:a16="http://schemas.microsoft.com/office/drawing/2014/main" id="{3C478A14-3843-A020-E304-56CB3374784F}"/>
              </a:ext>
            </a:extLst>
          </p:cNvPr>
          <p:cNvSpPr>
            <a:spLocks noGrp="1"/>
          </p:cNvSpPr>
          <p:nvPr>
            <p:ph type="ftr" sz="quarter" idx="3"/>
          </p:nvPr>
        </p:nvSpPr>
        <p:spPr/>
        <p:txBody>
          <a:bodyPr/>
          <a:lstStyle/>
          <a:p>
            <a:pPr>
              <a:defRPr/>
            </a:pPr>
            <a:r>
              <a:rPr lang="en-US">
                <a:solidFill>
                  <a:prstClr val="black">
                    <a:tint val="75000"/>
                  </a:prstClr>
                </a:solidFill>
              </a:rPr>
              <a:t>REVA Academy for Corporate Excellence – RACE | race.reva.edu.in</a:t>
            </a:r>
            <a:endParaRPr lang="en-US" dirty="0">
              <a:solidFill>
                <a:prstClr val="black">
                  <a:tint val="75000"/>
                </a:prstClr>
              </a:solidFill>
            </a:endParaRPr>
          </a:p>
        </p:txBody>
      </p:sp>
      <p:sp>
        <p:nvSpPr>
          <p:cNvPr id="10" name="TextBox 9">
            <a:extLst>
              <a:ext uri="{FF2B5EF4-FFF2-40B4-BE49-F238E27FC236}">
                <a16:creationId xmlns:a16="http://schemas.microsoft.com/office/drawing/2014/main" id="{05E68804-5D27-C41C-C224-1E75974A4925}"/>
              </a:ext>
            </a:extLst>
          </p:cNvPr>
          <p:cNvSpPr txBox="1"/>
          <p:nvPr/>
        </p:nvSpPr>
        <p:spPr>
          <a:xfrm>
            <a:off x="606426" y="1439167"/>
            <a:ext cx="11073739" cy="3754874"/>
          </a:xfrm>
          <a:prstGeom prst="rect">
            <a:avLst/>
          </a:prstGeom>
          <a:noFill/>
        </p:spPr>
        <p:txBody>
          <a:bodyPr wrap="square">
            <a:spAutoFit/>
          </a:bodyPr>
          <a:lstStyle/>
          <a:p>
            <a:pPr marL="342900" lvl="0" indent="-342900">
              <a:buFont typeface="+mj-lt"/>
              <a:buAutoNum type="arabicPeriod"/>
            </a:pPr>
            <a:r>
              <a:rPr lang="en-IN" sz="1400" b="1" dirty="0"/>
              <a:t>A Statistical Approach to Severity Aware Vulnerability Prioritization</a:t>
            </a:r>
            <a:endParaRPr lang="en-IN" sz="1400" dirty="0"/>
          </a:p>
          <a:p>
            <a:pPr marL="800100" lvl="1" indent="-342900">
              <a:buFont typeface="+mj-lt"/>
              <a:buAutoNum type="arabicPeriod"/>
            </a:pPr>
            <a:r>
              <a:rPr lang="en-IN" sz="1400" dirty="0"/>
              <a:t>Year: 2024</a:t>
            </a:r>
          </a:p>
          <a:p>
            <a:pPr marL="800100" lvl="1" indent="-342900">
              <a:buFont typeface="+mj-lt"/>
              <a:buAutoNum type="arabicPeriod"/>
            </a:pPr>
            <a:r>
              <a:rPr lang="en-IN" sz="1400" dirty="0"/>
              <a:t>URL: </a:t>
            </a:r>
            <a:r>
              <a:rPr lang="en-IN" sz="1400" u="sng" dirty="0">
                <a:hlinkClick r:id="rId2"/>
              </a:rPr>
              <a:t>https://ieeexplore-ieee-org-reva.knimbus.com/document/10815757</a:t>
            </a:r>
            <a:br>
              <a:rPr lang="en-IN" sz="1400" u="sng" dirty="0"/>
            </a:br>
            <a:endParaRPr lang="en-IN" sz="1400" dirty="0"/>
          </a:p>
          <a:p>
            <a:pPr marL="342900" lvl="0" indent="-342900">
              <a:buFont typeface="+mj-lt"/>
              <a:buAutoNum type="arabicPeriod"/>
            </a:pPr>
            <a:r>
              <a:rPr lang="en-IN" sz="1400" b="1" dirty="0"/>
              <a:t>User Vulnerabilities in AI-Driven Systems: Current Cybersecurity Threat Dynamics and Malicious Exploits in Supply Chain Management and Project Management</a:t>
            </a:r>
            <a:endParaRPr lang="en-IN" sz="1400" dirty="0"/>
          </a:p>
          <a:p>
            <a:pPr marL="800100" lvl="1" indent="-342900">
              <a:buFont typeface="+mj-lt"/>
              <a:buAutoNum type="arabicPeriod"/>
            </a:pPr>
            <a:r>
              <a:rPr lang="en-IN" sz="1400" dirty="0"/>
              <a:t>Year: 2024 </a:t>
            </a:r>
          </a:p>
          <a:p>
            <a:pPr marL="800100" lvl="1" indent="-342900">
              <a:buFont typeface="+mj-lt"/>
              <a:buAutoNum type="arabicPeriod"/>
            </a:pPr>
            <a:r>
              <a:rPr lang="en-IN" sz="1400" dirty="0"/>
              <a:t>URL: </a:t>
            </a:r>
            <a:r>
              <a:rPr lang="en-IN" sz="1400" u="sng" dirty="0">
                <a:hlinkClick r:id="rId3"/>
              </a:rPr>
              <a:t>https://ieeexplore-ieee-org-reva.knimbus.com/document/10459480</a:t>
            </a:r>
            <a:endParaRPr lang="en-IN" sz="1400" u="sng" dirty="0"/>
          </a:p>
          <a:p>
            <a:pPr lvl="1"/>
            <a:endParaRPr lang="en-IN" sz="1400" dirty="0"/>
          </a:p>
          <a:p>
            <a:pPr marL="342900" indent="-342900">
              <a:buFont typeface="+mj-lt"/>
              <a:buAutoNum type="arabicPeriod"/>
            </a:pPr>
            <a:r>
              <a:rPr lang="en-IN" sz="1400" b="1" dirty="0"/>
              <a:t>ERS0: Enhancing Military Cybersecurity with AI-Driven SBOM for Firmware     Vulnerability Detection and Asset Management</a:t>
            </a:r>
            <a:endParaRPr lang="en-IN" sz="1400" dirty="0"/>
          </a:p>
          <a:p>
            <a:pPr marL="800100" lvl="1" indent="-342900">
              <a:buFont typeface="+mj-lt"/>
              <a:buAutoNum type="arabicPeriod"/>
            </a:pPr>
            <a:r>
              <a:rPr lang="en-IN" sz="1400" b="1" dirty="0"/>
              <a:t>Year:</a:t>
            </a:r>
            <a:r>
              <a:rPr lang="en-IN" sz="1400" dirty="0"/>
              <a:t> 2024</a:t>
            </a:r>
          </a:p>
          <a:p>
            <a:pPr marL="800100" lvl="1" indent="-342900">
              <a:buFont typeface="+mj-lt"/>
              <a:buAutoNum type="arabicPeriod"/>
            </a:pPr>
            <a:r>
              <a:rPr lang="en-IN" sz="1400" b="1" dirty="0"/>
              <a:t>URL:</a:t>
            </a:r>
            <a:r>
              <a:rPr lang="en-IN" sz="1400" dirty="0"/>
              <a:t> </a:t>
            </a:r>
            <a:r>
              <a:rPr lang="en-IN" sz="1400" dirty="0">
                <a:hlinkClick r:id="rId4"/>
              </a:rPr>
              <a:t>https://ieeexplore-ieee-org-reva.knimbus.com/document/10685598</a:t>
            </a:r>
            <a:br>
              <a:rPr lang="en-IN" sz="1400" dirty="0"/>
            </a:br>
            <a:endParaRPr lang="en-IN" sz="1400" dirty="0"/>
          </a:p>
          <a:p>
            <a:pPr marL="342900" indent="-342900">
              <a:buFont typeface="+mj-lt"/>
              <a:buAutoNum type="arabicPeriod"/>
            </a:pPr>
            <a:r>
              <a:rPr lang="en-IN" sz="1400" dirty="0"/>
              <a:t> </a:t>
            </a:r>
            <a:r>
              <a:rPr lang="en-IN" sz="1400" b="1" dirty="0"/>
              <a:t>Supply Chain Risk Analysis Via SBOM Data Enrichment</a:t>
            </a:r>
            <a:endParaRPr lang="en-IN" sz="1400" dirty="0"/>
          </a:p>
          <a:p>
            <a:pPr marL="800100" lvl="1" indent="-342900">
              <a:buFont typeface="+mj-lt"/>
              <a:buAutoNum type="arabicPeriod"/>
            </a:pPr>
            <a:r>
              <a:rPr lang="en-IN" sz="1400" b="1" dirty="0"/>
              <a:t>Year:</a:t>
            </a:r>
            <a:r>
              <a:rPr lang="en-IN" sz="1400" dirty="0"/>
              <a:t> 2023</a:t>
            </a:r>
          </a:p>
          <a:p>
            <a:pPr marL="800100" lvl="1" indent="-342900">
              <a:buFont typeface="+mj-lt"/>
              <a:buAutoNum type="arabicPeriod"/>
            </a:pPr>
            <a:r>
              <a:rPr lang="en-IN" sz="1400" b="1" dirty="0"/>
              <a:t>URL:</a:t>
            </a:r>
            <a:r>
              <a:rPr lang="en-IN" sz="1400" dirty="0"/>
              <a:t> </a:t>
            </a:r>
            <a:r>
              <a:rPr lang="en-IN" sz="1400" u="sng" dirty="0">
                <a:hlinkClick r:id="rId5"/>
              </a:rPr>
              <a:t>https://ieeexplore-ieee-org-reva.knimbus.com/document/11014830</a:t>
            </a:r>
            <a:endParaRPr lang="en-IN" sz="1400" dirty="0"/>
          </a:p>
        </p:txBody>
      </p:sp>
      <p:sp>
        <p:nvSpPr>
          <p:cNvPr id="11" name="Slide Number Placeholder 5">
            <a:extLst>
              <a:ext uri="{FF2B5EF4-FFF2-40B4-BE49-F238E27FC236}">
                <a16:creationId xmlns:a16="http://schemas.microsoft.com/office/drawing/2014/main" id="{9949C78A-61BA-3328-5807-3CC71FFEDE73}"/>
              </a:ext>
            </a:extLst>
          </p:cNvPr>
          <p:cNvSpPr>
            <a:spLocks noGrp="1"/>
          </p:cNvSpPr>
          <p:nvPr>
            <p:ph type="sldNum" sz="quarter" idx="12"/>
          </p:nvPr>
        </p:nvSpPr>
        <p:spPr>
          <a:xfrm>
            <a:off x="9194324" y="638278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9</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spTree>
    <p:extLst>
      <p:ext uri="{BB962C8B-B14F-4D97-AF65-F5344CB8AC3E}">
        <p14:creationId xmlns:p14="http://schemas.microsoft.com/office/powerpoint/2010/main" val="2132745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File:Noun Project question mark icon 1101884 cc.svg - Outreach Wik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7A145C07-8365-45F1-BB24-52654C8ABC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1197" y="2700997"/>
            <a:ext cx="2767120" cy="2709203"/>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307598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FB0D-B6BF-17A1-5083-D53D1C7FC7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7B6815-C78F-C537-5A38-1CF8A9D56589}"/>
              </a:ext>
            </a:extLst>
          </p:cNvPr>
          <p:cNvSpPr>
            <a:spLocks noGrp="1"/>
          </p:cNvSpPr>
          <p:nvPr>
            <p:ph type="title"/>
          </p:nvPr>
        </p:nvSpPr>
        <p:spPr/>
        <p:txBody>
          <a:bodyPr>
            <a:normAutofit/>
          </a:bodyPr>
          <a:lstStyle/>
          <a:p>
            <a:r>
              <a:rPr lang="en-US" sz="3600" dirty="0">
                <a:cs typeface="Arial" panose="020B0604020202020204" pitchFamily="34" charset="0"/>
              </a:rPr>
              <a:t>Background Information</a:t>
            </a:r>
            <a:endParaRPr lang="en-IN" dirty="0"/>
          </a:p>
        </p:txBody>
      </p:sp>
      <p:sp>
        <p:nvSpPr>
          <p:cNvPr id="4" name="Date Placeholder 3">
            <a:extLst>
              <a:ext uri="{FF2B5EF4-FFF2-40B4-BE49-F238E27FC236}">
                <a16:creationId xmlns:a16="http://schemas.microsoft.com/office/drawing/2014/main" id="{B81F57BA-F00B-F8C5-25C8-23E2885C9E2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3B8BAC-E469-4454-8372-98C2A6AAEDD1}" type="datetime3">
              <a:rPr kumimoji="0" lang="en-US" sz="1200" b="0" i="0" u="none" strike="noStrike" kern="1200" cap="none" spc="0" normalizeH="0" baseline="0" noProof="0" smtClean="0">
                <a:ln>
                  <a:noFill/>
                </a:ln>
                <a:solidFill>
                  <a:schemeClr val="tx1"/>
                </a:solidFill>
                <a:effectLst/>
                <a:uLnTx/>
                <a:uFillTx/>
                <a:latin typeface="Roboto Slab"/>
                <a:ea typeface="+mn-ea"/>
                <a:cs typeface="+mn-cs"/>
              </a:rPr>
              <a:t>14 July 2026</a:t>
            </a:fld>
            <a:endParaRPr kumimoji="0" lang="en-US" sz="1200" b="0" i="0" u="none" strike="noStrike" kern="1200" cap="none" spc="0" normalizeH="0" baseline="0" noProof="0" dirty="0">
              <a:ln>
                <a:noFill/>
              </a:ln>
              <a:solidFill>
                <a:schemeClr val="tx1"/>
              </a:solidFill>
              <a:effectLst/>
              <a:uLnTx/>
              <a:uFillTx/>
              <a:latin typeface="Roboto Slab"/>
              <a:ea typeface="+mn-ea"/>
              <a:cs typeface="+mn-cs"/>
            </a:endParaRPr>
          </a:p>
        </p:txBody>
      </p:sp>
      <p:sp>
        <p:nvSpPr>
          <p:cNvPr id="6" name="Slide Number Placeholder 5">
            <a:extLst>
              <a:ext uri="{FF2B5EF4-FFF2-40B4-BE49-F238E27FC236}">
                <a16:creationId xmlns:a16="http://schemas.microsoft.com/office/drawing/2014/main" id="{0F793F2A-7EE2-ED4A-3A00-B6A8A492B5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3</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sp>
        <p:nvSpPr>
          <p:cNvPr id="2" name="Footer Placeholder 1">
            <a:extLst>
              <a:ext uri="{FF2B5EF4-FFF2-40B4-BE49-F238E27FC236}">
                <a16:creationId xmlns:a16="http://schemas.microsoft.com/office/drawing/2014/main" id="{38C9784C-F8E2-45C6-7051-69C00F20FDA3}"/>
              </a:ext>
            </a:extLst>
          </p:cNvPr>
          <p:cNvSpPr>
            <a:spLocks noGrp="1"/>
          </p:cNvSpPr>
          <p:nvPr>
            <p:ph type="ftr" sz="quarter" idx="3"/>
          </p:nvPr>
        </p:nvSpPr>
        <p:spPr/>
        <p:txBody>
          <a:bodyPr/>
          <a:lstStyle/>
          <a:p>
            <a:pPr algn="r">
              <a:defRPr/>
            </a:pPr>
            <a:r>
              <a:rPr lang="en-US">
                <a:solidFill>
                  <a:schemeClr val="tx1"/>
                </a:solidFill>
              </a:rPr>
              <a:t>REVA Academy for Corporate Excellence – RACE | race.reva.edu.in</a:t>
            </a:r>
            <a:endParaRPr lang="en-US" dirty="0">
              <a:solidFill>
                <a:schemeClr val="tx1"/>
              </a:solidFill>
            </a:endParaRPr>
          </a:p>
        </p:txBody>
      </p:sp>
      <p:sp>
        <p:nvSpPr>
          <p:cNvPr id="3" name="TextBox 2">
            <a:extLst>
              <a:ext uri="{FF2B5EF4-FFF2-40B4-BE49-F238E27FC236}">
                <a16:creationId xmlns:a16="http://schemas.microsoft.com/office/drawing/2014/main" id="{29C07CA8-F446-DDDC-2EAA-D980BEF00F3A}"/>
              </a:ext>
            </a:extLst>
          </p:cNvPr>
          <p:cNvSpPr txBox="1"/>
          <p:nvPr/>
        </p:nvSpPr>
        <p:spPr>
          <a:xfrm>
            <a:off x="592304" y="1520538"/>
            <a:ext cx="11405605" cy="3143746"/>
          </a:xfrm>
          <a:prstGeom prst="rect">
            <a:avLst/>
          </a:prstGeom>
          <a:noFill/>
        </p:spPr>
        <p:txBody>
          <a:bodyPr wrap="square" rtlCol="0">
            <a:spAutoFit/>
          </a:bodyPr>
          <a:lstStyle/>
          <a:p>
            <a:pPr>
              <a:lnSpc>
                <a:spcPct val="150000"/>
              </a:lnSpc>
            </a:pPr>
            <a:r>
              <a:rPr lang="en-US" b="1" dirty="0"/>
              <a:t>Background</a:t>
            </a:r>
            <a:endParaRPr lang="en-IN" dirty="0"/>
          </a:p>
          <a:p>
            <a:pPr>
              <a:lnSpc>
                <a:spcPct val="150000"/>
              </a:lnSpc>
            </a:pPr>
            <a:r>
              <a:rPr lang="en-IN" sz="1600" dirty="0"/>
              <a:t>Traditional vulnerability management relies heavily on static CVSS scores, which fails to reflect the real-world risk, causing in efficiencies in risk prioritization and exposing system to cyber attacks</a:t>
            </a:r>
          </a:p>
          <a:p>
            <a:pPr>
              <a:lnSpc>
                <a:spcPct val="150000"/>
              </a:lnSpc>
            </a:pPr>
            <a:endParaRPr lang="en-IN" dirty="0"/>
          </a:p>
          <a:p>
            <a:pPr>
              <a:lnSpc>
                <a:spcPct val="150000"/>
              </a:lnSpc>
            </a:pPr>
            <a:r>
              <a:rPr lang="en-US" b="1" dirty="0"/>
              <a:t>Why This Study</a:t>
            </a:r>
            <a:endParaRPr lang="en-IN" dirty="0"/>
          </a:p>
          <a:p>
            <a:pPr>
              <a:lnSpc>
                <a:spcPct val="150000"/>
              </a:lnSpc>
            </a:pPr>
            <a:r>
              <a:rPr lang="en-US" sz="1600" dirty="0"/>
              <a:t>This study proposes a risk-based prioritization framework integrating CVSS scores and SBOM data with threat intelligence and asset criticality to offer a proactive solution with business context-aware prioritization to generate context aware risk scores aiming to reduce risk exposure.</a:t>
            </a:r>
            <a:endParaRPr lang="en-IN" sz="1600" dirty="0"/>
          </a:p>
        </p:txBody>
      </p:sp>
    </p:spTree>
    <p:extLst>
      <p:ext uri="{BB962C8B-B14F-4D97-AF65-F5344CB8AC3E}">
        <p14:creationId xmlns:p14="http://schemas.microsoft.com/office/powerpoint/2010/main" val="156437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FB0D-B6BF-17A1-5083-D53D1C7FC7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7B6815-C78F-C537-5A38-1CF8A9D56589}"/>
              </a:ext>
            </a:extLst>
          </p:cNvPr>
          <p:cNvSpPr>
            <a:spLocks noGrp="1"/>
          </p:cNvSpPr>
          <p:nvPr>
            <p:ph type="title"/>
          </p:nvPr>
        </p:nvSpPr>
        <p:spPr/>
        <p:txBody>
          <a:bodyPr>
            <a:normAutofit/>
          </a:bodyPr>
          <a:lstStyle/>
          <a:p>
            <a:r>
              <a:rPr lang="en-US" sz="3600" dirty="0">
                <a:cs typeface="Arial" panose="020B0604020202020204" pitchFamily="34" charset="0"/>
              </a:rPr>
              <a:t>Background Information</a:t>
            </a:r>
            <a:endParaRPr lang="en-IN" dirty="0"/>
          </a:p>
        </p:txBody>
      </p:sp>
      <p:sp>
        <p:nvSpPr>
          <p:cNvPr id="4" name="Date Placeholder 3">
            <a:extLst>
              <a:ext uri="{FF2B5EF4-FFF2-40B4-BE49-F238E27FC236}">
                <a16:creationId xmlns:a16="http://schemas.microsoft.com/office/drawing/2014/main" id="{B81F57BA-F00B-F8C5-25C8-23E2885C9E2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3B8BAC-E469-4454-8372-98C2A6AAEDD1}" type="datetime3">
              <a:rPr kumimoji="0" lang="en-US" sz="1200" b="0" i="0" u="none" strike="noStrike" kern="1200" cap="none" spc="0" normalizeH="0" baseline="0" noProof="0" smtClean="0">
                <a:ln>
                  <a:noFill/>
                </a:ln>
                <a:solidFill>
                  <a:schemeClr val="tx1"/>
                </a:solidFill>
                <a:effectLst/>
                <a:uLnTx/>
                <a:uFillTx/>
                <a:latin typeface="Roboto Slab"/>
                <a:ea typeface="+mn-ea"/>
                <a:cs typeface="+mn-cs"/>
              </a:rPr>
              <a:t>14 July 2026</a:t>
            </a:fld>
            <a:endParaRPr kumimoji="0" lang="en-US" sz="1200" b="0" i="0" u="none" strike="noStrike" kern="1200" cap="none" spc="0" normalizeH="0" baseline="0" noProof="0" dirty="0">
              <a:ln>
                <a:noFill/>
              </a:ln>
              <a:solidFill>
                <a:schemeClr val="tx1"/>
              </a:solidFill>
              <a:effectLst/>
              <a:uLnTx/>
              <a:uFillTx/>
              <a:latin typeface="Roboto Slab"/>
              <a:ea typeface="+mn-ea"/>
              <a:cs typeface="+mn-cs"/>
            </a:endParaRPr>
          </a:p>
        </p:txBody>
      </p:sp>
      <p:sp>
        <p:nvSpPr>
          <p:cNvPr id="6" name="Slide Number Placeholder 5">
            <a:extLst>
              <a:ext uri="{FF2B5EF4-FFF2-40B4-BE49-F238E27FC236}">
                <a16:creationId xmlns:a16="http://schemas.microsoft.com/office/drawing/2014/main" id="{0F793F2A-7EE2-ED4A-3A00-B6A8A492B5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3</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sp>
        <p:nvSpPr>
          <p:cNvPr id="2" name="Footer Placeholder 1">
            <a:extLst>
              <a:ext uri="{FF2B5EF4-FFF2-40B4-BE49-F238E27FC236}">
                <a16:creationId xmlns:a16="http://schemas.microsoft.com/office/drawing/2014/main" id="{38C9784C-F8E2-45C6-7051-69C00F20FDA3}"/>
              </a:ext>
            </a:extLst>
          </p:cNvPr>
          <p:cNvSpPr>
            <a:spLocks noGrp="1"/>
          </p:cNvSpPr>
          <p:nvPr>
            <p:ph type="ftr" sz="quarter" idx="3"/>
          </p:nvPr>
        </p:nvSpPr>
        <p:spPr/>
        <p:txBody>
          <a:bodyPr/>
          <a:lstStyle/>
          <a:p>
            <a:pPr algn="r">
              <a:defRPr/>
            </a:pPr>
            <a:r>
              <a:rPr lang="en-US">
                <a:solidFill>
                  <a:schemeClr val="tx1"/>
                </a:solidFill>
              </a:rPr>
              <a:t>REVA Academy for Corporate Excellence – RACE | race.reva.edu.in</a:t>
            </a:r>
            <a:endParaRPr lang="en-US" dirty="0">
              <a:solidFill>
                <a:schemeClr val="tx1"/>
              </a:solidFill>
            </a:endParaRPr>
          </a:p>
        </p:txBody>
      </p:sp>
      <p:sp>
        <p:nvSpPr>
          <p:cNvPr id="3" name="TextBox 2">
            <a:extLst>
              <a:ext uri="{FF2B5EF4-FFF2-40B4-BE49-F238E27FC236}">
                <a16:creationId xmlns:a16="http://schemas.microsoft.com/office/drawing/2014/main" id="{29C07CA8-F446-DDDC-2EAA-D980BEF00F3A}"/>
              </a:ext>
            </a:extLst>
          </p:cNvPr>
          <p:cNvSpPr txBox="1"/>
          <p:nvPr/>
        </p:nvSpPr>
        <p:spPr>
          <a:xfrm>
            <a:off x="592304" y="1520538"/>
            <a:ext cx="11405605" cy="3143746"/>
          </a:xfrm>
          <a:prstGeom prst="rect">
            <a:avLst/>
          </a:prstGeom>
          <a:noFill/>
        </p:spPr>
        <p:txBody>
          <a:bodyPr wrap="square" rtlCol="0">
            <a:spAutoFit/>
          </a:bodyPr>
          <a:lstStyle/>
          <a:p>
            <a:pPr>
              <a:lnSpc>
                <a:spcPct val="150000"/>
              </a:lnSpc>
            </a:pPr>
            <a:r>
              <a:rPr lang="en-US" b="1" dirty="0"/>
              <a:t>Background</a:t>
            </a:r>
            <a:endParaRPr lang="en-IN" dirty="0"/>
          </a:p>
          <a:p>
            <a:pPr>
              <a:lnSpc>
                <a:spcPct val="150000"/>
              </a:lnSpc>
            </a:pPr>
            <a:r>
              <a:rPr lang="en-IN" sz="1600" dirty="0"/>
              <a:t>Traditional vulnerability management relies heavily on static CVSS scores, which fails to reflect the real-world risk, causing in efficiencies in risk prioritization and exposing system to cyber attacks</a:t>
            </a:r>
          </a:p>
          <a:p>
            <a:pPr>
              <a:lnSpc>
                <a:spcPct val="150000"/>
              </a:lnSpc>
            </a:pPr>
            <a:endParaRPr lang="en-IN" dirty="0"/>
          </a:p>
          <a:p>
            <a:pPr>
              <a:lnSpc>
                <a:spcPct val="150000"/>
              </a:lnSpc>
            </a:pPr>
            <a:r>
              <a:rPr lang="en-US" b="1" dirty="0"/>
              <a:t>Why This Study</a:t>
            </a:r>
            <a:endParaRPr lang="en-IN" dirty="0"/>
          </a:p>
          <a:p>
            <a:pPr>
              <a:lnSpc>
                <a:spcPct val="150000"/>
              </a:lnSpc>
            </a:pPr>
            <a:r>
              <a:rPr lang="en-US" sz="1600" dirty="0"/>
              <a:t>This study proposes a risk-based prioritization framework integrating CVSS scores and SBOM data with threat intelligence and asset criticality to offer a proactive solution with business context-aware prioritization to generate context aware risk scores aiming to reduce risk exposure.</a:t>
            </a:r>
            <a:endParaRPr lang="en-IN" sz="1600" dirty="0"/>
          </a:p>
        </p:txBody>
      </p:sp>
    </p:spTree>
    <p:extLst>
      <p:ext uri="{BB962C8B-B14F-4D97-AF65-F5344CB8AC3E}">
        <p14:creationId xmlns:p14="http://schemas.microsoft.com/office/powerpoint/2010/main" val="156437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FB0D-B6BF-17A1-5083-D53D1C7FC7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7B6815-C78F-C537-5A38-1CF8A9D56589}"/>
              </a:ext>
            </a:extLst>
          </p:cNvPr>
          <p:cNvSpPr>
            <a:spLocks noGrp="1"/>
          </p:cNvSpPr>
          <p:nvPr>
            <p:ph type="title"/>
          </p:nvPr>
        </p:nvSpPr>
        <p:spPr/>
        <p:txBody>
          <a:bodyPr>
            <a:normAutofit/>
          </a:bodyPr>
          <a:lstStyle/>
          <a:p>
            <a:r>
              <a:rPr lang="en-US" sz="3600" dirty="0">
                <a:cs typeface="Arial" panose="020B0604020202020204" pitchFamily="34" charset="0"/>
              </a:rPr>
              <a:t>Background Information</a:t>
            </a:r>
            <a:endParaRPr lang="en-IN" dirty="0"/>
          </a:p>
        </p:txBody>
      </p:sp>
      <p:sp>
        <p:nvSpPr>
          <p:cNvPr id="4" name="Date Placeholder 3">
            <a:extLst>
              <a:ext uri="{FF2B5EF4-FFF2-40B4-BE49-F238E27FC236}">
                <a16:creationId xmlns:a16="http://schemas.microsoft.com/office/drawing/2014/main" id="{B81F57BA-F00B-F8C5-25C8-23E2885C9E2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3B8BAC-E469-4454-8372-98C2A6AAEDD1}" type="datetime3">
              <a:rPr kumimoji="0" lang="en-US" sz="1200" b="0" i="0" u="none" strike="noStrike" kern="1200" cap="none" spc="0" normalizeH="0" baseline="0" noProof="0" smtClean="0">
                <a:ln>
                  <a:noFill/>
                </a:ln>
                <a:solidFill>
                  <a:schemeClr val="tx1"/>
                </a:solidFill>
                <a:effectLst/>
                <a:uLnTx/>
                <a:uFillTx/>
                <a:latin typeface="Roboto Slab"/>
                <a:ea typeface="+mn-ea"/>
                <a:cs typeface="+mn-cs"/>
              </a:rPr>
              <a:t>14 July 2026</a:t>
            </a:fld>
            <a:endParaRPr kumimoji="0" lang="en-US" sz="1200" b="0" i="0" u="none" strike="noStrike" kern="1200" cap="none" spc="0" normalizeH="0" baseline="0" noProof="0" dirty="0">
              <a:ln>
                <a:noFill/>
              </a:ln>
              <a:solidFill>
                <a:schemeClr val="tx1"/>
              </a:solidFill>
              <a:effectLst/>
              <a:uLnTx/>
              <a:uFillTx/>
              <a:latin typeface="Roboto Slab"/>
              <a:ea typeface="+mn-ea"/>
              <a:cs typeface="+mn-cs"/>
            </a:endParaRPr>
          </a:p>
        </p:txBody>
      </p:sp>
      <p:sp>
        <p:nvSpPr>
          <p:cNvPr id="6" name="Slide Number Placeholder 5">
            <a:extLst>
              <a:ext uri="{FF2B5EF4-FFF2-40B4-BE49-F238E27FC236}">
                <a16:creationId xmlns:a16="http://schemas.microsoft.com/office/drawing/2014/main" id="{0F793F2A-7EE2-ED4A-3A00-B6A8A492B5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3</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sp>
        <p:nvSpPr>
          <p:cNvPr id="2" name="Footer Placeholder 1">
            <a:extLst>
              <a:ext uri="{FF2B5EF4-FFF2-40B4-BE49-F238E27FC236}">
                <a16:creationId xmlns:a16="http://schemas.microsoft.com/office/drawing/2014/main" id="{38C9784C-F8E2-45C6-7051-69C00F20FDA3}"/>
              </a:ext>
            </a:extLst>
          </p:cNvPr>
          <p:cNvSpPr>
            <a:spLocks noGrp="1"/>
          </p:cNvSpPr>
          <p:nvPr>
            <p:ph type="ftr" sz="quarter" idx="3"/>
          </p:nvPr>
        </p:nvSpPr>
        <p:spPr/>
        <p:txBody>
          <a:bodyPr/>
          <a:lstStyle/>
          <a:p>
            <a:pPr algn="r">
              <a:defRPr/>
            </a:pPr>
            <a:r>
              <a:rPr lang="en-US">
                <a:solidFill>
                  <a:schemeClr val="tx1"/>
                </a:solidFill>
              </a:rPr>
              <a:t>REVA Academy for Corporate Excellence – RACE | race.reva.edu.in</a:t>
            </a:r>
            <a:endParaRPr lang="en-US" dirty="0">
              <a:solidFill>
                <a:schemeClr val="tx1"/>
              </a:solidFill>
            </a:endParaRPr>
          </a:p>
        </p:txBody>
      </p:sp>
      <p:sp>
        <p:nvSpPr>
          <p:cNvPr id="3" name="TextBox 2">
            <a:extLst>
              <a:ext uri="{FF2B5EF4-FFF2-40B4-BE49-F238E27FC236}">
                <a16:creationId xmlns:a16="http://schemas.microsoft.com/office/drawing/2014/main" id="{29C07CA8-F446-DDDC-2EAA-D980BEF00F3A}"/>
              </a:ext>
            </a:extLst>
          </p:cNvPr>
          <p:cNvSpPr txBox="1"/>
          <p:nvPr/>
        </p:nvSpPr>
        <p:spPr>
          <a:xfrm>
            <a:off x="592304" y="1520538"/>
            <a:ext cx="11405605" cy="3143746"/>
          </a:xfrm>
          <a:prstGeom prst="rect">
            <a:avLst/>
          </a:prstGeom>
          <a:noFill/>
        </p:spPr>
        <p:txBody>
          <a:bodyPr wrap="square" rtlCol="0">
            <a:spAutoFit/>
          </a:bodyPr>
          <a:lstStyle/>
          <a:p>
            <a:pPr>
              <a:lnSpc>
                <a:spcPct val="150000"/>
              </a:lnSpc>
            </a:pPr>
            <a:r>
              <a:rPr lang="en-US" b="1" dirty="0"/>
              <a:t>Background</a:t>
            </a:r>
            <a:endParaRPr lang="en-IN" dirty="0"/>
          </a:p>
          <a:p>
            <a:pPr>
              <a:lnSpc>
                <a:spcPct val="150000"/>
              </a:lnSpc>
            </a:pPr>
            <a:r>
              <a:rPr lang="en-IN" sz="1600" dirty="0"/>
              <a:t>Traditional vulnerability management relies heavily on static CVSS scores, which fails to reflect the real-world risk, causing in efficiencies in risk prioritization and exposing system to cyber attacks</a:t>
            </a:r>
          </a:p>
          <a:p>
            <a:pPr>
              <a:lnSpc>
                <a:spcPct val="150000"/>
              </a:lnSpc>
            </a:pPr>
            <a:endParaRPr lang="en-IN" dirty="0"/>
          </a:p>
          <a:p>
            <a:pPr>
              <a:lnSpc>
                <a:spcPct val="150000"/>
              </a:lnSpc>
            </a:pPr>
            <a:r>
              <a:rPr lang="en-US" b="1" dirty="0"/>
              <a:t>Why This Study</a:t>
            </a:r>
            <a:endParaRPr lang="en-IN" dirty="0"/>
          </a:p>
          <a:p>
            <a:pPr>
              <a:lnSpc>
                <a:spcPct val="150000"/>
              </a:lnSpc>
            </a:pPr>
            <a:r>
              <a:rPr lang="en-US" sz="1600" dirty="0"/>
              <a:t>This study proposes a risk-based prioritization framework integrating CVSS scores and SBOM data with threat intelligence and asset criticality to offer a proactive solution with business context-aware prioritization to generate context aware risk scores aiming to reduce risk exposure.</a:t>
            </a:r>
            <a:endParaRPr lang="en-IN" sz="1600" dirty="0"/>
          </a:p>
        </p:txBody>
      </p:sp>
    </p:spTree>
    <p:extLst>
      <p:ext uri="{BB962C8B-B14F-4D97-AF65-F5344CB8AC3E}">
        <p14:creationId xmlns:p14="http://schemas.microsoft.com/office/powerpoint/2010/main" val="156437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FB0D-B6BF-17A1-5083-D53D1C7FC7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7B6815-C78F-C537-5A38-1CF8A9D56589}"/>
              </a:ext>
            </a:extLst>
          </p:cNvPr>
          <p:cNvSpPr>
            <a:spLocks noGrp="1"/>
          </p:cNvSpPr>
          <p:nvPr>
            <p:ph type="title"/>
          </p:nvPr>
        </p:nvSpPr>
        <p:spPr/>
        <p:txBody>
          <a:bodyPr>
            <a:normAutofit/>
          </a:bodyPr>
          <a:lstStyle/>
          <a:p>
            <a:r>
              <a:rPr lang="en-US" sz="3600" dirty="0">
                <a:cs typeface="Arial" panose="020B0604020202020204" pitchFamily="34" charset="0"/>
              </a:rPr>
              <a:t>Background Information</a:t>
            </a:r>
            <a:endParaRPr lang="en-IN" dirty="0"/>
          </a:p>
        </p:txBody>
      </p:sp>
      <p:sp>
        <p:nvSpPr>
          <p:cNvPr id="4" name="Date Placeholder 3">
            <a:extLst>
              <a:ext uri="{FF2B5EF4-FFF2-40B4-BE49-F238E27FC236}">
                <a16:creationId xmlns:a16="http://schemas.microsoft.com/office/drawing/2014/main" id="{B81F57BA-F00B-F8C5-25C8-23E2885C9E2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3B8BAC-E469-4454-8372-98C2A6AAEDD1}" type="datetime3">
              <a:rPr kumimoji="0" lang="en-US" sz="1200" b="0" i="0" u="none" strike="noStrike" kern="1200" cap="none" spc="0" normalizeH="0" baseline="0" noProof="0" smtClean="0">
                <a:ln>
                  <a:noFill/>
                </a:ln>
                <a:solidFill>
                  <a:schemeClr val="tx1"/>
                </a:solidFill>
                <a:effectLst/>
                <a:uLnTx/>
                <a:uFillTx/>
                <a:latin typeface="Roboto Slab"/>
                <a:ea typeface="+mn-ea"/>
                <a:cs typeface="+mn-cs"/>
              </a:rPr>
              <a:t>14 July 2026</a:t>
            </a:fld>
            <a:endParaRPr kumimoji="0" lang="en-US" sz="1200" b="0" i="0" u="none" strike="noStrike" kern="1200" cap="none" spc="0" normalizeH="0" baseline="0" noProof="0" dirty="0">
              <a:ln>
                <a:noFill/>
              </a:ln>
              <a:solidFill>
                <a:schemeClr val="tx1"/>
              </a:solidFill>
              <a:effectLst/>
              <a:uLnTx/>
              <a:uFillTx/>
              <a:latin typeface="Roboto Slab"/>
              <a:ea typeface="+mn-ea"/>
              <a:cs typeface="+mn-cs"/>
            </a:endParaRPr>
          </a:p>
        </p:txBody>
      </p:sp>
      <p:sp>
        <p:nvSpPr>
          <p:cNvPr id="6" name="Slide Number Placeholder 5">
            <a:extLst>
              <a:ext uri="{FF2B5EF4-FFF2-40B4-BE49-F238E27FC236}">
                <a16:creationId xmlns:a16="http://schemas.microsoft.com/office/drawing/2014/main" id="{0F793F2A-7EE2-ED4A-3A00-B6A8A492B5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3</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sp>
        <p:nvSpPr>
          <p:cNvPr id="2" name="Footer Placeholder 1">
            <a:extLst>
              <a:ext uri="{FF2B5EF4-FFF2-40B4-BE49-F238E27FC236}">
                <a16:creationId xmlns:a16="http://schemas.microsoft.com/office/drawing/2014/main" id="{38C9784C-F8E2-45C6-7051-69C00F20FDA3}"/>
              </a:ext>
            </a:extLst>
          </p:cNvPr>
          <p:cNvSpPr>
            <a:spLocks noGrp="1"/>
          </p:cNvSpPr>
          <p:nvPr>
            <p:ph type="ftr" sz="quarter" idx="3"/>
          </p:nvPr>
        </p:nvSpPr>
        <p:spPr/>
        <p:txBody>
          <a:bodyPr/>
          <a:lstStyle/>
          <a:p>
            <a:pPr algn="r">
              <a:defRPr/>
            </a:pPr>
            <a:r>
              <a:rPr lang="en-US">
                <a:solidFill>
                  <a:schemeClr val="tx1"/>
                </a:solidFill>
              </a:rPr>
              <a:t>REVA Academy for Corporate Excellence – RACE | race.reva.edu.in</a:t>
            </a:r>
            <a:endParaRPr lang="en-US" dirty="0">
              <a:solidFill>
                <a:schemeClr val="tx1"/>
              </a:solidFill>
            </a:endParaRPr>
          </a:p>
        </p:txBody>
      </p:sp>
      <p:sp>
        <p:nvSpPr>
          <p:cNvPr id="3" name="TextBox 2">
            <a:extLst>
              <a:ext uri="{FF2B5EF4-FFF2-40B4-BE49-F238E27FC236}">
                <a16:creationId xmlns:a16="http://schemas.microsoft.com/office/drawing/2014/main" id="{29C07CA8-F446-DDDC-2EAA-D980BEF00F3A}"/>
              </a:ext>
            </a:extLst>
          </p:cNvPr>
          <p:cNvSpPr txBox="1"/>
          <p:nvPr/>
        </p:nvSpPr>
        <p:spPr>
          <a:xfrm>
            <a:off x="592304" y="1520538"/>
            <a:ext cx="11405605" cy="3143746"/>
          </a:xfrm>
          <a:prstGeom prst="rect">
            <a:avLst/>
          </a:prstGeom>
          <a:noFill/>
        </p:spPr>
        <p:txBody>
          <a:bodyPr wrap="square" rtlCol="0">
            <a:spAutoFit/>
          </a:bodyPr>
          <a:lstStyle/>
          <a:p>
            <a:pPr>
              <a:lnSpc>
                <a:spcPct val="150000"/>
              </a:lnSpc>
            </a:pPr>
            <a:r>
              <a:rPr lang="en-US" b="1" dirty="0"/>
              <a:t>Background</a:t>
            </a:r>
            <a:endParaRPr lang="en-IN" dirty="0"/>
          </a:p>
          <a:p>
            <a:pPr>
              <a:lnSpc>
                <a:spcPct val="150000"/>
              </a:lnSpc>
            </a:pPr>
            <a:r>
              <a:rPr lang="en-IN" sz="1600" dirty="0"/>
              <a:t>Traditional vulnerability management relies heavily on static CVSS scores, which fails to reflect the real-world risk, causing in efficiencies in risk prioritization and exposing system to cyber attacks</a:t>
            </a:r>
          </a:p>
          <a:p>
            <a:pPr>
              <a:lnSpc>
                <a:spcPct val="150000"/>
              </a:lnSpc>
            </a:pPr>
            <a:endParaRPr lang="en-IN" dirty="0"/>
          </a:p>
          <a:p>
            <a:pPr>
              <a:lnSpc>
                <a:spcPct val="150000"/>
              </a:lnSpc>
            </a:pPr>
            <a:r>
              <a:rPr lang="en-US" b="1" dirty="0"/>
              <a:t>Why This Study</a:t>
            </a:r>
            <a:endParaRPr lang="en-IN" dirty="0"/>
          </a:p>
          <a:p>
            <a:pPr>
              <a:lnSpc>
                <a:spcPct val="150000"/>
              </a:lnSpc>
            </a:pPr>
            <a:r>
              <a:rPr lang="en-US" sz="1600" dirty="0"/>
              <a:t>This study proposes a risk-based prioritization framework integrating CVSS scores and SBOM data with threat intelligence and asset criticality to offer a proactive solution with business context-aware prioritization to generate context aware risk scores aiming to reduce risk exposure.</a:t>
            </a:r>
            <a:endParaRPr lang="en-IN" sz="1600" dirty="0"/>
          </a:p>
        </p:txBody>
      </p:sp>
    </p:spTree>
    <p:extLst>
      <p:ext uri="{BB962C8B-B14F-4D97-AF65-F5344CB8AC3E}">
        <p14:creationId xmlns:p14="http://schemas.microsoft.com/office/powerpoint/2010/main" val="156437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FB0D-B6BF-17A1-5083-D53D1C7FC7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7B6815-C78F-C537-5A38-1CF8A9D56589}"/>
              </a:ext>
            </a:extLst>
          </p:cNvPr>
          <p:cNvSpPr>
            <a:spLocks noGrp="1"/>
          </p:cNvSpPr>
          <p:nvPr>
            <p:ph type="title"/>
          </p:nvPr>
        </p:nvSpPr>
        <p:spPr/>
        <p:txBody>
          <a:bodyPr>
            <a:normAutofit/>
          </a:bodyPr>
          <a:lstStyle/>
          <a:p>
            <a:r>
              <a:rPr lang="en-US" sz="3600" dirty="0">
                <a:cs typeface="Arial" panose="020B0604020202020204" pitchFamily="34" charset="0"/>
              </a:rPr>
              <a:t>Background Information</a:t>
            </a:r>
            <a:endParaRPr lang="en-IN" dirty="0"/>
          </a:p>
        </p:txBody>
      </p:sp>
      <p:sp>
        <p:nvSpPr>
          <p:cNvPr id="4" name="Date Placeholder 3">
            <a:extLst>
              <a:ext uri="{FF2B5EF4-FFF2-40B4-BE49-F238E27FC236}">
                <a16:creationId xmlns:a16="http://schemas.microsoft.com/office/drawing/2014/main" id="{B81F57BA-F00B-F8C5-25C8-23E2885C9E2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3B8BAC-E469-4454-8372-98C2A6AAEDD1}" type="datetime3">
              <a:rPr kumimoji="0" lang="en-US" sz="1200" b="0" i="0" u="none" strike="noStrike" kern="1200" cap="none" spc="0" normalizeH="0" baseline="0" noProof="0" smtClean="0">
                <a:ln>
                  <a:noFill/>
                </a:ln>
                <a:solidFill>
                  <a:schemeClr val="tx1"/>
                </a:solidFill>
                <a:effectLst/>
                <a:uLnTx/>
                <a:uFillTx/>
                <a:latin typeface="Roboto Slab"/>
                <a:ea typeface="+mn-ea"/>
                <a:cs typeface="+mn-cs"/>
              </a:rPr>
              <a:t>14 July 2026</a:t>
            </a:fld>
            <a:endParaRPr kumimoji="0" lang="en-US" sz="1200" b="0" i="0" u="none" strike="noStrike" kern="1200" cap="none" spc="0" normalizeH="0" baseline="0" noProof="0" dirty="0">
              <a:ln>
                <a:noFill/>
              </a:ln>
              <a:solidFill>
                <a:schemeClr val="tx1"/>
              </a:solidFill>
              <a:effectLst/>
              <a:uLnTx/>
              <a:uFillTx/>
              <a:latin typeface="Roboto Slab"/>
              <a:ea typeface="+mn-ea"/>
              <a:cs typeface="+mn-cs"/>
            </a:endParaRPr>
          </a:p>
        </p:txBody>
      </p:sp>
      <p:sp>
        <p:nvSpPr>
          <p:cNvPr id="6" name="Slide Number Placeholder 5">
            <a:extLst>
              <a:ext uri="{FF2B5EF4-FFF2-40B4-BE49-F238E27FC236}">
                <a16:creationId xmlns:a16="http://schemas.microsoft.com/office/drawing/2014/main" id="{0F793F2A-7EE2-ED4A-3A00-B6A8A492B5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3</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sp>
        <p:nvSpPr>
          <p:cNvPr id="2" name="Footer Placeholder 1">
            <a:extLst>
              <a:ext uri="{FF2B5EF4-FFF2-40B4-BE49-F238E27FC236}">
                <a16:creationId xmlns:a16="http://schemas.microsoft.com/office/drawing/2014/main" id="{38C9784C-F8E2-45C6-7051-69C00F20FDA3}"/>
              </a:ext>
            </a:extLst>
          </p:cNvPr>
          <p:cNvSpPr>
            <a:spLocks noGrp="1"/>
          </p:cNvSpPr>
          <p:nvPr>
            <p:ph type="ftr" sz="quarter" idx="3"/>
          </p:nvPr>
        </p:nvSpPr>
        <p:spPr/>
        <p:txBody>
          <a:bodyPr/>
          <a:lstStyle/>
          <a:p>
            <a:pPr algn="r">
              <a:defRPr/>
            </a:pPr>
            <a:r>
              <a:rPr lang="en-US">
                <a:solidFill>
                  <a:schemeClr val="tx1"/>
                </a:solidFill>
              </a:rPr>
              <a:t>REVA Academy for Corporate Excellence – RACE | race.reva.edu.in</a:t>
            </a:r>
            <a:endParaRPr lang="en-US" dirty="0">
              <a:solidFill>
                <a:schemeClr val="tx1"/>
              </a:solidFill>
            </a:endParaRPr>
          </a:p>
        </p:txBody>
      </p:sp>
      <p:sp>
        <p:nvSpPr>
          <p:cNvPr id="3" name="TextBox 2">
            <a:extLst>
              <a:ext uri="{FF2B5EF4-FFF2-40B4-BE49-F238E27FC236}">
                <a16:creationId xmlns:a16="http://schemas.microsoft.com/office/drawing/2014/main" id="{29C07CA8-F446-DDDC-2EAA-D980BEF00F3A}"/>
              </a:ext>
            </a:extLst>
          </p:cNvPr>
          <p:cNvSpPr txBox="1"/>
          <p:nvPr/>
        </p:nvSpPr>
        <p:spPr>
          <a:xfrm>
            <a:off x="592304" y="1520538"/>
            <a:ext cx="11405605" cy="3143746"/>
          </a:xfrm>
          <a:prstGeom prst="rect">
            <a:avLst/>
          </a:prstGeom>
          <a:noFill/>
        </p:spPr>
        <p:txBody>
          <a:bodyPr wrap="square" rtlCol="0">
            <a:spAutoFit/>
          </a:bodyPr>
          <a:lstStyle/>
          <a:p>
            <a:pPr>
              <a:lnSpc>
                <a:spcPct val="150000"/>
              </a:lnSpc>
            </a:pPr>
            <a:r>
              <a:rPr lang="en-US" b="1" dirty="0"/>
              <a:t>Background</a:t>
            </a:r>
            <a:endParaRPr lang="en-IN" dirty="0"/>
          </a:p>
          <a:p>
            <a:pPr>
              <a:lnSpc>
                <a:spcPct val="150000"/>
              </a:lnSpc>
            </a:pPr>
            <a:r>
              <a:rPr lang="en-IN" sz="1600" dirty="0"/>
              <a:t>Traditional vulnerability management relies heavily on static CVSS scores, which fails to reflect the real-world risk, causing in efficiencies in risk prioritization and exposing system to cyber attacks</a:t>
            </a:r>
          </a:p>
          <a:p>
            <a:pPr>
              <a:lnSpc>
                <a:spcPct val="150000"/>
              </a:lnSpc>
            </a:pPr>
            <a:endParaRPr lang="en-IN" dirty="0"/>
          </a:p>
          <a:p>
            <a:pPr>
              <a:lnSpc>
                <a:spcPct val="150000"/>
              </a:lnSpc>
            </a:pPr>
            <a:r>
              <a:rPr lang="en-US" b="1" dirty="0"/>
              <a:t>Why This Study</a:t>
            </a:r>
            <a:endParaRPr lang="en-IN" dirty="0"/>
          </a:p>
          <a:p>
            <a:pPr>
              <a:lnSpc>
                <a:spcPct val="150000"/>
              </a:lnSpc>
            </a:pPr>
            <a:r>
              <a:rPr lang="en-US" sz="1600" dirty="0"/>
              <a:t>This study proposes a risk-based prioritization framework integrating CVSS scores and SBOM data with threat intelligence and asset criticality to offer a proactive solution with business context-aware prioritization to generate context aware risk scores aiming to reduce risk exposure.</a:t>
            </a:r>
            <a:endParaRPr lang="en-IN" sz="1600" dirty="0"/>
          </a:p>
        </p:txBody>
      </p:sp>
    </p:spTree>
    <p:extLst>
      <p:ext uri="{BB962C8B-B14F-4D97-AF65-F5344CB8AC3E}">
        <p14:creationId xmlns:p14="http://schemas.microsoft.com/office/powerpoint/2010/main" val="156437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FB0D-B6BF-17A1-5083-D53D1C7FC7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7B6815-C78F-C537-5A38-1CF8A9D56589}"/>
              </a:ext>
            </a:extLst>
          </p:cNvPr>
          <p:cNvSpPr>
            <a:spLocks noGrp="1"/>
          </p:cNvSpPr>
          <p:nvPr>
            <p:ph type="title"/>
          </p:nvPr>
        </p:nvSpPr>
        <p:spPr/>
        <p:txBody>
          <a:bodyPr>
            <a:normAutofit/>
          </a:bodyPr>
          <a:lstStyle/>
          <a:p>
            <a:r>
              <a:rPr lang="en-US" sz="3600" dirty="0">
                <a:cs typeface="Arial" panose="020B0604020202020204" pitchFamily="34" charset="0"/>
              </a:rPr>
              <a:t>Background Information</a:t>
            </a:r>
            <a:endParaRPr lang="en-IN" dirty="0"/>
          </a:p>
        </p:txBody>
      </p:sp>
      <p:sp>
        <p:nvSpPr>
          <p:cNvPr id="4" name="Date Placeholder 3">
            <a:extLst>
              <a:ext uri="{FF2B5EF4-FFF2-40B4-BE49-F238E27FC236}">
                <a16:creationId xmlns:a16="http://schemas.microsoft.com/office/drawing/2014/main" id="{B81F57BA-F00B-F8C5-25C8-23E2885C9E2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3B8BAC-E469-4454-8372-98C2A6AAEDD1}" type="datetime3">
              <a:rPr kumimoji="0" lang="en-US" sz="1200" b="0" i="0" u="none" strike="noStrike" kern="1200" cap="none" spc="0" normalizeH="0" baseline="0" noProof="0" smtClean="0">
                <a:ln>
                  <a:noFill/>
                </a:ln>
                <a:solidFill>
                  <a:schemeClr val="tx1"/>
                </a:solidFill>
                <a:effectLst/>
                <a:uLnTx/>
                <a:uFillTx/>
                <a:latin typeface="Roboto Slab"/>
                <a:ea typeface="+mn-ea"/>
                <a:cs typeface="+mn-cs"/>
              </a:rPr>
              <a:t>14 July 2026</a:t>
            </a:fld>
            <a:endParaRPr kumimoji="0" lang="en-US" sz="1200" b="0" i="0" u="none" strike="noStrike" kern="1200" cap="none" spc="0" normalizeH="0" baseline="0" noProof="0" dirty="0">
              <a:ln>
                <a:noFill/>
              </a:ln>
              <a:solidFill>
                <a:schemeClr val="tx1"/>
              </a:solidFill>
              <a:effectLst/>
              <a:uLnTx/>
              <a:uFillTx/>
              <a:latin typeface="Roboto Slab"/>
              <a:ea typeface="+mn-ea"/>
              <a:cs typeface="+mn-cs"/>
            </a:endParaRPr>
          </a:p>
        </p:txBody>
      </p:sp>
      <p:sp>
        <p:nvSpPr>
          <p:cNvPr id="6" name="Slide Number Placeholder 5">
            <a:extLst>
              <a:ext uri="{FF2B5EF4-FFF2-40B4-BE49-F238E27FC236}">
                <a16:creationId xmlns:a16="http://schemas.microsoft.com/office/drawing/2014/main" id="{0F793F2A-7EE2-ED4A-3A00-B6A8A492B5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3</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sp>
        <p:nvSpPr>
          <p:cNvPr id="2" name="Footer Placeholder 1">
            <a:extLst>
              <a:ext uri="{FF2B5EF4-FFF2-40B4-BE49-F238E27FC236}">
                <a16:creationId xmlns:a16="http://schemas.microsoft.com/office/drawing/2014/main" id="{38C9784C-F8E2-45C6-7051-69C00F20FDA3}"/>
              </a:ext>
            </a:extLst>
          </p:cNvPr>
          <p:cNvSpPr>
            <a:spLocks noGrp="1"/>
          </p:cNvSpPr>
          <p:nvPr>
            <p:ph type="ftr" sz="quarter" idx="3"/>
          </p:nvPr>
        </p:nvSpPr>
        <p:spPr/>
        <p:txBody>
          <a:bodyPr/>
          <a:lstStyle/>
          <a:p>
            <a:pPr algn="r">
              <a:defRPr/>
            </a:pPr>
            <a:r>
              <a:rPr lang="en-US">
                <a:solidFill>
                  <a:schemeClr val="tx1"/>
                </a:solidFill>
              </a:rPr>
              <a:t>REVA Academy for Corporate Excellence – RACE | race.reva.edu.in</a:t>
            </a:r>
            <a:endParaRPr lang="en-US" dirty="0">
              <a:solidFill>
                <a:schemeClr val="tx1"/>
              </a:solidFill>
            </a:endParaRPr>
          </a:p>
        </p:txBody>
      </p:sp>
      <p:sp>
        <p:nvSpPr>
          <p:cNvPr id="3" name="TextBox 2">
            <a:extLst>
              <a:ext uri="{FF2B5EF4-FFF2-40B4-BE49-F238E27FC236}">
                <a16:creationId xmlns:a16="http://schemas.microsoft.com/office/drawing/2014/main" id="{29C07CA8-F446-DDDC-2EAA-D980BEF00F3A}"/>
              </a:ext>
            </a:extLst>
          </p:cNvPr>
          <p:cNvSpPr txBox="1"/>
          <p:nvPr/>
        </p:nvSpPr>
        <p:spPr>
          <a:xfrm>
            <a:off x="592304" y="1520538"/>
            <a:ext cx="11405605" cy="3143746"/>
          </a:xfrm>
          <a:prstGeom prst="rect">
            <a:avLst/>
          </a:prstGeom>
          <a:noFill/>
        </p:spPr>
        <p:txBody>
          <a:bodyPr wrap="square" rtlCol="0">
            <a:spAutoFit/>
          </a:bodyPr>
          <a:lstStyle/>
          <a:p>
            <a:pPr>
              <a:lnSpc>
                <a:spcPct val="150000"/>
              </a:lnSpc>
            </a:pPr>
            <a:r>
              <a:rPr lang="en-US" b="1" dirty="0"/>
              <a:t>Background</a:t>
            </a:r>
            <a:endParaRPr lang="en-IN" dirty="0"/>
          </a:p>
          <a:p>
            <a:pPr>
              <a:lnSpc>
                <a:spcPct val="150000"/>
              </a:lnSpc>
            </a:pPr>
            <a:r>
              <a:rPr lang="en-IN" sz="1600" dirty="0"/>
              <a:t>Traditional vulnerability management relies heavily on static CVSS scores, which fails to reflect the real-world risk, causing in efficiencies in risk prioritization and exposing system to cyber attacks</a:t>
            </a:r>
          </a:p>
          <a:p>
            <a:pPr>
              <a:lnSpc>
                <a:spcPct val="150000"/>
              </a:lnSpc>
            </a:pPr>
            <a:endParaRPr lang="en-IN" dirty="0"/>
          </a:p>
          <a:p>
            <a:pPr>
              <a:lnSpc>
                <a:spcPct val="150000"/>
              </a:lnSpc>
            </a:pPr>
            <a:r>
              <a:rPr lang="en-US" b="1" dirty="0"/>
              <a:t>Why This Study</a:t>
            </a:r>
            <a:endParaRPr lang="en-IN" dirty="0"/>
          </a:p>
          <a:p>
            <a:pPr>
              <a:lnSpc>
                <a:spcPct val="150000"/>
              </a:lnSpc>
            </a:pPr>
            <a:r>
              <a:rPr lang="en-US" sz="1600" dirty="0"/>
              <a:t>This study proposes a risk-based prioritization framework integrating CVSS scores and SBOM data with threat intelligence and asset criticality to offer a proactive solution with business context-aware prioritization to generate context aware risk scores aiming to reduce risk exposure.</a:t>
            </a:r>
            <a:endParaRPr lang="en-IN" sz="1600" dirty="0"/>
          </a:p>
        </p:txBody>
      </p:sp>
    </p:spTree>
    <p:extLst>
      <p:ext uri="{BB962C8B-B14F-4D97-AF65-F5344CB8AC3E}">
        <p14:creationId xmlns:p14="http://schemas.microsoft.com/office/powerpoint/2010/main" val="156437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FB0D-B6BF-17A1-5083-D53D1C7FC7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7B6815-C78F-C537-5A38-1CF8A9D56589}"/>
              </a:ext>
            </a:extLst>
          </p:cNvPr>
          <p:cNvSpPr>
            <a:spLocks noGrp="1"/>
          </p:cNvSpPr>
          <p:nvPr>
            <p:ph type="title"/>
          </p:nvPr>
        </p:nvSpPr>
        <p:spPr/>
        <p:txBody>
          <a:bodyPr>
            <a:normAutofit/>
          </a:bodyPr>
          <a:lstStyle/>
          <a:p>
            <a:r>
              <a:rPr lang="en-US" sz="3600" dirty="0">
                <a:cs typeface="Arial" panose="020B0604020202020204" pitchFamily="34" charset="0"/>
              </a:rPr>
              <a:t>Background Information</a:t>
            </a:r>
            <a:endParaRPr lang="en-IN" dirty="0"/>
          </a:p>
        </p:txBody>
      </p:sp>
      <p:sp>
        <p:nvSpPr>
          <p:cNvPr id="4" name="Date Placeholder 3">
            <a:extLst>
              <a:ext uri="{FF2B5EF4-FFF2-40B4-BE49-F238E27FC236}">
                <a16:creationId xmlns:a16="http://schemas.microsoft.com/office/drawing/2014/main" id="{B81F57BA-F00B-F8C5-25C8-23E2885C9E2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3B8BAC-E469-4454-8372-98C2A6AAEDD1}" type="datetime3">
              <a:rPr kumimoji="0" lang="en-US" sz="1200" b="0" i="0" u="none" strike="noStrike" kern="1200" cap="none" spc="0" normalizeH="0" baseline="0" noProof="0" smtClean="0">
                <a:ln>
                  <a:noFill/>
                </a:ln>
                <a:solidFill>
                  <a:schemeClr val="tx1"/>
                </a:solidFill>
                <a:effectLst/>
                <a:uLnTx/>
                <a:uFillTx/>
                <a:latin typeface="Roboto Slab"/>
                <a:ea typeface="+mn-ea"/>
                <a:cs typeface="+mn-cs"/>
              </a:rPr>
              <a:t>14 July 2026</a:t>
            </a:fld>
            <a:endParaRPr kumimoji="0" lang="en-US" sz="1200" b="0" i="0" u="none" strike="noStrike" kern="1200" cap="none" spc="0" normalizeH="0" baseline="0" noProof="0" dirty="0">
              <a:ln>
                <a:noFill/>
              </a:ln>
              <a:solidFill>
                <a:schemeClr val="tx1"/>
              </a:solidFill>
              <a:effectLst/>
              <a:uLnTx/>
              <a:uFillTx/>
              <a:latin typeface="Roboto Slab"/>
              <a:ea typeface="+mn-ea"/>
              <a:cs typeface="+mn-cs"/>
            </a:endParaRPr>
          </a:p>
        </p:txBody>
      </p:sp>
      <p:sp>
        <p:nvSpPr>
          <p:cNvPr id="6" name="Slide Number Placeholder 5">
            <a:extLst>
              <a:ext uri="{FF2B5EF4-FFF2-40B4-BE49-F238E27FC236}">
                <a16:creationId xmlns:a16="http://schemas.microsoft.com/office/drawing/2014/main" id="{0F793F2A-7EE2-ED4A-3A00-B6A8A492B5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3</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sp>
        <p:nvSpPr>
          <p:cNvPr id="2" name="Footer Placeholder 1">
            <a:extLst>
              <a:ext uri="{FF2B5EF4-FFF2-40B4-BE49-F238E27FC236}">
                <a16:creationId xmlns:a16="http://schemas.microsoft.com/office/drawing/2014/main" id="{38C9784C-F8E2-45C6-7051-69C00F20FDA3}"/>
              </a:ext>
            </a:extLst>
          </p:cNvPr>
          <p:cNvSpPr>
            <a:spLocks noGrp="1"/>
          </p:cNvSpPr>
          <p:nvPr>
            <p:ph type="ftr" sz="quarter" idx="3"/>
          </p:nvPr>
        </p:nvSpPr>
        <p:spPr/>
        <p:txBody>
          <a:bodyPr/>
          <a:lstStyle/>
          <a:p>
            <a:pPr algn="r">
              <a:defRPr/>
            </a:pPr>
            <a:r>
              <a:rPr lang="en-US">
                <a:solidFill>
                  <a:schemeClr val="tx1"/>
                </a:solidFill>
              </a:rPr>
              <a:t>REVA Academy for Corporate Excellence – RACE | race.reva.edu.in</a:t>
            </a:r>
            <a:endParaRPr lang="en-US" dirty="0">
              <a:solidFill>
                <a:schemeClr val="tx1"/>
              </a:solidFill>
            </a:endParaRPr>
          </a:p>
        </p:txBody>
      </p:sp>
      <p:sp>
        <p:nvSpPr>
          <p:cNvPr id="3" name="TextBox 2">
            <a:extLst>
              <a:ext uri="{FF2B5EF4-FFF2-40B4-BE49-F238E27FC236}">
                <a16:creationId xmlns:a16="http://schemas.microsoft.com/office/drawing/2014/main" id="{29C07CA8-F446-DDDC-2EAA-D980BEF00F3A}"/>
              </a:ext>
            </a:extLst>
          </p:cNvPr>
          <p:cNvSpPr txBox="1"/>
          <p:nvPr/>
        </p:nvSpPr>
        <p:spPr>
          <a:xfrm>
            <a:off x="592304" y="1520538"/>
            <a:ext cx="11405605" cy="3143746"/>
          </a:xfrm>
          <a:prstGeom prst="rect">
            <a:avLst/>
          </a:prstGeom>
          <a:noFill/>
        </p:spPr>
        <p:txBody>
          <a:bodyPr wrap="square" rtlCol="0">
            <a:spAutoFit/>
          </a:bodyPr>
          <a:lstStyle/>
          <a:p>
            <a:pPr>
              <a:lnSpc>
                <a:spcPct val="150000"/>
              </a:lnSpc>
            </a:pPr>
            <a:r>
              <a:rPr lang="en-US" b="1" dirty="0"/>
              <a:t>Background</a:t>
            </a:r>
            <a:endParaRPr lang="en-IN" dirty="0"/>
          </a:p>
          <a:p>
            <a:pPr>
              <a:lnSpc>
                <a:spcPct val="150000"/>
              </a:lnSpc>
            </a:pPr>
            <a:r>
              <a:rPr lang="en-IN" sz="1600" dirty="0"/>
              <a:t>Traditional vulnerability management relies heavily on static CVSS scores, which fails to reflect the real-world risk, causing in efficiencies in risk prioritization and exposing system to cyber attacks</a:t>
            </a:r>
          </a:p>
          <a:p>
            <a:pPr>
              <a:lnSpc>
                <a:spcPct val="150000"/>
              </a:lnSpc>
            </a:pPr>
            <a:endParaRPr lang="en-IN" dirty="0"/>
          </a:p>
          <a:p>
            <a:pPr>
              <a:lnSpc>
                <a:spcPct val="150000"/>
              </a:lnSpc>
            </a:pPr>
            <a:r>
              <a:rPr lang="en-US" b="1" dirty="0"/>
              <a:t>Why This Study</a:t>
            </a:r>
            <a:endParaRPr lang="en-IN" dirty="0"/>
          </a:p>
          <a:p>
            <a:pPr>
              <a:lnSpc>
                <a:spcPct val="150000"/>
              </a:lnSpc>
            </a:pPr>
            <a:r>
              <a:rPr lang="en-US" sz="1600" dirty="0"/>
              <a:t>This study proposes a risk-based prioritization framework integrating CVSS scores and SBOM data with threat intelligence and asset criticality to offer a proactive solution with business context-aware prioritization to generate context aware risk scores aiming to reduce risk exposure.</a:t>
            </a:r>
            <a:endParaRPr lang="en-IN" sz="1600" dirty="0"/>
          </a:p>
        </p:txBody>
      </p:sp>
    </p:spTree>
    <p:extLst>
      <p:ext uri="{BB962C8B-B14F-4D97-AF65-F5344CB8AC3E}">
        <p14:creationId xmlns:p14="http://schemas.microsoft.com/office/powerpoint/2010/main" val="156437305"/>
      </p:ext>
    </p:extLst>
  </p:cSld>
  <p:clrMapOvr>
    <a:masterClrMapping/>
  </p:clrMapOvr>
</p:sld>
</file>

<file path=ppt/theme/theme1.xml><?xml version="1.0" encoding="utf-8"?>
<a:theme xmlns:a="http://schemas.openxmlformats.org/drawingml/2006/main" name="1_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ustom 5">
      <a:majorFont>
        <a:latin typeface="Roboto Slab"/>
        <a:ea typeface=""/>
        <a:cs typeface=""/>
      </a:majorFont>
      <a:minorFont>
        <a:latin typeface="Roboto Slab"/>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1535</TotalTime>
  <Words>1298</Words>
  <Application>Microsoft Office PowerPoint</Application>
  <PresentationFormat>Widescreen</PresentationFormat>
  <Paragraphs>189</Paragraphs>
  <Slides>11</Slides>
  <Notes>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11</vt:i4>
      </vt:variant>
    </vt:vector>
  </HeadingPairs>
  <TitlesOfParts>
    <vt:vector size="21" baseType="lpstr">
      <vt:lpstr>Arial</vt:lpstr>
      <vt:lpstr>Times New Roman</vt:lpstr>
      <vt:lpstr>Roboto Slab</vt:lpstr>
      <vt:lpstr>Calibri</vt:lpstr>
      <vt:lpstr>Calibri Light</vt:lpstr>
      <vt:lpstr>Montserrat Bold</vt:lpstr>
      <vt:lpstr>Montserrat Light</vt:lpstr>
      <vt:lpstr>1_Office Theme</vt:lpstr>
      <vt:lpstr>Custom Design</vt:lpstr>
      <vt:lpstr>2_Office Theme</vt:lpstr>
      <vt:lpstr>AI-Based Vulnerability Prioritization Engine using SBOM Context</vt:lpstr>
      <vt:lpstr>Agenda</vt:lpstr>
      <vt:lpstr>Background Information</vt:lpstr>
      <vt:lpstr>Literature Review</vt:lpstr>
      <vt:lpstr>Problem Statement</vt:lpstr>
      <vt:lpstr>Project Objectives</vt:lpstr>
      <vt:lpstr>Project Methodology</vt:lpstr>
      <vt:lpstr>AI Layer in the Pipeline</vt:lpstr>
      <vt:lpstr>Proposed Solution</vt:lpstr>
      <vt:lpstr>References</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H2 Planning</dc:title>
  <dc:creator>RACE-996</dc:creator>
  <cp:lastModifiedBy>Akil Kumar M N</cp:lastModifiedBy>
  <cp:revision>221</cp:revision>
  <dcterms:created xsi:type="dcterms:W3CDTF">2021-01-28T08:43:53Z</dcterms:created>
  <dcterms:modified xsi:type="dcterms:W3CDTF">2026-07-14T12:52:50Z</dcterms:modified>
</cp:coreProperties>
</file>